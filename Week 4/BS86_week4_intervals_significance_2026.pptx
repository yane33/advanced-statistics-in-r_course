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handoutMasterIdLst>
    <p:handoutMasterId r:id="rId48"/>
  </p:handoutMasterIdLst>
  <p:sldIdLst>
    <p:sldId id="256" r:id="rId3"/>
    <p:sldId id="257" r:id="rId4"/>
    <p:sldId id="259" r:id="rId5"/>
    <p:sldId id="258" r:id="rId6"/>
    <p:sldId id="264" r:id="rId7"/>
    <p:sldId id="269" r:id="rId8"/>
    <p:sldId id="260" r:id="rId9"/>
    <p:sldId id="268" r:id="rId10"/>
    <p:sldId id="309" r:id="rId11"/>
    <p:sldId id="270" r:id="rId12"/>
    <p:sldId id="303" r:id="rId13"/>
    <p:sldId id="271" r:id="rId14"/>
    <p:sldId id="261" r:id="rId15"/>
    <p:sldId id="272" r:id="rId16"/>
    <p:sldId id="273" r:id="rId17"/>
    <p:sldId id="301" r:id="rId18"/>
    <p:sldId id="274" r:id="rId19"/>
    <p:sldId id="275" r:id="rId20"/>
    <p:sldId id="276" r:id="rId21"/>
    <p:sldId id="263" r:id="rId22"/>
    <p:sldId id="311" r:id="rId23"/>
    <p:sldId id="267" r:id="rId24"/>
    <p:sldId id="305" r:id="rId25"/>
    <p:sldId id="265" r:id="rId26"/>
    <p:sldId id="282" r:id="rId27"/>
    <p:sldId id="283" r:id="rId28"/>
    <p:sldId id="304" r:id="rId29"/>
    <p:sldId id="284" r:id="rId30"/>
    <p:sldId id="285" r:id="rId31"/>
    <p:sldId id="310" r:id="rId32"/>
    <p:sldId id="286" r:id="rId33"/>
    <p:sldId id="287" r:id="rId34"/>
    <p:sldId id="288" r:id="rId35"/>
    <p:sldId id="289" r:id="rId36"/>
    <p:sldId id="297" r:id="rId37"/>
    <p:sldId id="290" r:id="rId38"/>
    <p:sldId id="294" r:id="rId39"/>
    <p:sldId id="292" r:id="rId40"/>
    <p:sldId id="298" r:id="rId41"/>
    <p:sldId id="296" r:id="rId42"/>
    <p:sldId id="319" r:id="rId43"/>
    <p:sldId id="300" r:id="rId44"/>
    <p:sldId id="317" r:id="rId45"/>
    <p:sldId id="318" r:id="rId4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liamburk" initials="WJ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BB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64" autoAdjust="0"/>
    <p:restoredTop sz="94660"/>
  </p:normalViewPr>
  <p:slideViewPr>
    <p:cSldViewPr snapToGrid="0" showGuides="1">
      <p:cViewPr varScale="1">
        <p:scale>
          <a:sx n="82" d="100"/>
          <a:sy n="82" d="100"/>
        </p:scale>
        <p:origin x="18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4A0F04-644E-4B4D-BF02-AA58AD148DC5}" type="datetimeFigureOut">
              <a:rPr lang="nl-NL" smtClean="0"/>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F2938-BCE1-4626-9A49-E0A2F5BE848E}" type="slidenum">
              <a:rPr lang="nl-NL" smtClean="0"/>
            </a:fld>
            <a:endParaRPr lang="nl-N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p:cNvSpPr>
            <a:spLocks noGrp="1"/>
          </p:cNvSpPr>
          <p:nvPr>
            <p:ph type="dt" sz="half" idx="10"/>
          </p:nvPr>
        </p:nvSpPr>
        <p:spPr/>
        <p:txBody>
          <a:bodyPr/>
          <a:lstStyle/>
          <a:p>
            <a:fld id="{A67A8F3D-6620-424E-A00A-675F57B416C5}" type="datetime1">
              <a:rPr lang="nl-NL" smtClean="0"/>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Date Placeholder 3"/>
          <p:cNvSpPr>
            <a:spLocks noGrp="1"/>
          </p:cNvSpPr>
          <p:nvPr>
            <p:ph type="dt" sz="half" idx="10"/>
          </p:nvPr>
        </p:nvSpPr>
        <p:spPr/>
        <p:txBody>
          <a:bodyPr/>
          <a:lstStyle/>
          <a:p>
            <a:fld id="{7881DE27-0EA2-4A42-946D-3FCC5478F82D}" type="datetime1">
              <a:rPr lang="nl-NL" smtClean="0"/>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FA2A550C-F77C-43B2-B771-AB6FC195996A}" type="datetime1">
              <a:rPr lang="nl-NL" smtClean="0"/>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5" name="Date Placeholder 4"/>
          <p:cNvSpPr>
            <a:spLocks noGrp="1"/>
          </p:cNvSpPr>
          <p:nvPr>
            <p:ph type="dt" sz="half" idx="10"/>
          </p:nvPr>
        </p:nvSpPr>
        <p:spPr/>
        <p:txBody>
          <a:bodyPr/>
          <a:lstStyle/>
          <a:p>
            <a:fld id="{DFDE26BD-B84D-4C22-8EEC-AC98F9159E34}" type="datetime1">
              <a:rPr lang="nl-NL" smtClean="0"/>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7" name="Date Placeholder 6"/>
          <p:cNvSpPr>
            <a:spLocks noGrp="1"/>
          </p:cNvSpPr>
          <p:nvPr>
            <p:ph type="dt" sz="half" idx="10"/>
          </p:nvPr>
        </p:nvSpPr>
        <p:spPr/>
        <p:txBody>
          <a:bodyPr/>
          <a:lstStyle/>
          <a:p>
            <a:fld id="{2777B7BA-F8D1-4EA9-97EE-E2A1B9235C3C}" type="datetime1">
              <a:rPr lang="nl-NL" smtClean="0"/>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Date Placeholder 2"/>
          <p:cNvSpPr>
            <a:spLocks noGrp="1"/>
          </p:cNvSpPr>
          <p:nvPr>
            <p:ph type="dt" sz="half" idx="10"/>
          </p:nvPr>
        </p:nvSpPr>
        <p:spPr/>
        <p:txBody>
          <a:bodyPr/>
          <a:lstStyle/>
          <a:p>
            <a:fld id="{BC007BB5-8DB0-4BAE-91A0-3BCBD53924DB}" type="datetime1">
              <a:rPr lang="nl-NL" smtClean="0"/>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A7F3E-4FB1-4DBE-9EC5-13B516BE9502}" type="datetime1">
              <a:rPr lang="nl-NL" smtClean="0"/>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77E7B8F-E812-44F6-99B9-FF7DCA0D4D44}" type="datetime1">
              <a:rPr lang="nl-NL" smtClean="0"/>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7BABDDFA-1FDD-4A67-A1F0-FBEDAA016E8B}" type="datetime1">
              <a:rPr lang="nl-NL" smtClean="0"/>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Date Placeholder 3"/>
          <p:cNvSpPr>
            <a:spLocks noGrp="1"/>
          </p:cNvSpPr>
          <p:nvPr>
            <p:ph type="dt" sz="half" idx="10"/>
          </p:nvPr>
        </p:nvSpPr>
        <p:spPr/>
        <p:txBody>
          <a:bodyPr/>
          <a:lstStyle/>
          <a:p>
            <a:fld id="{ACA84C66-AF8C-4866-9183-34ACCD13F572}" type="datetime1">
              <a:rPr lang="nl-NL" smtClean="0"/>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Date Placeholder 3"/>
          <p:cNvSpPr>
            <a:spLocks noGrp="1"/>
          </p:cNvSpPr>
          <p:nvPr>
            <p:ph type="dt" sz="half" idx="10"/>
          </p:nvPr>
        </p:nvSpPr>
        <p:spPr/>
        <p:txBody>
          <a:bodyPr/>
          <a:lstStyle/>
          <a:p>
            <a:fld id="{4607AC5D-6632-4190-9434-66054F62B2A6}" type="datetime1">
              <a:rPr lang="nl-NL" smtClean="0"/>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l-N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65304C-2182-4D7A-85B7-A8131BB5D3D0}" type="datetime1">
              <a:rPr lang="nl-NL" smtClean="0"/>
            </a:fld>
            <a:endParaRPr lang="nl-N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BE6B8-82E0-4E11-A022-15B2AA89B3C8}" type="slidenum">
              <a:rPr lang="nl-NL" smtClean="0"/>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GIF"/><Relationship Id="rId1" Type="http://schemas.openxmlformats.org/officeDocument/2006/relationships/image" Target="../media/image3.GI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en.wikipedia.org/wiki/Confidence_interval"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onlinestatbook.com/stat_sim/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2"/>
            <a:ext cx="9144000" cy="2757821"/>
          </a:xfrm>
        </p:spPr>
        <p:txBody>
          <a:bodyPr>
            <a:normAutofit/>
          </a:bodyPr>
          <a:lstStyle/>
          <a:p>
            <a:r>
              <a:rPr lang="nl-NL" sz="4400" b="1" dirty="0" err="1"/>
              <a:t>Confidence</a:t>
            </a:r>
            <a:r>
              <a:rPr lang="nl-NL" sz="4400" b="1" dirty="0"/>
              <a:t> </a:t>
            </a:r>
            <a:r>
              <a:rPr lang="nl-NL" sz="4400" b="1" dirty="0" err="1"/>
              <a:t>Intervals</a:t>
            </a:r>
            <a:r>
              <a:rPr lang="nl-NL" sz="4400" b="1" dirty="0"/>
              <a:t> </a:t>
            </a:r>
            <a:br>
              <a:rPr lang="nl-NL" sz="4400" b="1" dirty="0"/>
            </a:br>
            <a:r>
              <a:rPr lang="nl-NL" sz="4400" b="1" dirty="0" err="1"/>
              <a:t>and</a:t>
            </a:r>
            <a:r>
              <a:rPr lang="nl-NL" sz="4400" b="1" dirty="0"/>
              <a:t> </a:t>
            </a:r>
            <a:br>
              <a:rPr lang="nl-NL" sz="4400" b="1" dirty="0"/>
            </a:br>
            <a:r>
              <a:rPr lang="nl-NL" sz="4400" b="1" dirty="0" err="1"/>
              <a:t>Significance</a:t>
            </a:r>
            <a:r>
              <a:rPr lang="nl-NL" sz="4400" b="1" dirty="0"/>
              <a:t> Tests</a:t>
            </a:r>
            <a:endParaRPr lang="nl-NL" sz="4400" b="1" dirty="0"/>
          </a:p>
        </p:txBody>
      </p:sp>
      <p:sp>
        <p:nvSpPr>
          <p:cNvPr id="3" name="Subtitle 2"/>
          <p:cNvSpPr>
            <a:spLocks noGrp="1"/>
          </p:cNvSpPr>
          <p:nvPr>
            <p:ph type="subTitle" idx="1"/>
          </p:nvPr>
        </p:nvSpPr>
        <p:spPr>
          <a:xfrm>
            <a:off x="1524000" y="4648786"/>
            <a:ext cx="9144000" cy="1655762"/>
          </a:xfrm>
        </p:spPr>
        <p:txBody>
          <a:bodyPr/>
          <a:lstStyle/>
          <a:p>
            <a:r>
              <a:rPr lang="nl-NL" b="1" dirty="0"/>
              <a:t>William </a:t>
            </a:r>
            <a:r>
              <a:rPr lang="nl-NL" b="1" dirty="0" err="1"/>
              <a:t>Burk</a:t>
            </a:r>
            <a:endParaRPr lang="nl-NL" b="1"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668"/>
            <a:ext cx="10515600" cy="1096956"/>
          </a:xfrm>
        </p:spPr>
        <p:txBody>
          <a:bodyPr/>
          <a:lstStyle/>
          <a:p>
            <a:pPr algn="ctr"/>
            <a:r>
              <a:rPr lang="nl-NL" b="1" dirty="0" err="1"/>
              <a:t>Overview</a:t>
            </a:r>
            <a:endParaRPr lang="nl-NL" b="1" dirty="0"/>
          </a:p>
        </p:txBody>
      </p:sp>
      <p:sp>
        <p:nvSpPr>
          <p:cNvPr id="3" name="Content Placeholder 2"/>
          <p:cNvSpPr>
            <a:spLocks noGrp="1"/>
          </p:cNvSpPr>
          <p:nvPr>
            <p:ph idx="1"/>
          </p:nvPr>
        </p:nvSpPr>
        <p:spPr>
          <a:xfrm>
            <a:off x="838200" y="1457324"/>
            <a:ext cx="10515600" cy="5094779"/>
          </a:xfrm>
        </p:spPr>
        <p:txBody>
          <a:bodyPr>
            <a:normAutofit/>
          </a:bodyPr>
          <a:lstStyle/>
          <a:p>
            <a:r>
              <a:rPr lang="nl-NL" b="1" dirty="0" err="1"/>
              <a:t>Chapter</a:t>
            </a:r>
            <a:r>
              <a:rPr lang="nl-NL" b="1" dirty="0"/>
              <a:t> 3: </a:t>
            </a:r>
            <a:r>
              <a:rPr lang="nl-NL" b="1" dirty="0" err="1"/>
              <a:t>Confidence</a:t>
            </a:r>
            <a:r>
              <a:rPr lang="nl-NL" b="1" dirty="0"/>
              <a:t> </a:t>
            </a:r>
            <a:r>
              <a:rPr lang="nl-NL" b="1" dirty="0" err="1"/>
              <a:t>Intervals</a:t>
            </a:r>
            <a:r>
              <a:rPr lang="nl-NL" b="1" dirty="0"/>
              <a:t> (CIs)</a:t>
            </a:r>
            <a:endParaRPr lang="nl-NL" b="1" dirty="0"/>
          </a:p>
          <a:p>
            <a:pPr lvl="1"/>
            <a:r>
              <a:rPr lang="nl-NL" dirty="0" err="1"/>
              <a:t>Terms</a:t>
            </a:r>
            <a:r>
              <a:rPr lang="nl-NL" dirty="0"/>
              <a:t> and </a:t>
            </a:r>
            <a:r>
              <a:rPr lang="nl-NL" dirty="0" err="1"/>
              <a:t>concepts</a:t>
            </a:r>
            <a:r>
              <a:rPr lang="nl-NL" dirty="0"/>
              <a:t> (SE, MOE, </a:t>
            </a:r>
            <a:r>
              <a:rPr lang="nl-NL" dirty="0" err="1"/>
              <a:t>df</a:t>
            </a:r>
            <a:r>
              <a:rPr lang="nl-NL" dirty="0"/>
              <a:t>)</a:t>
            </a:r>
            <a:endParaRPr lang="nl-NL" dirty="0"/>
          </a:p>
          <a:p>
            <a:pPr lvl="1"/>
            <a:r>
              <a:rPr lang="nl-NL" dirty="0"/>
              <a:t>CIs for </a:t>
            </a:r>
            <a:r>
              <a:rPr lang="nl-NL" dirty="0" err="1"/>
              <a:t>normal</a:t>
            </a:r>
            <a:r>
              <a:rPr lang="nl-NL" dirty="0"/>
              <a:t>, </a:t>
            </a:r>
            <a:r>
              <a:rPr lang="nl-NL" dirty="0" err="1"/>
              <a:t>binomial</a:t>
            </a:r>
            <a:r>
              <a:rPr lang="nl-NL" dirty="0"/>
              <a:t>, </a:t>
            </a:r>
            <a:r>
              <a:rPr lang="nl-NL" dirty="0" err="1"/>
              <a:t>and</a:t>
            </a:r>
            <a:r>
              <a:rPr lang="nl-NL" dirty="0"/>
              <a:t> </a:t>
            </a:r>
            <a:r>
              <a:rPr lang="nl-NL" dirty="0" err="1"/>
              <a:t>Poisson</a:t>
            </a:r>
            <a:r>
              <a:rPr lang="nl-NL" dirty="0"/>
              <a:t> </a:t>
            </a:r>
            <a:r>
              <a:rPr lang="nl-NL" dirty="0" err="1"/>
              <a:t>distributions</a:t>
            </a:r>
            <a:endParaRPr lang="nl-NL" dirty="0"/>
          </a:p>
          <a:p>
            <a:pPr lvl="1"/>
            <a:r>
              <a:rPr lang="nl-NL" dirty="0"/>
              <a:t>Bootstrapping, </a:t>
            </a:r>
            <a:r>
              <a:rPr lang="nl-NL" dirty="0" err="1"/>
              <a:t>visualizing</a:t>
            </a:r>
            <a:r>
              <a:rPr lang="nl-NL" dirty="0"/>
              <a:t>, and </a:t>
            </a:r>
            <a:r>
              <a:rPr lang="nl-NL" dirty="0" err="1"/>
              <a:t>reporting</a:t>
            </a:r>
            <a:r>
              <a:rPr lang="nl-NL" dirty="0"/>
              <a:t> CIs</a:t>
            </a:r>
            <a:endParaRPr lang="nl-NL" dirty="0"/>
          </a:p>
          <a:p>
            <a:pPr lvl="1"/>
            <a:endParaRPr lang="nl-NL" dirty="0"/>
          </a:p>
          <a:p>
            <a:r>
              <a:rPr lang="nl-NL" b="1" dirty="0" err="1"/>
              <a:t>Chapter</a:t>
            </a:r>
            <a:r>
              <a:rPr lang="nl-NL" b="1" dirty="0"/>
              <a:t> 4: </a:t>
            </a:r>
            <a:r>
              <a:rPr lang="nl-NL" b="1" dirty="0" err="1"/>
              <a:t>Significance</a:t>
            </a:r>
            <a:r>
              <a:rPr lang="nl-NL" b="1" dirty="0"/>
              <a:t> tests</a:t>
            </a:r>
            <a:endParaRPr lang="nl-NL" b="1" dirty="0"/>
          </a:p>
          <a:p>
            <a:pPr lvl="1"/>
            <a:r>
              <a:rPr lang="nl-NL" dirty="0" err="1"/>
              <a:t>Null</a:t>
            </a:r>
            <a:r>
              <a:rPr lang="nl-NL" dirty="0"/>
              <a:t> hypotheses </a:t>
            </a:r>
            <a:r>
              <a:rPr lang="nl-NL" dirty="0" err="1"/>
              <a:t>significance</a:t>
            </a:r>
            <a:r>
              <a:rPr lang="nl-NL" dirty="0"/>
              <a:t> tests (</a:t>
            </a:r>
            <a:r>
              <a:rPr lang="nl-NL" dirty="0" err="1"/>
              <a:t>NHSTs</a:t>
            </a:r>
            <a:r>
              <a:rPr lang="nl-NL" dirty="0"/>
              <a:t>) </a:t>
            </a:r>
            <a:r>
              <a:rPr lang="nl-NL" dirty="0" err="1"/>
              <a:t>and</a:t>
            </a:r>
            <a:r>
              <a:rPr lang="nl-NL" dirty="0"/>
              <a:t> </a:t>
            </a:r>
            <a:r>
              <a:rPr lang="nl-NL" i="1" dirty="0"/>
              <a:t>p</a:t>
            </a:r>
            <a:r>
              <a:rPr lang="nl-NL" dirty="0"/>
              <a:t>-</a:t>
            </a:r>
            <a:r>
              <a:rPr lang="nl-NL" dirty="0" err="1"/>
              <a:t>values</a:t>
            </a:r>
            <a:endParaRPr lang="nl-NL" dirty="0"/>
          </a:p>
          <a:p>
            <a:pPr lvl="1"/>
            <a:r>
              <a:rPr lang="nl-NL" dirty="0" err="1"/>
              <a:t>Continuous</a:t>
            </a:r>
            <a:r>
              <a:rPr lang="nl-NL" dirty="0"/>
              <a:t> </a:t>
            </a:r>
            <a:r>
              <a:rPr lang="nl-NL" dirty="0" err="1"/>
              <a:t>distributions</a:t>
            </a:r>
            <a:r>
              <a:rPr lang="nl-NL" dirty="0"/>
              <a:t>: Three types of </a:t>
            </a:r>
            <a:r>
              <a:rPr lang="nl-NL" i="1" dirty="0"/>
              <a:t>t</a:t>
            </a:r>
            <a:r>
              <a:rPr lang="nl-NL" dirty="0"/>
              <a:t>-tests</a:t>
            </a:r>
            <a:endParaRPr lang="nl-NL" dirty="0"/>
          </a:p>
          <a:p>
            <a:pPr lvl="1"/>
            <a:r>
              <a:rPr lang="nl-NL" dirty="0"/>
              <a:t>Discrete </a:t>
            </a:r>
            <a:r>
              <a:rPr lang="nl-NL" dirty="0" err="1"/>
              <a:t>distributions</a:t>
            </a:r>
            <a:r>
              <a:rPr lang="nl-NL" dirty="0"/>
              <a:t>: Chi-square et al.</a:t>
            </a:r>
            <a:endParaRPr lang="nl-NL" dirty="0"/>
          </a:p>
          <a:p>
            <a:pPr lvl="1"/>
            <a:r>
              <a:rPr lang="en-US" dirty="0"/>
              <a:t>Reporting </a:t>
            </a:r>
            <a:r>
              <a:rPr lang="en-US" i="1" dirty="0"/>
              <a:t>t</a:t>
            </a:r>
            <a:r>
              <a:rPr lang="en-US" dirty="0"/>
              <a:t>-tests and chi-square tests</a:t>
            </a:r>
            <a:endParaRPr lang="nl-NL"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err="1"/>
              <a:t>Why</a:t>
            </a:r>
            <a:r>
              <a:rPr lang="nl-NL" b="1" dirty="0"/>
              <a:t> </a:t>
            </a:r>
            <a:r>
              <a:rPr lang="nl-NL" b="1"/>
              <a:t>are CIs </a:t>
            </a:r>
            <a:r>
              <a:rPr lang="nl-NL" b="1" dirty="0" err="1"/>
              <a:t>so</a:t>
            </a:r>
            <a:r>
              <a:rPr lang="nl-NL" b="1" dirty="0"/>
              <a:t> important?</a:t>
            </a:r>
            <a:endParaRPr lang="nl-NL" b="1" dirty="0"/>
          </a:p>
        </p:txBody>
      </p:sp>
      <p:sp>
        <p:nvSpPr>
          <p:cNvPr id="3" name="Content Placeholder 2"/>
          <p:cNvSpPr>
            <a:spLocks noGrp="1"/>
          </p:cNvSpPr>
          <p:nvPr>
            <p:ph idx="1"/>
          </p:nvPr>
        </p:nvSpPr>
        <p:spPr>
          <a:xfrm>
            <a:off x="703847" y="1268963"/>
            <a:ext cx="10756232" cy="5063414"/>
          </a:xfrm>
        </p:spPr>
        <p:txBody>
          <a:bodyPr>
            <a:normAutofit fontScale="92500"/>
          </a:bodyPr>
          <a:lstStyle/>
          <a:p>
            <a:r>
              <a:rPr lang="en-US" dirty="0"/>
              <a:t>The APA Task Force strongly encouraged the use of confidence intervals, noting that...</a:t>
            </a:r>
            <a:endParaRPr lang="en-US" dirty="0"/>
          </a:p>
          <a:p>
            <a:pPr lvl="1"/>
            <a:r>
              <a:rPr lang="en-US" i="1" dirty="0"/>
              <a:t>Comparing confidence intervals from a current study to intervals from previous, related studies helps focus attention on stability [or the lack thereof] across studies....Collecting intervals across studies also helps in constructing plausible regions for population parameters. (Wilkinson &amp; Task Force on Statistical Inference, 1999, p. 599) </a:t>
            </a:r>
            <a:endParaRPr lang="en-US" i="1" dirty="0"/>
          </a:p>
          <a:p>
            <a:pPr lvl="3"/>
            <a:endParaRPr lang="en-US" i="1" dirty="0"/>
          </a:p>
          <a:p>
            <a:r>
              <a:rPr lang="en-US" dirty="0"/>
              <a:t>And the APA Publication Manual suggests that </a:t>
            </a:r>
            <a:r>
              <a:rPr lang="en-US" b="1" dirty="0"/>
              <a:t>confidence intervals (CIs) represent “in general, the best reporting strategy. The use of confidence intervals is therefore strongly recommended”</a:t>
            </a:r>
            <a:r>
              <a:rPr lang="en-US" dirty="0"/>
              <a:t> (p. 34, emphasis added). </a:t>
            </a:r>
            <a:endParaRPr lang="en-US" dirty="0"/>
          </a:p>
          <a:p>
            <a:pPr lvl="4"/>
            <a:endParaRPr lang="en-US" dirty="0"/>
          </a:p>
          <a:p>
            <a:r>
              <a:rPr lang="en-US" b="1" dirty="0">
                <a:solidFill>
                  <a:srgbClr val="FF0000"/>
                </a:solidFill>
              </a:rPr>
              <a:t>However, confidence intervals are still not commonly used for statistical reporting in the social sciences (Finch, Cumming, &amp; Thomason, 2001).</a:t>
            </a:r>
            <a:endParaRPr lang="nl-NL" b="1"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6"/>
            <a:ext cx="10515600" cy="1024158"/>
          </a:xfrm>
        </p:spPr>
        <p:txBody>
          <a:bodyPr/>
          <a:lstStyle/>
          <a:p>
            <a:pPr algn="ctr"/>
            <a:r>
              <a:rPr lang="nl-NL" b="1" dirty="0" err="1"/>
              <a:t>What</a:t>
            </a:r>
            <a:r>
              <a:rPr lang="nl-NL" b="1" dirty="0"/>
              <a:t> are CIs?</a:t>
            </a:r>
            <a:endParaRPr lang="nl-NL" b="1" dirty="0"/>
          </a:p>
        </p:txBody>
      </p:sp>
      <p:sp>
        <p:nvSpPr>
          <p:cNvPr id="3" name="Content Placeholder 2"/>
          <p:cNvSpPr>
            <a:spLocks noGrp="1"/>
          </p:cNvSpPr>
          <p:nvPr>
            <p:ph idx="1"/>
          </p:nvPr>
        </p:nvSpPr>
        <p:spPr>
          <a:xfrm>
            <a:off x="838200" y="1268964"/>
            <a:ext cx="10515600" cy="5038530"/>
          </a:xfrm>
        </p:spPr>
        <p:txBody>
          <a:bodyPr>
            <a:normAutofit lnSpcReduction="10000"/>
          </a:bodyPr>
          <a:lstStyle/>
          <a:p>
            <a:r>
              <a:rPr lang="nl-NL" dirty="0"/>
              <a:t>CIs </a:t>
            </a:r>
            <a:r>
              <a:rPr lang="nl-NL" dirty="0" err="1"/>
              <a:t>specify</a:t>
            </a:r>
            <a:r>
              <a:rPr lang="nl-NL" dirty="0"/>
              <a:t> a range of </a:t>
            </a:r>
            <a:r>
              <a:rPr lang="nl-NL" dirty="0" err="1"/>
              <a:t>values</a:t>
            </a:r>
            <a:r>
              <a:rPr lang="nl-NL" dirty="0"/>
              <a:t> </a:t>
            </a:r>
            <a:r>
              <a:rPr lang="nl-NL" dirty="0" err="1"/>
              <a:t>that</a:t>
            </a:r>
            <a:r>
              <a:rPr lang="nl-NL" dirty="0"/>
              <a:t> have a high probability of </a:t>
            </a:r>
            <a:r>
              <a:rPr lang="nl-NL" dirty="0" err="1"/>
              <a:t>containing</a:t>
            </a:r>
            <a:r>
              <a:rPr lang="nl-NL" dirty="0"/>
              <a:t> a </a:t>
            </a:r>
            <a:r>
              <a:rPr lang="nl-NL" dirty="0" err="1"/>
              <a:t>population</a:t>
            </a:r>
            <a:r>
              <a:rPr lang="nl-NL" dirty="0"/>
              <a:t> parameter</a:t>
            </a:r>
            <a:endParaRPr lang="nl-NL" dirty="0"/>
          </a:p>
          <a:p>
            <a:pPr lvl="1"/>
            <a:r>
              <a:rPr lang="nl-NL" dirty="0" err="1">
                <a:solidFill>
                  <a:srgbClr val="FF0000"/>
                </a:solidFill>
              </a:rPr>
              <a:t>They</a:t>
            </a:r>
            <a:r>
              <a:rPr lang="nl-NL" dirty="0">
                <a:solidFill>
                  <a:srgbClr val="FF0000"/>
                </a:solidFill>
              </a:rPr>
              <a:t> </a:t>
            </a:r>
            <a:r>
              <a:rPr lang="nl-NL" dirty="0" err="1">
                <a:solidFill>
                  <a:srgbClr val="FF0000"/>
                </a:solidFill>
              </a:rPr>
              <a:t>provide</a:t>
            </a:r>
            <a:r>
              <a:rPr lang="nl-NL" dirty="0">
                <a:solidFill>
                  <a:srgbClr val="FF0000"/>
                </a:solidFill>
              </a:rPr>
              <a:t> </a:t>
            </a:r>
            <a:r>
              <a:rPr lang="nl-NL" dirty="0" err="1">
                <a:solidFill>
                  <a:srgbClr val="FF0000"/>
                </a:solidFill>
              </a:rPr>
              <a:t>an</a:t>
            </a:r>
            <a:r>
              <a:rPr lang="nl-NL" dirty="0">
                <a:solidFill>
                  <a:srgbClr val="FF0000"/>
                </a:solidFill>
              </a:rPr>
              <a:t> </a:t>
            </a:r>
            <a:r>
              <a:rPr lang="nl-NL" dirty="0" err="1">
                <a:solidFill>
                  <a:srgbClr val="FF0000"/>
                </a:solidFill>
              </a:rPr>
              <a:t>indication</a:t>
            </a:r>
            <a:r>
              <a:rPr lang="nl-NL" dirty="0">
                <a:solidFill>
                  <a:srgbClr val="FF0000"/>
                </a:solidFill>
              </a:rPr>
              <a:t> of </a:t>
            </a:r>
            <a:r>
              <a:rPr lang="nl-NL" dirty="0" err="1">
                <a:solidFill>
                  <a:srgbClr val="FF0000"/>
                </a:solidFill>
              </a:rPr>
              <a:t>certainty</a:t>
            </a:r>
            <a:r>
              <a:rPr lang="nl-NL" dirty="0">
                <a:solidFill>
                  <a:srgbClr val="FF0000"/>
                </a:solidFill>
              </a:rPr>
              <a:t> (</a:t>
            </a:r>
            <a:r>
              <a:rPr lang="nl-NL" dirty="0" err="1">
                <a:solidFill>
                  <a:srgbClr val="FF0000"/>
                </a:solidFill>
              </a:rPr>
              <a:t>reliability</a:t>
            </a:r>
            <a:r>
              <a:rPr lang="nl-NL" dirty="0">
                <a:solidFill>
                  <a:srgbClr val="FF0000"/>
                </a:solidFill>
              </a:rPr>
              <a:t>) of </a:t>
            </a:r>
            <a:r>
              <a:rPr lang="nl-NL" dirty="0" err="1">
                <a:solidFill>
                  <a:srgbClr val="FF0000"/>
                </a:solidFill>
              </a:rPr>
              <a:t>any</a:t>
            </a:r>
            <a:r>
              <a:rPr lang="nl-NL" dirty="0">
                <a:solidFill>
                  <a:srgbClr val="FF0000"/>
                </a:solidFill>
              </a:rPr>
              <a:t> point </a:t>
            </a:r>
            <a:r>
              <a:rPr lang="nl-NL" dirty="0" err="1">
                <a:solidFill>
                  <a:srgbClr val="FF0000"/>
                </a:solidFill>
              </a:rPr>
              <a:t>estimate</a:t>
            </a:r>
            <a:endParaRPr lang="nl-NL" dirty="0">
              <a:solidFill>
                <a:srgbClr val="FF0000"/>
              </a:solidFill>
            </a:endParaRPr>
          </a:p>
          <a:p>
            <a:pPr lvl="1"/>
            <a:endParaRPr lang="nl-NL" dirty="0"/>
          </a:p>
          <a:p>
            <a:r>
              <a:rPr lang="nl-NL" dirty="0"/>
              <a:t>The probability of a CI </a:t>
            </a:r>
            <a:r>
              <a:rPr lang="nl-NL" dirty="0" err="1"/>
              <a:t>containing</a:t>
            </a:r>
            <a:r>
              <a:rPr lang="nl-NL" dirty="0"/>
              <a:t> </a:t>
            </a:r>
            <a:r>
              <a:rPr lang="nl-NL" dirty="0" err="1"/>
              <a:t>the</a:t>
            </a:r>
            <a:r>
              <a:rPr lang="nl-NL" dirty="0"/>
              <a:t> </a:t>
            </a:r>
            <a:r>
              <a:rPr lang="nl-NL" dirty="0" err="1"/>
              <a:t>population</a:t>
            </a:r>
            <a:r>
              <a:rPr lang="nl-NL" dirty="0"/>
              <a:t> parameter is </a:t>
            </a:r>
            <a:r>
              <a:rPr lang="nl-NL" dirty="0" err="1"/>
              <a:t>its</a:t>
            </a:r>
            <a:r>
              <a:rPr lang="nl-NL" dirty="0"/>
              <a:t> </a:t>
            </a:r>
            <a:r>
              <a:rPr lang="nl-NL" b="1" dirty="0" err="1"/>
              <a:t>confidence</a:t>
            </a:r>
            <a:r>
              <a:rPr lang="nl-NL" b="1" dirty="0"/>
              <a:t> level </a:t>
            </a:r>
            <a:r>
              <a:rPr lang="nl-NL" dirty="0"/>
              <a:t>(</a:t>
            </a:r>
            <a:r>
              <a:rPr lang="nl-NL" dirty="0" err="1"/>
              <a:t>usually</a:t>
            </a:r>
            <a:r>
              <a:rPr lang="nl-NL" dirty="0"/>
              <a:t> </a:t>
            </a:r>
            <a:r>
              <a:rPr lang="nl-NL" dirty="0" err="1"/>
              <a:t>expressed</a:t>
            </a:r>
            <a:r>
              <a:rPr lang="nl-NL" dirty="0"/>
              <a:t> by a percentage)</a:t>
            </a:r>
            <a:endParaRPr lang="nl-NL" dirty="0"/>
          </a:p>
          <a:p>
            <a:pPr lvl="1"/>
            <a:r>
              <a:rPr lang="nl-NL" dirty="0"/>
              <a:t>The </a:t>
            </a:r>
            <a:r>
              <a:rPr lang="nl-NL" dirty="0" err="1"/>
              <a:t>confidence</a:t>
            </a:r>
            <a:r>
              <a:rPr lang="nl-NL" dirty="0"/>
              <a:t> level is </a:t>
            </a:r>
            <a:r>
              <a:rPr lang="nl-NL" dirty="0" err="1"/>
              <a:t>typically</a:t>
            </a:r>
            <a:r>
              <a:rPr lang="nl-NL" dirty="0"/>
              <a:t> </a:t>
            </a:r>
            <a:r>
              <a:rPr lang="nl-NL" dirty="0" err="1"/>
              <a:t>determined</a:t>
            </a:r>
            <a:r>
              <a:rPr lang="nl-NL" dirty="0"/>
              <a:t> by </a:t>
            </a:r>
            <a:r>
              <a:rPr lang="nl-NL" dirty="0" err="1"/>
              <a:t>alpha</a:t>
            </a:r>
            <a:r>
              <a:rPr lang="nl-NL" dirty="0"/>
              <a:t> (i.e., </a:t>
            </a:r>
            <a:r>
              <a:rPr lang="nl-NL" dirty="0" err="1"/>
              <a:t>the</a:t>
            </a:r>
            <a:r>
              <a:rPr lang="nl-NL" dirty="0"/>
              <a:t> </a:t>
            </a:r>
            <a:r>
              <a:rPr lang="nl-NL" dirty="0" err="1"/>
              <a:t>proportion</a:t>
            </a:r>
            <a:r>
              <a:rPr lang="nl-NL" dirty="0"/>
              <a:t> of </a:t>
            </a:r>
            <a:r>
              <a:rPr lang="nl-NL" dirty="0" err="1"/>
              <a:t>the</a:t>
            </a:r>
            <a:r>
              <a:rPr lang="nl-NL" dirty="0"/>
              <a:t> </a:t>
            </a:r>
            <a:r>
              <a:rPr lang="nl-NL" dirty="0" err="1"/>
              <a:t>distribution</a:t>
            </a:r>
            <a:r>
              <a:rPr lang="nl-NL" dirty="0"/>
              <a:t> in </a:t>
            </a:r>
            <a:r>
              <a:rPr lang="nl-NL" dirty="0" err="1"/>
              <a:t>both</a:t>
            </a:r>
            <a:r>
              <a:rPr lang="nl-NL" dirty="0"/>
              <a:t> </a:t>
            </a:r>
            <a:r>
              <a:rPr lang="nl-NL" dirty="0" err="1"/>
              <a:t>tails</a:t>
            </a:r>
            <a:r>
              <a:rPr lang="nl-NL" dirty="0"/>
              <a:t>)</a:t>
            </a:r>
            <a:endParaRPr lang="nl-NL" dirty="0"/>
          </a:p>
          <a:p>
            <a:pPr lvl="1"/>
            <a:r>
              <a:rPr lang="nl-NL" b="1" dirty="0" err="1">
                <a:solidFill>
                  <a:srgbClr val="FF0000"/>
                </a:solidFill>
              </a:rPr>
              <a:t>So</a:t>
            </a:r>
            <a:r>
              <a:rPr lang="nl-NL" b="1" dirty="0">
                <a:solidFill>
                  <a:srgbClr val="FF0000"/>
                </a:solidFill>
              </a:rPr>
              <a:t>, a 95% CI </a:t>
            </a:r>
            <a:r>
              <a:rPr lang="nl-NL" b="1" dirty="0" err="1">
                <a:solidFill>
                  <a:srgbClr val="FF0000"/>
                </a:solidFill>
              </a:rPr>
              <a:t>corresponds</a:t>
            </a:r>
            <a:r>
              <a:rPr lang="nl-NL" b="1" dirty="0">
                <a:solidFill>
                  <a:srgbClr val="FF0000"/>
                </a:solidFill>
              </a:rPr>
              <a:t> </a:t>
            </a:r>
            <a:r>
              <a:rPr lang="nl-NL" b="1" dirty="0" err="1">
                <a:solidFill>
                  <a:srgbClr val="FF0000"/>
                </a:solidFill>
              </a:rPr>
              <a:t>to</a:t>
            </a:r>
            <a:r>
              <a:rPr lang="nl-NL" b="1" dirty="0">
                <a:solidFill>
                  <a:srgbClr val="FF0000"/>
                </a:solidFill>
              </a:rPr>
              <a:t> </a:t>
            </a:r>
            <a:r>
              <a:rPr lang="nl-NL" b="1" dirty="0" err="1">
                <a:solidFill>
                  <a:srgbClr val="FF0000"/>
                </a:solidFill>
              </a:rPr>
              <a:t>alpha</a:t>
            </a:r>
            <a:r>
              <a:rPr lang="nl-NL" b="1" dirty="0">
                <a:solidFill>
                  <a:srgbClr val="FF0000"/>
                </a:solidFill>
              </a:rPr>
              <a:t> of .05 </a:t>
            </a:r>
            <a:r>
              <a:rPr lang="nl-NL" dirty="0"/>
              <a:t>(= 100(1-alpha) = 100(.95) = 95%)</a:t>
            </a:r>
            <a:endParaRPr lang="nl-NL" dirty="0"/>
          </a:p>
          <a:p>
            <a:pPr lvl="1"/>
            <a:endParaRPr lang="nl-NL" dirty="0"/>
          </a:p>
          <a:p>
            <a:r>
              <a:rPr lang="nl-NL" dirty="0"/>
              <a:t>For </a:t>
            </a:r>
            <a:r>
              <a:rPr lang="nl-NL" dirty="0" err="1"/>
              <a:t>additional</a:t>
            </a:r>
            <a:r>
              <a:rPr lang="nl-NL" dirty="0"/>
              <a:t> info I have </a:t>
            </a:r>
            <a:r>
              <a:rPr lang="nl-NL" dirty="0" err="1"/>
              <a:t>uploaded</a:t>
            </a:r>
            <a:r>
              <a:rPr lang="nl-NL" dirty="0"/>
              <a:t> </a:t>
            </a:r>
            <a:r>
              <a:rPr lang="nl-NL" dirty="0" err="1"/>
              <a:t>an</a:t>
            </a:r>
            <a:r>
              <a:rPr lang="nl-NL" dirty="0"/>
              <a:t> </a:t>
            </a:r>
            <a:r>
              <a:rPr lang="nl-NL" dirty="0" err="1"/>
              <a:t>article</a:t>
            </a:r>
            <a:r>
              <a:rPr lang="nl-NL" dirty="0"/>
              <a:t> on </a:t>
            </a:r>
            <a:r>
              <a:rPr lang="nl-NL" dirty="0" err="1"/>
              <a:t>Brightspace</a:t>
            </a:r>
            <a:r>
              <a:rPr lang="nl-NL" dirty="0"/>
              <a:t> </a:t>
            </a:r>
            <a:r>
              <a:rPr lang="nl-NL" dirty="0" err="1"/>
              <a:t>by</a:t>
            </a:r>
            <a:r>
              <a:rPr lang="nl-NL" dirty="0"/>
              <a:t> Greenland et al. (2016), </a:t>
            </a:r>
            <a:r>
              <a:rPr lang="nl-NL" dirty="0" err="1"/>
              <a:t>describing</a:t>
            </a:r>
            <a:r>
              <a:rPr lang="nl-NL" dirty="0"/>
              <a:t> common </a:t>
            </a:r>
            <a:r>
              <a:rPr lang="nl-NL" dirty="0" err="1"/>
              <a:t>misinterpretations</a:t>
            </a:r>
            <a:r>
              <a:rPr lang="nl-NL" dirty="0"/>
              <a:t> of CIs, p-</a:t>
            </a:r>
            <a:r>
              <a:rPr lang="nl-NL" dirty="0" err="1"/>
              <a:t>values</a:t>
            </a:r>
            <a:r>
              <a:rPr lang="nl-NL" dirty="0"/>
              <a:t>, </a:t>
            </a:r>
            <a:r>
              <a:rPr lang="nl-NL" dirty="0" err="1"/>
              <a:t>and</a:t>
            </a:r>
            <a:r>
              <a:rPr lang="nl-NL" dirty="0"/>
              <a:t> </a:t>
            </a:r>
            <a:r>
              <a:rPr lang="nl-NL" dirty="0" err="1"/>
              <a:t>statistical</a:t>
            </a:r>
            <a:r>
              <a:rPr lang="nl-NL" dirty="0"/>
              <a:t> power.</a:t>
            </a:r>
            <a:endParaRPr lang="nl-NL" dirty="0"/>
          </a:p>
          <a:p>
            <a:pPr lvl="1"/>
            <a:endParaRPr lang="nl-NL" dirty="0"/>
          </a:p>
          <a:p>
            <a:pPr lvl="1"/>
            <a:endParaRPr lang="nl-NL" dirty="0"/>
          </a:p>
          <a:p>
            <a:pPr lvl="1"/>
            <a:endParaRPr lang="nl-NL" dirty="0"/>
          </a:p>
          <a:p>
            <a:pPr marL="0" indent="0">
              <a:buNone/>
            </a:pPr>
            <a:endParaRPr lang="nl-NL"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05497"/>
          </a:xfrm>
        </p:spPr>
        <p:txBody>
          <a:bodyPr/>
          <a:lstStyle/>
          <a:p>
            <a:pPr algn="ctr"/>
            <a:r>
              <a:rPr lang="nl-NL" b="1" dirty="0" err="1"/>
              <a:t>Why</a:t>
            </a:r>
            <a:r>
              <a:rPr lang="nl-NL" b="1" dirty="0"/>
              <a:t> are </a:t>
            </a:r>
            <a:r>
              <a:rPr lang="nl-NL" b="1" dirty="0" err="1"/>
              <a:t>there</a:t>
            </a:r>
            <a:r>
              <a:rPr lang="nl-NL" b="1" dirty="0"/>
              <a:t> two CIs?</a:t>
            </a:r>
            <a:endParaRPr lang="nl-NL" b="1" dirty="0"/>
          </a:p>
        </p:txBody>
      </p:sp>
      <p:sp>
        <p:nvSpPr>
          <p:cNvPr id="3" name="Content Placeholder 2"/>
          <p:cNvSpPr>
            <a:spLocks noGrp="1"/>
          </p:cNvSpPr>
          <p:nvPr>
            <p:ph idx="1"/>
          </p:nvPr>
        </p:nvSpPr>
        <p:spPr>
          <a:xfrm>
            <a:off x="838200" y="1324947"/>
            <a:ext cx="10515600" cy="4994988"/>
          </a:xfrm>
        </p:spPr>
        <p:txBody>
          <a:bodyPr>
            <a:normAutofit/>
          </a:bodyPr>
          <a:lstStyle/>
          <a:p>
            <a:r>
              <a:rPr lang="nl-NL" dirty="0"/>
              <a:t>CIs are </a:t>
            </a:r>
            <a:r>
              <a:rPr lang="nl-NL" dirty="0" err="1"/>
              <a:t>defined</a:t>
            </a:r>
            <a:r>
              <a:rPr lang="nl-NL" dirty="0"/>
              <a:t> by two points (</a:t>
            </a:r>
            <a:r>
              <a:rPr lang="nl-NL" dirty="0" err="1"/>
              <a:t>lower</a:t>
            </a:r>
            <a:r>
              <a:rPr lang="nl-NL" dirty="0"/>
              <a:t> </a:t>
            </a:r>
            <a:r>
              <a:rPr lang="nl-NL" dirty="0" err="1"/>
              <a:t>and</a:t>
            </a:r>
            <a:r>
              <a:rPr lang="nl-NL" dirty="0"/>
              <a:t> </a:t>
            </a:r>
            <a:r>
              <a:rPr lang="nl-NL" dirty="0" err="1"/>
              <a:t>upper</a:t>
            </a:r>
            <a:r>
              <a:rPr lang="nl-NL" dirty="0"/>
              <a:t> </a:t>
            </a:r>
            <a:r>
              <a:rPr lang="nl-NL" dirty="0" err="1"/>
              <a:t>bounds</a:t>
            </a:r>
            <a:r>
              <a:rPr lang="nl-NL" dirty="0"/>
              <a:t>)</a:t>
            </a:r>
            <a:endParaRPr lang="nl-NL" dirty="0"/>
          </a:p>
          <a:p>
            <a:pPr lvl="1"/>
            <a:r>
              <a:rPr lang="nl-NL" dirty="0"/>
              <a:t>If </a:t>
            </a:r>
            <a:r>
              <a:rPr lang="nl-NL" dirty="0" err="1"/>
              <a:t>the</a:t>
            </a:r>
            <a:r>
              <a:rPr lang="nl-NL" dirty="0"/>
              <a:t> interval is </a:t>
            </a:r>
            <a:r>
              <a:rPr lang="nl-NL" dirty="0" err="1"/>
              <a:t>symmetric</a:t>
            </a:r>
            <a:r>
              <a:rPr lang="nl-NL" dirty="0"/>
              <a:t>, </a:t>
            </a:r>
            <a:r>
              <a:rPr lang="nl-NL" dirty="0" err="1"/>
              <a:t>the</a:t>
            </a:r>
            <a:r>
              <a:rPr lang="nl-NL" dirty="0"/>
              <a:t> point </a:t>
            </a:r>
            <a:r>
              <a:rPr lang="nl-NL" dirty="0" err="1"/>
              <a:t>estimate</a:t>
            </a:r>
            <a:r>
              <a:rPr lang="nl-NL" dirty="0"/>
              <a:t> lies in </a:t>
            </a:r>
            <a:r>
              <a:rPr lang="nl-NL" dirty="0" err="1"/>
              <a:t>the</a:t>
            </a:r>
            <a:r>
              <a:rPr lang="nl-NL" dirty="0"/>
              <a:t> center</a:t>
            </a:r>
            <a:endParaRPr lang="nl-NL" dirty="0"/>
          </a:p>
          <a:p>
            <a:pPr lvl="1"/>
            <a:r>
              <a:rPr lang="nl-NL" dirty="0" err="1">
                <a:solidFill>
                  <a:srgbClr val="FF0000"/>
                </a:solidFill>
              </a:rPr>
              <a:t>Foreshadowing</a:t>
            </a:r>
            <a:r>
              <a:rPr lang="nl-NL" dirty="0">
                <a:solidFill>
                  <a:srgbClr val="FF0000"/>
                </a:solidFill>
              </a:rPr>
              <a:t>…</a:t>
            </a:r>
            <a:r>
              <a:rPr lang="nl-NL" dirty="0" err="1">
                <a:solidFill>
                  <a:srgbClr val="FF0000"/>
                </a:solidFill>
              </a:rPr>
              <a:t>intervals</a:t>
            </a:r>
            <a:r>
              <a:rPr lang="nl-NL" dirty="0">
                <a:solidFill>
                  <a:srgbClr val="FF0000"/>
                </a:solidFill>
              </a:rPr>
              <a:t> are NOT </a:t>
            </a:r>
            <a:r>
              <a:rPr lang="nl-NL" dirty="0" err="1">
                <a:solidFill>
                  <a:srgbClr val="FF0000"/>
                </a:solidFill>
              </a:rPr>
              <a:t>always</a:t>
            </a:r>
            <a:r>
              <a:rPr lang="nl-NL" dirty="0">
                <a:solidFill>
                  <a:srgbClr val="FF0000"/>
                </a:solidFill>
              </a:rPr>
              <a:t> </a:t>
            </a:r>
            <a:r>
              <a:rPr lang="nl-NL" dirty="0" err="1">
                <a:solidFill>
                  <a:srgbClr val="FF0000"/>
                </a:solidFill>
              </a:rPr>
              <a:t>symmetric</a:t>
            </a:r>
            <a:r>
              <a:rPr lang="nl-NL" dirty="0">
                <a:solidFill>
                  <a:srgbClr val="FF0000"/>
                </a:solidFill>
              </a:rPr>
              <a:t>!</a:t>
            </a:r>
            <a:endParaRPr lang="nl-NL" dirty="0">
              <a:solidFill>
                <a:srgbClr val="FF0000"/>
              </a:solidFill>
            </a:endParaRPr>
          </a:p>
          <a:p>
            <a:pPr lvl="2"/>
            <a:endParaRPr lang="nl-NL" dirty="0"/>
          </a:p>
          <a:p>
            <a:r>
              <a:rPr lang="nl-NL" dirty="0" err="1"/>
              <a:t>If</a:t>
            </a:r>
            <a:r>
              <a:rPr lang="nl-NL" dirty="0"/>
              <a:t> CI is </a:t>
            </a:r>
            <a:r>
              <a:rPr lang="nl-NL" dirty="0" err="1"/>
              <a:t>symmetric</a:t>
            </a:r>
            <a:r>
              <a:rPr lang="nl-NL" dirty="0"/>
              <a:t>, </a:t>
            </a:r>
            <a:r>
              <a:rPr lang="nl-NL" dirty="0" err="1"/>
              <a:t>then</a:t>
            </a:r>
            <a:r>
              <a:rPr lang="nl-NL" dirty="0"/>
              <a:t> </a:t>
            </a:r>
            <a:r>
              <a:rPr lang="nl-NL" dirty="0" err="1"/>
              <a:t>it</a:t>
            </a:r>
            <a:r>
              <a:rPr lang="nl-NL" dirty="0"/>
              <a:t> </a:t>
            </a:r>
            <a:r>
              <a:rPr lang="nl-NL" dirty="0" err="1"/>
              <a:t>can</a:t>
            </a:r>
            <a:r>
              <a:rPr lang="nl-NL" dirty="0"/>
              <a:t> </a:t>
            </a:r>
            <a:r>
              <a:rPr lang="nl-NL" dirty="0" err="1"/>
              <a:t>be</a:t>
            </a:r>
            <a:r>
              <a:rPr lang="nl-NL" dirty="0"/>
              <a:t> </a:t>
            </a:r>
            <a:r>
              <a:rPr lang="nl-NL" dirty="0" err="1"/>
              <a:t>described</a:t>
            </a:r>
            <a:r>
              <a:rPr lang="nl-NL" dirty="0"/>
              <a:t> in </a:t>
            </a:r>
            <a:r>
              <a:rPr lang="nl-NL" dirty="0" err="1"/>
              <a:t>terms</a:t>
            </a:r>
            <a:r>
              <a:rPr lang="nl-NL" dirty="0"/>
              <a:t> of </a:t>
            </a:r>
            <a:r>
              <a:rPr lang="nl-NL" dirty="0" err="1"/>
              <a:t>the</a:t>
            </a:r>
            <a:r>
              <a:rPr lang="nl-NL" dirty="0"/>
              <a:t> point </a:t>
            </a:r>
            <a:r>
              <a:rPr lang="nl-NL" dirty="0" err="1"/>
              <a:t>estimate</a:t>
            </a:r>
            <a:r>
              <a:rPr lang="nl-NL" dirty="0"/>
              <a:t> plus or minus half </a:t>
            </a:r>
            <a:r>
              <a:rPr lang="nl-NL" dirty="0" err="1"/>
              <a:t>the</a:t>
            </a:r>
            <a:r>
              <a:rPr lang="nl-NL" dirty="0"/>
              <a:t> </a:t>
            </a:r>
            <a:r>
              <a:rPr lang="nl-NL" dirty="0" err="1"/>
              <a:t>width</a:t>
            </a:r>
            <a:r>
              <a:rPr lang="nl-NL" dirty="0"/>
              <a:t> of </a:t>
            </a:r>
            <a:r>
              <a:rPr lang="nl-NL" dirty="0" err="1"/>
              <a:t>the</a:t>
            </a:r>
            <a:r>
              <a:rPr lang="nl-NL" dirty="0"/>
              <a:t> interval</a:t>
            </a:r>
            <a:endParaRPr lang="nl-NL" dirty="0"/>
          </a:p>
          <a:p>
            <a:pPr lvl="1"/>
            <a:r>
              <a:rPr lang="nl-NL" dirty="0" err="1"/>
              <a:t>This</a:t>
            </a:r>
            <a:r>
              <a:rPr lang="nl-NL" dirty="0"/>
              <a:t> half </a:t>
            </a:r>
            <a:r>
              <a:rPr lang="nl-NL" dirty="0" err="1"/>
              <a:t>width</a:t>
            </a:r>
            <a:r>
              <a:rPr lang="nl-NL" dirty="0"/>
              <a:t> is </a:t>
            </a:r>
            <a:r>
              <a:rPr lang="nl-NL" dirty="0" err="1"/>
              <a:t>called</a:t>
            </a:r>
            <a:r>
              <a:rPr lang="nl-NL" dirty="0"/>
              <a:t> </a:t>
            </a:r>
            <a:r>
              <a:rPr lang="nl-NL" dirty="0" err="1"/>
              <a:t>the</a:t>
            </a:r>
            <a:r>
              <a:rPr lang="nl-NL" dirty="0"/>
              <a:t> </a:t>
            </a:r>
            <a:r>
              <a:rPr lang="nl-NL" b="1" dirty="0" err="1"/>
              <a:t>Margin</a:t>
            </a:r>
            <a:r>
              <a:rPr lang="nl-NL" b="1" dirty="0"/>
              <a:t> Of Error (MOE)</a:t>
            </a:r>
            <a:endParaRPr lang="nl-NL" dirty="0"/>
          </a:p>
          <a:p>
            <a:pPr lvl="1"/>
            <a:r>
              <a:rPr lang="nl-NL" dirty="0" err="1"/>
              <a:t>So</a:t>
            </a:r>
            <a:r>
              <a:rPr lang="nl-NL" dirty="0"/>
              <a:t>, in </a:t>
            </a:r>
            <a:r>
              <a:rPr lang="nl-NL" dirty="0" err="1"/>
              <a:t>the</a:t>
            </a:r>
            <a:r>
              <a:rPr lang="nl-NL" dirty="0"/>
              <a:t> </a:t>
            </a:r>
            <a:r>
              <a:rPr lang="nl-NL" dirty="0" err="1"/>
              <a:t>simplest</a:t>
            </a:r>
            <a:r>
              <a:rPr lang="nl-NL" dirty="0"/>
              <a:t> case…CI = point </a:t>
            </a:r>
            <a:r>
              <a:rPr lang="nl-NL" dirty="0" err="1"/>
              <a:t>estimate</a:t>
            </a:r>
            <a:r>
              <a:rPr lang="nl-NL" dirty="0"/>
              <a:t> ± MOE</a:t>
            </a:r>
            <a:endParaRPr lang="nl-NL" dirty="0"/>
          </a:p>
          <a:p>
            <a:pPr lvl="2"/>
            <a:endParaRPr lang="nl-NL" b="1" dirty="0"/>
          </a:p>
          <a:p>
            <a:r>
              <a:rPr lang="nl-NL" dirty="0"/>
              <a:t>The </a:t>
            </a:r>
            <a:r>
              <a:rPr lang="nl-NL" dirty="0" err="1"/>
              <a:t>width</a:t>
            </a:r>
            <a:r>
              <a:rPr lang="nl-NL" dirty="0"/>
              <a:t> of </a:t>
            </a:r>
            <a:r>
              <a:rPr lang="nl-NL" dirty="0" err="1"/>
              <a:t>the</a:t>
            </a:r>
            <a:r>
              <a:rPr lang="nl-NL" dirty="0"/>
              <a:t> CI </a:t>
            </a:r>
            <a:r>
              <a:rPr lang="nl-NL" dirty="0" err="1"/>
              <a:t>depends</a:t>
            </a:r>
            <a:r>
              <a:rPr lang="nl-NL" dirty="0"/>
              <a:t> on (a) </a:t>
            </a:r>
            <a:r>
              <a:rPr lang="nl-NL" dirty="0" err="1"/>
              <a:t>the</a:t>
            </a:r>
            <a:r>
              <a:rPr lang="nl-NL" dirty="0"/>
              <a:t> </a:t>
            </a:r>
            <a:r>
              <a:rPr lang="nl-NL" dirty="0" err="1"/>
              <a:t>confidence</a:t>
            </a:r>
            <a:r>
              <a:rPr lang="nl-NL" dirty="0"/>
              <a:t> level, (b) </a:t>
            </a:r>
            <a:r>
              <a:rPr lang="nl-NL" b="1" dirty="0" err="1"/>
              <a:t>the</a:t>
            </a:r>
            <a:r>
              <a:rPr lang="nl-NL" b="1" dirty="0"/>
              <a:t> standard error (SE), </a:t>
            </a:r>
            <a:r>
              <a:rPr lang="nl-NL" dirty="0" err="1"/>
              <a:t>and</a:t>
            </a:r>
            <a:r>
              <a:rPr lang="nl-NL" dirty="0"/>
              <a:t> (c) </a:t>
            </a:r>
            <a:r>
              <a:rPr lang="nl-NL" dirty="0" err="1"/>
              <a:t>the</a:t>
            </a:r>
            <a:r>
              <a:rPr lang="nl-NL" dirty="0"/>
              <a:t> </a:t>
            </a:r>
            <a:r>
              <a:rPr lang="nl-NL" dirty="0" err="1"/>
              <a:t>shape</a:t>
            </a:r>
            <a:r>
              <a:rPr lang="nl-NL" dirty="0"/>
              <a:t> of </a:t>
            </a:r>
            <a:r>
              <a:rPr lang="nl-NL" dirty="0" err="1"/>
              <a:t>the</a:t>
            </a:r>
            <a:r>
              <a:rPr lang="nl-NL" dirty="0"/>
              <a:t> sampling </a:t>
            </a:r>
            <a:r>
              <a:rPr lang="nl-NL" dirty="0" err="1"/>
              <a:t>distribution</a:t>
            </a:r>
            <a:endParaRPr lang="nl-NL" dirty="0"/>
          </a:p>
          <a:p>
            <a:pPr lvl="1"/>
            <a:endParaRPr lang="nl-NL"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5639"/>
          </a:xfrm>
        </p:spPr>
        <p:txBody>
          <a:bodyPr>
            <a:normAutofit/>
          </a:bodyPr>
          <a:lstStyle/>
          <a:p>
            <a:pPr algn="ctr"/>
            <a:r>
              <a:rPr lang="nl-NL" b="1" dirty="0" err="1"/>
              <a:t>SEs</a:t>
            </a:r>
            <a:r>
              <a:rPr lang="nl-NL" b="1" dirty="0"/>
              <a:t> </a:t>
            </a:r>
            <a:r>
              <a:rPr lang="nl-NL" b="1" dirty="0" err="1"/>
              <a:t>and</a:t>
            </a:r>
            <a:r>
              <a:rPr lang="nl-NL" b="1" dirty="0"/>
              <a:t> </a:t>
            </a:r>
            <a:r>
              <a:rPr lang="nl-NL" b="1" dirty="0" err="1"/>
              <a:t>dfs</a:t>
            </a:r>
            <a:endParaRPr lang="nl-NL" b="1" dirty="0"/>
          </a:p>
        </p:txBody>
      </p:sp>
      <p:sp>
        <p:nvSpPr>
          <p:cNvPr id="3" name="Content Placeholder 2"/>
          <p:cNvSpPr>
            <a:spLocks noGrp="1"/>
          </p:cNvSpPr>
          <p:nvPr>
            <p:ph idx="1"/>
          </p:nvPr>
        </p:nvSpPr>
        <p:spPr>
          <a:xfrm>
            <a:off x="762000" y="1400176"/>
            <a:ext cx="10591800" cy="5000624"/>
          </a:xfrm>
        </p:spPr>
        <p:txBody>
          <a:bodyPr>
            <a:normAutofit lnSpcReduction="10000"/>
          </a:bodyPr>
          <a:lstStyle/>
          <a:p>
            <a:r>
              <a:rPr lang="nl-NL" b="1" dirty="0"/>
              <a:t>Standard Error (SE)</a:t>
            </a:r>
            <a:endParaRPr lang="nl-NL" b="1" dirty="0"/>
          </a:p>
          <a:p>
            <a:pPr lvl="1"/>
            <a:r>
              <a:rPr lang="nl-NL" dirty="0"/>
              <a:t>Standard </a:t>
            </a:r>
            <a:r>
              <a:rPr lang="nl-NL" dirty="0" err="1"/>
              <a:t>deviation</a:t>
            </a:r>
            <a:r>
              <a:rPr lang="nl-NL" dirty="0"/>
              <a:t> of sampling </a:t>
            </a:r>
            <a:r>
              <a:rPr lang="nl-NL" dirty="0" err="1"/>
              <a:t>distribution</a:t>
            </a:r>
            <a:endParaRPr lang="nl-NL" dirty="0"/>
          </a:p>
          <a:p>
            <a:pPr lvl="1"/>
            <a:r>
              <a:rPr lang="nl-NL" b="1" dirty="0">
                <a:solidFill>
                  <a:srgbClr val="FF0000"/>
                </a:solidFill>
              </a:rPr>
              <a:t>Based on “</a:t>
            </a:r>
            <a:r>
              <a:rPr lang="nl-NL" b="1" dirty="0" err="1">
                <a:solidFill>
                  <a:srgbClr val="FF0000"/>
                </a:solidFill>
              </a:rPr>
              <a:t>sum</a:t>
            </a:r>
            <a:r>
              <a:rPr lang="nl-NL" b="1" dirty="0">
                <a:solidFill>
                  <a:srgbClr val="FF0000"/>
                </a:solidFill>
              </a:rPr>
              <a:t> of </a:t>
            </a:r>
            <a:r>
              <a:rPr lang="nl-NL" b="1" dirty="0" err="1">
                <a:solidFill>
                  <a:srgbClr val="FF0000"/>
                </a:solidFill>
              </a:rPr>
              <a:t>squared</a:t>
            </a:r>
            <a:r>
              <a:rPr lang="nl-NL" b="1" dirty="0">
                <a:solidFill>
                  <a:srgbClr val="FF0000"/>
                </a:solidFill>
              </a:rPr>
              <a:t> </a:t>
            </a:r>
            <a:r>
              <a:rPr lang="nl-NL" b="1" dirty="0" err="1">
                <a:solidFill>
                  <a:srgbClr val="FF0000"/>
                </a:solidFill>
              </a:rPr>
              <a:t>differences</a:t>
            </a:r>
            <a:r>
              <a:rPr lang="nl-NL" b="1" dirty="0">
                <a:solidFill>
                  <a:srgbClr val="FF0000"/>
                </a:solidFill>
              </a:rPr>
              <a:t>” (week 2)</a:t>
            </a:r>
            <a:endParaRPr lang="nl-NL" dirty="0">
              <a:solidFill>
                <a:srgbClr val="FF0000"/>
              </a:solidFill>
            </a:endParaRPr>
          </a:p>
          <a:p>
            <a:pPr lvl="1"/>
            <a:r>
              <a:rPr lang="nl-NL" dirty="0" err="1"/>
              <a:t>When</a:t>
            </a:r>
            <a:r>
              <a:rPr lang="nl-NL" dirty="0"/>
              <a:t> </a:t>
            </a:r>
            <a:r>
              <a:rPr lang="nl-NL" dirty="0" err="1"/>
              <a:t>derived</a:t>
            </a:r>
            <a:r>
              <a:rPr lang="nl-NL" dirty="0"/>
              <a:t> </a:t>
            </a:r>
            <a:r>
              <a:rPr lang="nl-NL" dirty="0" err="1"/>
              <a:t>from</a:t>
            </a:r>
            <a:r>
              <a:rPr lang="nl-NL" dirty="0"/>
              <a:t> </a:t>
            </a:r>
            <a:r>
              <a:rPr lang="nl-NL" i="1" dirty="0"/>
              <a:t>M</a:t>
            </a:r>
            <a:r>
              <a:rPr lang="nl-NL" dirty="0"/>
              <a:t>s, </a:t>
            </a:r>
            <a:r>
              <a:rPr lang="nl-NL" dirty="0" err="1"/>
              <a:t>then</a:t>
            </a:r>
            <a:r>
              <a:rPr lang="nl-NL" dirty="0"/>
              <a:t> is </a:t>
            </a:r>
            <a:r>
              <a:rPr lang="nl-NL" dirty="0" err="1"/>
              <a:t>the</a:t>
            </a:r>
            <a:r>
              <a:rPr lang="nl-NL" dirty="0"/>
              <a:t> </a:t>
            </a:r>
            <a:r>
              <a:rPr lang="nl-NL" b="1" dirty="0"/>
              <a:t>standard error of </a:t>
            </a:r>
            <a:r>
              <a:rPr lang="nl-NL" b="1" dirty="0" err="1"/>
              <a:t>the</a:t>
            </a:r>
            <a:r>
              <a:rPr lang="nl-NL" b="1" dirty="0"/>
              <a:t> </a:t>
            </a:r>
            <a:r>
              <a:rPr lang="nl-NL" b="1" dirty="0" err="1"/>
              <a:t>mean</a:t>
            </a:r>
            <a:r>
              <a:rPr lang="nl-NL" b="1" dirty="0"/>
              <a:t> (SEM)</a:t>
            </a:r>
            <a:endParaRPr lang="nl-NL" b="1" dirty="0"/>
          </a:p>
          <a:p>
            <a:pPr lvl="2"/>
            <a:endParaRPr lang="nl-NL" dirty="0"/>
          </a:p>
          <a:p>
            <a:r>
              <a:rPr lang="nl-NL" b="1" dirty="0" err="1"/>
              <a:t>Degrees</a:t>
            </a:r>
            <a:r>
              <a:rPr lang="nl-NL" b="1" dirty="0"/>
              <a:t> of </a:t>
            </a:r>
            <a:r>
              <a:rPr lang="nl-NL" b="1" dirty="0" err="1"/>
              <a:t>freedom</a:t>
            </a:r>
            <a:r>
              <a:rPr lang="nl-NL" b="1" dirty="0"/>
              <a:t> (</a:t>
            </a:r>
            <a:r>
              <a:rPr lang="nl-NL" b="1" dirty="0" err="1"/>
              <a:t>df</a:t>
            </a:r>
            <a:r>
              <a:rPr lang="nl-NL" b="1" dirty="0"/>
              <a:t>)</a:t>
            </a:r>
            <a:endParaRPr lang="nl-NL" dirty="0"/>
          </a:p>
          <a:p>
            <a:pPr lvl="1"/>
            <a:r>
              <a:rPr lang="nl-NL" dirty="0"/>
              <a:t>The </a:t>
            </a:r>
            <a:r>
              <a:rPr lang="nl-NL" dirty="0" err="1"/>
              <a:t>number</a:t>
            </a:r>
            <a:r>
              <a:rPr lang="nl-NL" dirty="0"/>
              <a:t> of independent data points </a:t>
            </a:r>
            <a:r>
              <a:rPr lang="nl-NL" dirty="0" err="1"/>
              <a:t>used</a:t>
            </a:r>
            <a:r>
              <a:rPr lang="nl-NL" dirty="0"/>
              <a:t> </a:t>
            </a:r>
            <a:r>
              <a:rPr lang="nl-NL" dirty="0" err="1"/>
              <a:t>to</a:t>
            </a:r>
            <a:r>
              <a:rPr lang="nl-NL" dirty="0"/>
              <a:t> </a:t>
            </a:r>
            <a:r>
              <a:rPr lang="nl-NL" dirty="0" err="1"/>
              <a:t>estimate</a:t>
            </a:r>
            <a:r>
              <a:rPr lang="nl-NL" dirty="0"/>
              <a:t> </a:t>
            </a:r>
            <a:r>
              <a:rPr lang="nl-NL" dirty="0" err="1"/>
              <a:t>the</a:t>
            </a:r>
            <a:r>
              <a:rPr lang="nl-NL" dirty="0"/>
              <a:t> </a:t>
            </a:r>
            <a:r>
              <a:rPr lang="nl-NL" dirty="0" err="1"/>
              <a:t>corresponding</a:t>
            </a:r>
            <a:r>
              <a:rPr lang="nl-NL" dirty="0"/>
              <a:t> </a:t>
            </a:r>
            <a:r>
              <a:rPr lang="nl-NL" dirty="0" err="1"/>
              <a:t>population</a:t>
            </a:r>
            <a:r>
              <a:rPr lang="nl-NL" dirty="0"/>
              <a:t> parameter (i.e., </a:t>
            </a:r>
            <a:r>
              <a:rPr lang="nl-NL" dirty="0" err="1"/>
              <a:t>how</a:t>
            </a:r>
            <a:r>
              <a:rPr lang="nl-NL" dirty="0"/>
              <a:t> </a:t>
            </a:r>
            <a:r>
              <a:rPr lang="nl-NL" dirty="0" err="1"/>
              <a:t>many</a:t>
            </a:r>
            <a:r>
              <a:rPr lang="nl-NL" dirty="0"/>
              <a:t> </a:t>
            </a:r>
            <a:r>
              <a:rPr lang="nl-NL" dirty="0" err="1"/>
              <a:t>observations</a:t>
            </a:r>
            <a:r>
              <a:rPr lang="nl-NL" dirty="0"/>
              <a:t> </a:t>
            </a:r>
            <a:r>
              <a:rPr lang="nl-NL" dirty="0" err="1"/>
              <a:t>you</a:t>
            </a:r>
            <a:r>
              <a:rPr lang="nl-NL" dirty="0"/>
              <a:t> </a:t>
            </a:r>
            <a:r>
              <a:rPr lang="nl-NL" dirty="0" err="1"/>
              <a:t>need</a:t>
            </a:r>
            <a:r>
              <a:rPr lang="nl-NL" dirty="0"/>
              <a:t> </a:t>
            </a:r>
            <a:r>
              <a:rPr lang="nl-NL" dirty="0" err="1"/>
              <a:t>to</a:t>
            </a:r>
            <a:r>
              <a:rPr lang="nl-NL" dirty="0"/>
              <a:t> </a:t>
            </a:r>
            <a:r>
              <a:rPr lang="nl-NL" dirty="0" err="1"/>
              <a:t>know</a:t>
            </a:r>
            <a:r>
              <a:rPr lang="nl-NL" dirty="0"/>
              <a:t> </a:t>
            </a:r>
            <a:r>
              <a:rPr lang="nl-NL" dirty="0" err="1"/>
              <a:t>to</a:t>
            </a:r>
            <a:r>
              <a:rPr lang="nl-NL" dirty="0"/>
              <a:t> have </a:t>
            </a:r>
            <a:r>
              <a:rPr lang="nl-NL" dirty="0" err="1"/>
              <a:t>all</a:t>
            </a:r>
            <a:r>
              <a:rPr lang="nl-NL" dirty="0"/>
              <a:t> information </a:t>
            </a:r>
            <a:r>
              <a:rPr lang="nl-NL" dirty="0" err="1"/>
              <a:t>about</a:t>
            </a:r>
            <a:r>
              <a:rPr lang="nl-NL" dirty="0"/>
              <a:t> sample)</a:t>
            </a:r>
            <a:endParaRPr lang="nl-NL" dirty="0"/>
          </a:p>
          <a:p>
            <a:pPr lvl="2"/>
            <a:r>
              <a:rPr lang="nl-NL" dirty="0"/>
              <a:t>Total </a:t>
            </a:r>
            <a:r>
              <a:rPr lang="nl-NL" dirty="0" err="1"/>
              <a:t>df</a:t>
            </a:r>
            <a:r>
              <a:rPr lang="nl-NL" dirty="0"/>
              <a:t> </a:t>
            </a:r>
            <a:r>
              <a:rPr lang="nl-NL" dirty="0" err="1"/>
              <a:t>for</a:t>
            </a:r>
            <a:r>
              <a:rPr lang="nl-NL" dirty="0"/>
              <a:t> </a:t>
            </a:r>
            <a:r>
              <a:rPr lang="nl-NL" dirty="0" err="1"/>
              <a:t>statistic</a:t>
            </a:r>
            <a:r>
              <a:rPr lang="nl-NL" dirty="0"/>
              <a:t> of single sample = </a:t>
            </a:r>
            <a:r>
              <a:rPr lang="nl-NL" i="1" dirty="0"/>
              <a:t>n</a:t>
            </a:r>
            <a:r>
              <a:rPr lang="nl-NL" dirty="0"/>
              <a:t> – 1</a:t>
            </a:r>
            <a:endParaRPr lang="nl-NL" dirty="0"/>
          </a:p>
          <a:p>
            <a:pPr lvl="2"/>
            <a:r>
              <a:rPr lang="nl-NL" dirty="0"/>
              <a:t>Total </a:t>
            </a:r>
            <a:r>
              <a:rPr lang="nl-NL" dirty="0" err="1"/>
              <a:t>df</a:t>
            </a:r>
            <a:r>
              <a:rPr lang="nl-NL" dirty="0"/>
              <a:t> </a:t>
            </a:r>
            <a:r>
              <a:rPr lang="nl-NL" dirty="0" err="1"/>
              <a:t>for</a:t>
            </a:r>
            <a:r>
              <a:rPr lang="nl-NL" dirty="0"/>
              <a:t> </a:t>
            </a:r>
            <a:r>
              <a:rPr lang="nl-NL" dirty="0" err="1"/>
              <a:t>estimating</a:t>
            </a:r>
            <a:r>
              <a:rPr lang="nl-NL" dirty="0"/>
              <a:t> </a:t>
            </a:r>
            <a:r>
              <a:rPr lang="nl-NL" dirty="0" err="1"/>
              <a:t>difference</a:t>
            </a:r>
            <a:r>
              <a:rPr lang="nl-NL" dirty="0"/>
              <a:t> </a:t>
            </a:r>
            <a:r>
              <a:rPr lang="nl-NL" dirty="0" err="1"/>
              <a:t>between</a:t>
            </a:r>
            <a:r>
              <a:rPr lang="nl-NL" dirty="0"/>
              <a:t> </a:t>
            </a:r>
            <a:r>
              <a:rPr lang="nl-NL" dirty="0" err="1"/>
              <a:t>two</a:t>
            </a:r>
            <a:r>
              <a:rPr lang="nl-NL" dirty="0"/>
              <a:t> samples = </a:t>
            </a:r>
            <a:r>
              <a:rPr lang="nl-NL" i="1" dirty="0"/>
              <a:t>n</a:t>
            </a:r>
            <a:r>
              <a:rPr lang="nl-NL" dirty="0"/>
              <a:t> - 2</a:t>
            </a:r>
            <a:endParaRPr lang="nl-NL" dirty="0"/>
          </a:p>
          <a:p>
            <a:pPr lvl="2"/>
            <a:r>
              <a:rPr lang="nl-NL" dirty="0" err="1"/>
              <a:t>Residual</a:t>
            </a:r>
            <a:r>
              <a:rPr lang="nl-NL" dirty="0"/>
              <a:t> </a:t>
            </a:r>
            <a:r>
              <a:rPr lang="nl-NL" dirty="0" err="1"/>
              <a:t>df</a:t>
            </a:r>
            <a:r>
              <a:rPr lang="nl-NL" dirty="0"/>
              <a:t> </a:t>
            </a:r>
            <a:r>
              <a:rPr lang="nl-NL" dirty="0" err="1"/>
              <a:t>for</a:t>
            </a:r>
            <a:r>
              <a:rPr lang="nl-NL" dirty="0"/>
              <a:t> tests w/ multiple parameters = </a:t>
            </a:r>
            <a:r>
              <a:rPr lang="nl-NL" i="1" dirty="0"/>
              <a:t>n</a:t>
            </a:r>
            <a:r>
              <a:rPr lang="nl-NL" dirty="0"/>
              <a:t> – q (q = # of </a:t>
            </a:r>
            <a:r>
              <a:rPr lang="nl-NL" dirty="0" err="1"/>
              <a:t>estimated</a:t>
            </a:r>
            <a:r>
              <a:rPr lang="nl-NL" dirty="0"/>
              <a:t> parameters)</a:t>
            </a:r>
            <a:endParaRPr lang="nl-NL" dirty="0"/>
          </a:p>
          <a:p>
            <a:pPr lvl="1"/>
            <a:r>
              <a:rPr lang="en-US" dirty="0">
                <a:solidFill>
                  <a:srgbClr val="FF0000"/>
                </a:solidFill>
              </a:rPr>
              <a:t>So, degrees of freedom (typically) describe a combination of how much data you have, and how many parameters you need to estimate.</a:t>
            </a:r>
            <a:endParaRPr lang="nl-NL" dirty="0">
              <a:solidFill>
                <a:srgbClr val="FF0000"/>
              </a:solidFill>
            </a:endParaRPr>
          </a:p>
        </p:txBody>
      </p:sp>
      <p:pic>
        <p:nvPicPr>
          <p:cNvPr id="4" name="Picture 2" descr="Standard Error of the Mea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757765" y="1260764"/>
            <a:ext cx="1436915" cy="91755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967"/>
            <a:ext cx="10515600" cy="1163217"/>
          </a:xfrm>
        </p:spPr>
        <p:txBody>
          <a:bodyPr>
            <a:normAutofit/>
          </a:bodyPr>
          <a:lstStyle/>
          <a:p>
            <a:pPr algn="ctr"/>
            <a:r>
              <a:rPr lang="nl-NL" b="1" dirty="0"/>
              <a:t>How </a:t>
            </a:r>
            <a:r>
              <a:rPr lang="nl-NL" b="1" dirty="0" err="1"/>
              <a:t>to</a:t>
            </a:r>
            <a:r>
              <a:rPr lang="nl-NL" b="1" dirty="0"/>
              <a:t> </a:t>
            </a:r>
            <a:r>
              <a:rPr lang="nl-NL" b="1" dirty="0" err="1"/>
              <a:t>calculate</a:t>
            </a:r>
            <a:r>
              <a:rPr lang="nl-NL" b="1" dirty="0"/>
              <a:t> CIs?</a:t>
            </a:r>
            <a:br>
              <a:rPr lang="nl-NL" b="1" dirty="0"/>
            </a:br>
            <a:r>
              <a:rPr lang="nl-NL" sz="2800" b="1" dirty="0" err="1"/>
              <a:t>Normal</a:t>
            </a:r>
            <a:r>
              <a:rPr lang="nl-NL" sz="2800" b="1" dirty="0"/>
              <a:t> </a:t>
            </a:r>
            <a:r>
              <a:rPr lang="nl-NL" sz="2800" b="1" dirty="0" err="1"/>
              <a:t>distribution</a:t>
            </a:r>
            <a:r>
              <a:rPr lang="nl-NL" sz="2800" b="1" dirty="0"/>
              <a:t> (summary data): </a:t>
            </a:r>
            <a:r>
              <a:rPr lang="nl-NL" sz="2800" b="1" u="sng" dirty="0" err="1"/>
              <a:t>Known</a:t>
            </a:r>
            <a:r>
              <a:rPr lang="nl-NL" sz="2800" b="1" dirty="0"/>
              <a:t> </a:t>
            </a:r>
            <a:r>
              <a:rPr lang="nl-NL" sz="2800" b="1" dirty="0" err="1"/>
              <a:t>population</a:t>
            </a:r>
            <a:r>
              <a:rPr lang="nl-NL" sz="2800" b="1" dirty="0"/>
              <a:t> </a:t>
            </a:r>
            <a:r>
              <a:rPr lang="nl-NL" sz="2800" b="1" dirty="0" err="1"/>
              <a:t>variance</a:t>
            </a:r>
            <a:r>
              <a:rPr lang="nl-NL" sz="2800" b="1" dirty="0"/>
              <a:t> (</a:t>
            </a:r>
            <a:r>
              <a:rPr lang="nl-NL" sz="2800" b="1" dirty="0" err="1"/>
              <a:t>z</a:t>
            </a:r>
            <a:r>
              <a:rPr lang="nl-NL" sz="2800" b="1" dirty="0"/>
              <a:t>)</a:t>
            </a:r>
            <a:endParaRPr lang="nl-NL" sz="2800" b="1" dirty="0"/>
          </a:p>
        </p:txBody>
      </p:sp>
      <p:sp>
        <p:nvSpPr>
          <p:cNvPr id="3" name="Content Placeholder 2"/>
          <p:cNvSpPr>
            <a:spLocks noGrp="1"/>
          </p:cNvSpPr>
          <p:nvPr>
            <p:ph idx="1"/>
          </p:nvPr>
        </p:nvSpPr>
        <p:spPr>
          <a:xfrm>
            <a:off x="838199" y="1486678"/>
            <a:ext cx="10965873" cy="4808375"/>
          </a:xfrm>
        </p:spPr>
        <p:txBody>
          <a:bodyPr>
            <a:normAutofit fontScale="92500" lnSpcReduction="20000"/>
          </a:bodyPr>
          <a:lstStyle/>
          <a:p>
            <a:pPr marL="0" indent="0">
              <a:buNone/>
            </a:pPr>
            <a:r>
              <a:rPr lang="nl-NL" dirty="0"/>
              <a:t>m.hat &lt;- 94.6                          # sample </a:t>
            </a:r>
            <a:r>
              <a:rPr lang="nl-NL" dirty="0" err="1"/>
              <a:t>mean</a:t>
            </a:r>
            <a:endParaRPr lang="nl-NL" dirty="0"/>
          </a:p>
          <a:p>
            <a:pPr marL="0" indent="0">
              <a:buNone/>
            </a:pPr>
            <a:r>
              <a:rPr lang="nl-NL" dirty="0"/>
              <a:t>sigma &lt;- 15                             # </a:t>
            </a:r>
            <a:r>
              <a:rPr lang="nl-NL" b="1" dirty="0" err="1"/>
              <a:t>population</a:t>
            </a:r>
            <a:r>
              <a:rPr lang="nl-NL" dirty="0"/>
              <a:t> SD </a:t>
            </a:r>
            <a:endParaRPr lang="nl-NL" dirty="0"/>
          </a:p>
          <a:p>
            <a:pPr marL="0" indent="0">
              <a:buNone/>
            </a:pPr>
            <a:r>
              <a:rPr lang="nl-NL" dirty="0"/>
              <a:t>n &lt;- 50                                     # sample </a:t>
            </a:r>
            <a:r>
              <a:rPr lang="nl-NL" dirty="0" err="1"/>
              <a:t>size</a:t>
            </a:r>
            <a:endParaRPr lang="nl-NL" dirty="0"/>
          </a:p>
          <a:p>
            <a:pPr marL="0" indent="0">
              <a:buNone/>
            </a:pPr>
            <a:r>
              <a:rPr lang="nl-NL" dirty="0" err="1"/>
              <a:t>conf</a:t>
            </a:r>
            <a:r>
              <a:rPr lang="nl-NL" dirty="0"/>
              <a:t> &lt;- 95                               # </a:t>
            </a:r>
            <a:r>
              <a:rPr lang="nl-NL" dirty="0" err="1"/>
              <a:t>confidence</a:t>
            </a:r>
            <a:r>
              <a:rPr lang="nl-NL" dirty="0"/>
              <a:t> level</a:t>
            </a:r>
            <a:endParaRPr lang="nl-NL" dirty="0"/>
          </a:p>
          <a:p>
            <a:pPr marL="0" indent="0">
              <a:buNone/>
            </a:pPr>
            <a:r>
              <a:rPr lang="nl-NL" dirty="0" err="1"/>
              <a:t>alpha</a:t>
            </a:r>
            <a:r>
              <a:rPr lang="nl-NL" dirty="0"/>
              <a:t> &lt;- (100-conf)/100	# </a:t>
            </a:r>
            <a:r>
              <a:rPr lang="nl-NL" dirty="0" err="1"/>
              <a:t>calculate</a:t>
            </a:r>
            <a:r>
              <a:rPr lang="nl-NL" dirty="0"/>
              <a:t> </a:t>
            </a:r>
            <a:r>
              <a:rPr lang="nl-NL" dirty="0" err="1"/>
              <a:t>alpha</a:t>
            </a:r>
            <a:endParaRPr lang="nl-NL" dirty="0"/>
          </a:p>
          <a:p>
            <a:pPr marL="0" indent="0">
              <a:buNone/>
            </a:pPr>
            <a:endParaRPr lang="nl-NL" dirty="0"/>
          </a:p>
          <a:p>
            <a:pPr marL="0" indent="0">
              <a:buNone/>
            </a:pPr>
            <a:r>
              <a:rPr lang="nl-NL" dirty="0" err="1"/>
              <a:t>se.hat</a:t>
            </a:r>
            <a:r>
              <a:rPr lang="nl-NL" dirty="0"/>
              <a:t> &lt;- sigma/n**.5		# </a:t>
            </a:r>
            <a:r>
              <a:rPr lang="nl-NL" dirty="0" err="1">
                <a:solidFill>
                  <a:srgbClr val="FF0000"/>
                </a:solidFill>
              </a:rPr>
              <a:t>calculate</a:t>
            </a:r>
            <a:r>
              <a:rPr lang="nl-NL" dirty="0">
                <a:solidFill>
                  <a:srgbClr val="FF0000"/>
                </a:solidFill>
              </a:rPr>
              <a:t> SE</a:t>
            </a:r>
            <a:endParaRPr lang="nl-NL" dirty="0">
              <a:solidFill>
                <a:srgbClr val="FF0000"/>
              </a:solidFill>
            </a:endParaRPr>
          </a:p>
          <a:p>
            <a:pPr marL="0" indent="0">
              <a:buNone/>
            </a:pPr>
            <a:r>
              <a:rPr lang="nl-NL" dirty="0"/>
              <a:t>moe &lt;- </a:t>
            </a:r>
            <a:r>
              <a:rPr lang="nl-NL" dirty="0" err="1"/>
              <a:t>se.hat</a:t>
            </a:r>
            <a:r>
              <a:rPr lang="nl-NL" dirty="0"/>
              <a:t>*</a:t>
            </a:r>
            <a:r>
              <a:rPr lang="nl-NL" dirty="0" err="1">
                <a:solidFill>
                  <a:srgbClr val="FF0000"/>
                </a:solidFill>
              </a:rPr>
              <a:t>qnorm</a:t>
            </a:r>
            <a:r>
              <a:rPr lang="nl-NL" dirty="0">
                <a:solidFill>
                  <a:srgbClr val="FF0000"/>
                </a:solidFill>
              </a:rPr>
              <a:t>(1-alpha/2)</a:t>
            </a:r>
            <a:r>
              <a:rPr lang="nl-NL" dirty="0"/>
              <a:t>	# </a:t>
            </a:r>
            <a:r>
              <a:rPr lang="nl-NL" dirty="0" err="1"/>
              <a:t>calculate</a:t>
            </a:r>
            <a:r>
              <a:rPr lang="nl-NL" dirty="0"/>
              <a:t> MOE (</a:t>
            </a:r>
            <a:r>
              <a:rPr lang="nl-NL" dirty="0" err="1">
                <a:solidFill>
                  <a:srgbClr val="FF0000"/>
                </a:solidFill>
              </a:rPr>
              <a:t>quantile</a:t>
            </a:r>
            <a:r>
              <a:rPr lang="nl-NL" dirty="0">
                <a:solidFill>
                  <a:srgbClr val="FF0000"/>
                </a:solidFill>
              </a:rPr>
              <a:t> </a:t>
            </a:r>
            <a:r>
              <a:rPr lang="nl-NL" dirty="0" err="1">
                <a:solidFill>
                  <a:srgbClr val="FF0000"/>
                </a:solidFill>
              </a:rPr>
              <a:t>z</a:t>
            </a:r>
            <a:r>
              <a:rPr lang="nl-NL" dirty="0">
                <a:solidFill>
                  <a:srgbClr val="FF0000"/>
                </a:solidFill>
              </a:rPr>
              <a:t>, </a:t>
            </a:r>
            <a:r>
              <a:rPr lang="nl-NL" dirty="0" err="1">
                <a:solidFill>
                  <a:srgbClr val="FF0000"/>
                </a:solidFill>
              </a:rPr>
              <a:t>which</a:t>
            </a:r>
            <a:r>
              <a:rPr lang="nl-NL" dirty="0">
                <a:solidFill>
                  <a:srgbClr val="FF0000"/>
                </a:solidFill>
              </a:rPr>
              <a:t> is 1.96</a:t>
            </a:r>
            <a:r>
              <a:rPr lang="nl-NL" dirty="0"/>
              <a:t>)</a:t>
            </a:r>
            <a:endParaRPr lang="nl-NL" dirty="0"/>
          </a:p>
          <a:p>
            <a:pPr marL="0" indent="0">
              <a:buNone/>
            </a:pPr>
            <a:r>
              <a:rPr lang="nl-NL" dirty="0" err="1"/>
              <a:t>lower</a:t>
            </a:r>
            <a:r>
              <a:rPr lang="nl-NL" dirty="0"/>
              <a:t> &lt;- </a:t>
            </a:r>
            <a:r>
              <a:rPr lang="nl-NL" dirty="0" err="1"/>
              <a:t>m.hat</a:t>
            </a:r>
            <a:r>
              <a:rPr lang="nl-NL" dirty="0"/>
              <a:t>-moe			# </a:t>
            </a:r>
            <a:r>
              <a:rPr lang="nl-NL" dirty="0" err="1"/>
              <a:t>calculate</a:t>
            </a:r>
            <a:r>
              <a:rPr lang="nl-NL" dirty="0"/>
              <a:t> </a:t>
            </a:r>
            <a:r>
              <a:rPr lang="nl-NL" dirty="0" err="1"/>
              <a:t>lower</a:t>
            </a:r>
            <a:r>
              <a:rPr lang="nl-NL" dirty="0"/>
              <a:t> </a:t>
            </a:r>
            <a:r>
              <a:rPr lang="nl-NL" dirty="0" err="1"/>
              <a:t>bound</a:t>
            </a:r>
            <a:endParaRPr lang="nl-NL" dirty="0"/>
          </a:p>
          <a:p>
            <a:pPr marL="0" indent="0">
              <a:buNone/>
            </a:pPr>
            <a:r>
              <a:rPr lang="nl-NL" dirty="0" err="1"/>
              <a:t>upper</a:t>
            </a:r>
            <a:r>
              <a:rPr lang="nl-NL" dirty="0"/>
              <a:t> &lt;- </a:t>
            </a:r>
            <a:r>
              <a:rPr lang="nl-NL" dirty="0" err="1"/>
              <a:t>m.hat+moe</a:t>
            </a:r>
            <a:r>
              <a:rPr lang="nl-NL" dirty="0"/>
              <a:t>		# </a:t>
            </a:r>
            <a:r>
              <a:rPr lang="nl-NL" dirty="0" err="1"/>
              <a:t>calculate</a:t>
            </a:r>
            <a:r>
              <a:rPr lang="nl-NL" dirty="0"/>
              <a:t> </a:t>
            </a:r>
            <a:r>
              <a:rPr lang="nl-NL" dirty="0" err="1"/>
              <a:t>upper</a:t>
            </a:r>
            <a:r>
              <a:rPr lang="nl-NL" dirty="0"/>
              <a:t> </a:t>
            </a:r>
            <a:r>
              <a:rPr lang="nl-NL" dirty="0" err="1"/>
              <a:t>bound</a:t>
            </a:r>
            <a:endParaRPr lang="nl-NL" dirty="0"/>
          </a:p>
          <a:p>
            <a:pPr marL="0" indent="0">
              <a:buNone/>
            </a:pPr>
            <a:r>
              <a:rPr lang="nl-NL" dirty="0"/>
              <a:t>c(</a:t>
            </a:r>
            <a:r>
              <a:rPr lang="nl-NL" dirty="0" err="1"/>
              <a:t>lower</a:t>
            </a:r>
            <a:r>
              <a:rPr lang="nl-NL" dirty="0"/>
              <a:t>, </a:t>
            </a:r>
            <a:r>
              <a:rPr lang="nl-NL" dirty="0" err="1"/>
              <a:t>upper</a:t>
            </a:r>
            <a:r>
              <a:rPr lang="nl-NL" dirty="0"/>
              <a:t>)			# combine </a:t>
            </a:r>
            <a:r>
              <a:rPr lang="nl-NL" dirty="0" err="1"/>
              <a:t>lower</a:t>
            </a:r>
            <a:r>
              <a:rPr lang="nl-NL" dirty="0"/>
              <a:t> </a:t>
            </a:r>
            <a:r>
              <a:rPr lang="nl-NL" dirty="0" err="1"/>
              <a:t>and</a:t>
            </a:r>
            <a:r>
              <a:rPr lang="nl-NL" dirty="0"/>
              <a:t> </a:t>
            </a:r>
            <a:r>
              <a:rPr lang="nl-NL" dirty="0" err="1"/>
              <a:t>upper</a:t>
            </a:r>
            <a:r>
              <a:rPr lang="nl-NL" dirty="0"/>
              <a:t> </a:t>
            </a:r>
            <a:r>
              <a:rPr lang="nl-NL" dirty="0" err="1"/>
              <a:t>bounds</a:t>
            </a:r>
            <a:endParaRPr lang="nl-NL" dirty="0"/>
          </a:p>
          <a:p>
            <a:pPr marL="0" indent="0">
              <a:buNone/>
            </a:pPr>
            <a:endParaRPr lang="nl-NL" dirty="0"/>
          </a:p>
          <a:p>
            <a:endParaRPr lang="nl-NL" dirty="0"/>
          </a:p>
        </p:txBody>
      </p:sp>
      <p:sp>
        <p:nvSpPr>
          <p:cNvPr id="6" name="Rectangle 2"/>
          <p:cNvSpPr>
            <a:spLocks noChangeArrowheads="1"/>
          </p:cNvSpPr>
          <p:nvPr/>
        </p:nvSpPr>
        <p:spPr bwMode="auto">
          <a:xfrm>
            <a:off x="838200" y="6007106"/>
            <a:ext cx="5324669"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nl-NL" altLang="nl-NL" sz="2400" b="0" i="0" u="none" strike="noStrike" cap="none" normalizeH="0" baseline="0" dirty="0">
                <a:ln>
                  <a:noFill/>
                </a:ln>
                <a:solidFill>
                  <a:srgbClr val="00B0F0"/>
                </a:solidFill>
                <a:effectLst/>
                <a:latin typeface="Lucida Console" panose="020B0609040504020204" pitchFamily="49" charset="0"/>
              </a:rPr>
              <a:t>[1] 90.44229 98.75771</a:t>
            </a:r>
            <a:endParaRPr kumimoji="0" lang="nl-NL" altLang="nl-NL" sz="2400" b="0" i="0" u="none" strike="noStrike" cap="none" normalizeH="0" baseline="0" dirty="0">
              <a:ln>
                <a:noFill/>
              </a:ln>
              <a:solidFill>
                <a:srgbClr val="00B0F0"/>
              </a:solidFill>
              <a:effectLst/>
              <a:latin typeface="Arial" panose="020B0604020202090204" pitchFamily="34" charset="0"/>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pic>
        <p:nvPicPr>
          <p:cNvPr id="7" name="Picture 2" descr="Standard Error of the Mea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45285" y="2490928"/>
            <a:ext cx="1436915" cy="917550"/>
          </a:xfrm>
          <a:prstGeom prst="rect">
            <a:avLst/>
          </a:prstGeom>
          <a:noFill/>
          <a:ln w="31750">
            <a:solidFill>
              <a:srgbClr val="FF0000"/>
            </a:solidFill>
          </a:ln>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a:xfrm flipH="1">
            <a:off x="7454685" y="3408478"/>
            <a:ext cx="1090599" cy="63658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967"/>
            <a:ext cx="10515600" cy="1163217"/>
          </a:xfrm>
        </p:spPr>
        <p:txBody>
          <a:bodyPr>
            <a:normAutofit/>
          </a:bodyPr>
          <a:lstStyle/>
          <a:p>
            <a:pPr algn="ctr"/>
            <a:r>
              <a:rPr lang="nl-NL" b="1" dirty="0"/>
              <a:t>How </a:t>
            </a:r>
            <a:r>
              <a:rPr lang="nl-NL" b="1" dirty="0" err="1"/>
              <a:t>to</a:t>
            </a:r>
            <a:r>
              <a:rPr lang="nl-NL" b="1" dirty="0"/>
              <a:t> </a:t>
            </a:r>
            <a:r>
              <a:rPr lang="nl-NL" b="1" dirty="0" err="1"/>
              <a:t>calculate</a:t>
            </a:r>
            <a:r>
              <a:rPr lang="nl-NL" b="1" dirty="0"/>
              <a:t> CIs?</a:t>
            </a:r>
            <a:br>
              <a:rPr lang="nl-NL" b="1" dirty="0"/>
            </a:br>
            <a:r>
              <a:rPr lang="nl-NL" sz="2800" b="1" dirty="0" err="1"/>
              <a:t>Normal</a:t>
            </a:r>
            <a:r>
              <a:rPr lang="nl-NL" sz="2800" b="1" dirty="0"/>
              <a:t> </a:t>
            </a:r>
            <a:r>
              <a:rPr lang="nl-NL" sz="2800" b="1" dirty="0" err="1"/>
              <a:t>distribution</a:t>
            </a:r>
            <a:r>
              <a:rPr lang="nl-NL" sz="2800" b="1" dirty="0"/>
              <a:t> (summary data): </a:t>
            </a:r>
            <a:r>
              <a:rPr lang="nl-NL" sz="2800" b="1" u="sng" dirty="0" err="1"/>
              <a:t>Unknown</a:t>
            </a:r>
            <a:r>
              <a:rPr lang="nl-NL" sz="2800" b="1" dirty="0"/>
              <a:t> </a:t>
            </a:r>
            <a:r>
              <a:rPr lang="nl-NL" sz="2800" b="1" dirty="0" err="1"/>
              <a:t>population</a:t>
            </a:r>
            <a:r>
              <a:rPr lang="nl-NL" sz="2800" b="1" dirty="0"/>
              <a:t> </a:t>
            </a:r>
            <a:r>
              <a:rPr lang="nl-NL" sz="2800" b="1" dirty="0" err="1"/>
              <a:t>variance</a:t>
            </a:r>
            <a:r>
              <a:rPr lang="nl-NL" sz="2800" b="1" dirty="0"/>
              <a:t> (t)</a:t>
            </a:r>
            <a:endParaRPr lang="nl-NL" sz="2800" b="1" dirty="0"/>
          </a:p>
        </p:txBody>
      </p:sp>
      <p:sp>
        <p:nvSpPr>
          <p:cNvPr id="3" name="Content Placeholder 2"/>
          <p:cNvSpPr>
            <a:spLocks noGrp="1"/>
          </p:cNvSpPr>
          <p:nvPr>
            <p:ph idx="1"/>
          </p:nvPr>
        </p:nvSpPr>
        <p:spPr>
          <a:xfrm>
            <a:off x="838199" y="1486678"/>
            <a:ext cx="10882745" cy="4808375"/>
          </a:xfrm>
        </p:spPr>
        <p:txBody>
          <a:bodyPr>
            <a:normAutofit fontScale="92500" lnSpcReduction="20000"/>
          </a:bodyPr>
          <a:lstStyle/>
          <a:p>
            <a:pPr marL="0" indent="0">
              <a:buNone/>
            </a:pPr>
            <a:r>
              <a:rPr lang="nl-NL" dirty="0"/>
              <a:t>m.hat &lt;- 94.6                         # sample </a:t>
            </a:r>
            <a:r>
              <a:rPr lang="nl-NL" dirty="0" err="1"/>
              <a:t>mean</a:t>
            </a:r>
            <a:endParaRPr lang="nl-NL" dirty="0"/>
          </a:p>
          <a:p>
            <a:pPr marL="0" indent="0">
              <a:buNone/>
            </a:pPr>
            <a:r>
              <a:rPr lang="nl-NL" dirty="0" err="1"/>
              <a:t>sigma.hat</a:t>
            </a:r>
            <a:r>
              <a:rPr lang="nl-NL" dirty="0"/>
              <a:t> &lt;- 19.6    		# </a:t>
            </a:r>
            <a:r>
              <a:rPr lang="nl-NL" b="1" dirty="0"/>
              <a:t>sample</a:t>
            </a:r>
            <a:r>
              <a:rPr lang="nl-NL" dirty="0"/>
              <a:t> SD </a:t>
            </a:r>
            <a:endParaRPr lang="nl-NL" dirty="0"/>
          </a:p>
          <a:p>
            <a:pPr marL="0" indent="0">
              <a:buNone/>
            </a:pPr>
            <a:r>
              <a:rPr lang="nl-NL" dirty="0"/>
              <a:t>n &lt;- 50                      		# sample </a:t>
            </a:r>
            <a:r>
              <a:rPr lang="nl-NL" dirty="0" err="1"/>
              <a:t>size</a:t>
            </a:r>
            <a:endParaRPr lang="nl-NL" dirty="0"/>
          </a:p>
          <a:p>
            <a:pPr marL="0" indent="0">
              <a:buNone/>
            </a:pPr>
            <a:r>
              <a:rPr lang="nl-NL" dirty="0" err="1"/>
              <a:t>conf</a:t>
            </a:r>
            <a:r>
              <a:rPr lang="nl-NL" dirty="0"/>
              <a:t> &lt;- 95                               # </a:t>
            </a:r>
            <a:r>
              <a:rPr lang="nl-NL" dirty="0" err="1"/>
              <a:t>confidence</a:t>
            </a:r>
            <a:r>
              <a:rPr lang="nl-NL" dirty="0"/>
              <a:t> level</a:t>
            </a:r>
            <a:endParaRPr lang="nl-NL" dirty="0"/>
          </a:p>
          <a:p>
            <a:pPr marL="0" indent="0">
              <a:buNone/>
            </a:pPr>
            <a:r>
              <a:rPr lang="nl-NL" dirty="0" err="1"/>
              <a:t>alpha</a:t>
            </a:r>
            <a:r>
              <a:rPr lang="nl-NL" dirty="0"/>
              <a:t> &lt;- .05			# </a:t>
            </a:r>
            <a:r>
              <a:rPr lang="nl-NL" dirty="0" err="1"/>
              <a:t>alpha</a:t>
            </a:r>
            <a:endParaRPr lang="nl-NL" dirty="0"/>
          </a:p>
          <a:p>
            <a:pPr marL="0" indent="0">
              <a:buNone/>
            </a:pPr>
            <a:endParaRPr lang="nl-NL" dirty="0"/>
          </a:p>
          <a:p>
            <a:pPr marL="0" indent="0">
              <a:buNone/>
            </a:pPr>
            <a:r>
              <a:rPr lang="nl-NL" dirty="0" err="1"/>
              <a:t>se.hat</a:t>
            </a:r>
            <a:r>
              <a:rPr lang="nl-NL" dirty="0"/>
              <a:t> &lt;- </a:t>
            </a:r>
            <a:r>
              <a:rPr lang="nl-NL" dirty="0" err="1"/>
              <a:t>sigma.hat</a:t>
            </a:r>
            <a:r>
              <a:rPr lang="nl-NL" dirty="0"/>
              <a:t>/n**.5		# </a:t>
            </a:r>
            <a:r>
              <a:rPr lang="nl-NL" dirty="0" err="1"/>
              <a:t>calculate</a:t>
            </a:r>
            <a:r>
              <a:rPr lang="nl-NL" dirty="0"/>
              <a:t> SE</a:t>
            </a:r>
            <a:endParaRPr lang="nl-NL" dirty="0"/>
          </a:p>
          <a:p>
            <a:pPr marL="0" indent="0">
              <a:buNone/>
            </a:pPr>
            <a:r>
              <a:rPr lang="nl-NL" dirty="0"/>
              <a:t>moe &lt;- </a:t>
            </a:r>
            <a:r>
              <a:rPr lang="nl-NL" dirty="0" err="1"/>
              <a:t>se.hat</a:t>
            </a:r>
            <a:r>
              <a:rPr lang="nl-NL" dirty="0"/>
              <a:t>*</a:t>
            </a:r>
            <a:r>
              <a:rPr lang="nl-NL" dirty="0" err="1">
                <a:solidFill>
                  <a:srgbClr val="FF0000"/>
                </a:solidFill>
              </a:rPr>
              <a:t>qt</a:t>
            </a:r>
            <a:r>
              <a:rPr lang="nl-NL" dirty="0">
                <a:solidFill>
                  <a:srgbClr val="FF0000"/>
                </a:solidFill>
              </a:rPr>
              <a:t>(1-alpha/2, n-1)  </a:t>
            </a:r>
            <a:r>
              <a:rPr lang="nl-NL" dirty="0"/>
              <a:t>	# </a:t>
            </a:r>
            <a:r>
              <a:rPr lang="nl-NL" dirty="0" err="1"/>
              <a:t>calculate</a:t>
            </a:r>
            <a:r>
              <a:rPr lang="nl-NL" dirty="0"/>
              <a:t> MOE (</a:t>
            </a:r>
            <a:r>
              <a:rPr lang="nl-NL" dirty="0" err="1">
                <a:solidFill>
                  <a:srgbClr val="FF0000"/>
                </a:solidFill>
              </a:rPr>
              <a:t>with</a:t>
            </a:r>
            <a:r>
              <a:rPr lang="nl-NL" dirty="0">
                <a:solidFill>
                  <a:srgbClr val="FF0000"/>
                </a:solidFill>
              </a:rPr>
              <a:t> </a:t>
            </a:r>
            <a:r>
              <a:rPr lang="nl-NL" dirty="0" err="1">
                <a:solidFill>
                  <a:srgbClr val="FF0000"/>
                </a:solidFill>
              </a:rPr>
              <a:t>quantile</a:t>
            </a:r>
            <a:r>
              <a:rPr lang="nl-NL" dirty="0">
                <a:solidFill>
                  <a:srgbClr val="FF0000"/>
                </a:solidFill>
              </a:rPr>
              <a:t> t &amp; </a:t>
            </a:r>
            <a:r>
              <a:rPr lang="nl-NL" dirty="0" err="1">
                <a:solidFill>
                  <a:srgbClr val="FF0000"/>
                </a:solidFill>
              </a:rPr>
              <a:t>df</a:t>
            </a:r>
            <a:r>
              <a:rPr lang="nl-NL" dirty="0"/>
              <a:t>) </a:t>
            </a:r>
            <a:endParaRPr lang="nl-NL" dirty="0"/>
          </a:p>
          <a:p>
            <a:pPr marL="0" indent="0">
              <a:buNone/>
            </a:pPr>
            <a:r>
              <a:rPr lang="nl-NL" dirty="0" err="1"/>
              <a:t>lower</a:t>
            </a:r>
            <a:r>
              <a:rPr lang="nl-NL" dirty="0"/>
              <a:t> &lt;- </a:t>
            </a:r>
            <a:r>
              <a:rPr lang="nl-NL" dirty="0" err="1"/>
              <a:t>m.hat</a:t>
            </a:r>
            <a:r>
              <a:rPr lang="nl-NL" dirty="0"/>
              <a:t>-moe			# </a:t>
            </a:r>
            <a:r>
              <a:rPr lang="nl-NL" dirty="0" err="1"/>
              <a:t>calculate</a:t>
            </a:r>
            <a:r>
              <a:rPr lang="nl-NL" dirty="0"/>
              <a:t> </a:t>
            </a:r>
            <a:r>
              <a:rPr lang="nl-NL" dirty="0" err="1"/>
              <a:t>lower</a:t>
            </a:r>
            <a:r>
              <a:rPr lang="nl-NL" dirty="0"/>
              <a:t> </a:t>
            </a:r>
            <a:r>
              <a:rPr lang="nl-NL" dirty="0" err="1"/>
              <a:t>bound</a:t>
            </a:r>
            <a:endParaRPr lang="nl-NL" dirty="0"/>
          </a:p>
          <a:p>
            <a:pPr marL="0" indent="0">
              <a:buNone/>
            </a:pPr>
            <a:r>
              <a:rPr lang="nl-NL" dirty="0" err="1"/>
              <a:t>upper</a:t>
            </a:r>
            <a:r>
              <a:rPr lang="nl-NL" dirty="0"/>
              <a:t> &lt;- </a:t>
            </a:r>
            <a:r>
              <a:rPr lang="nl-NL" dirty="0" err="1"/>
              <a:t>m.hat+moe</a:t>
            </a:r>
            <a:r>
              <a:rPr lang="nl-NL" dirty="0"/>
              <a:t>		# </a:t>
            </a:r>
            <a:r>
              <a:rPr lang="nl-NL" dirty="0" err="1"/>
              <a:t>calculate</a:t>
            </a:r>
            <a:r>
              <a:rPr lang="nl-NL" dirty="0"/>
              <a:t> </a:t>
            </a:r>
            <a:r>
              <a:rPr lang="nl-NL" dirty="0" err="1"/>
              <a:t>upper</a:t>
            </a:r>
            <a:r>
              <a:rPr lang="nl-NL" dirty="0"/>
              <a:t> </a:t>
            </a:r>
            <a:r>
              <a:rPr lang="nl-NL" dirty="0" err="1"/>
              <a:t>bound</a:t>
            </a:r>
            <a:endParaRPr lang="nl-NL" dirty="0"/>
          </a:p>
          <a:p>
            <a:pPr marL="0" indent="0">
              <a:buNone/>
            </a:pPr>
            <a:r>
              <a:rPr lang="nl-NL" dirty="0"/>
              <a:t>c(</a:t>
            </a:r>
            <a:r>
              <a:rPr lang="nl-NL" dirty="0" err="1"/>
              <a:t>lower</a:t>
            </a:r>
            <a:r>
              <a:rPr lang="nl-NL" dirty="0"/>
              <a:t>, </a:t>
            </a:r>
            <a:r>
              <a:rPr lang="nl-NL" dirty="0" err="1"/>
              <a:t>upper</a:t>
            </a:r>
            <a:r>
              <a:rPr lang="nl-NL" dirty="0"/>
              <a:t>)			# combine </a:t>
            </a:r>
            <a:r>
              <a:rPr lang="nl-NL" dirty="0" err="1"/>
              <a:t>lower</a:t>
            </a:r>
            <a:r>
              <a:rPr lang="nl-NL" dirty="0"/>
              <a:t> </a:t>
            </a:r>
            <a:r>
              <a:rPr lang="nl-NL" dirty="0" err="1"/>
              <a:t>and</a:t>
            </a:r>
            <a:r>
              <a:rPr lang="nl-NL" dirty="0"/>
              <a:t> </a:t>
            </a:r>
            <a:r>
              <a:rPr lang="nl-NL" dirty="0" err="1"/>
              <a:t>upper</a:t>
            </a:r>
            <a:r>
              <a:rPr lang="nl-NL" dirty="0"/>
              <a:t> </a:t>
            </a:r>
            <a:r>
              <a:rPr lang="nl-NL" dirty="0" err="1"/>
              <a:t>bounds</a:t>
            </a:r>
            <a:endParaRPr lang="nl-NL" dirty="0"/>
          </a:p>
          <a:p>
            <a:endParaRPr lang="nl-NL" dirty="0"/>
          </a:p>
        </p:txBody>
      </p:sp>
      <p:sp>
        <p:nvSpPr>
          <p:cNvPr id="6" name="Rectangle 2"/>
          <p:cNvSpPr>
            <a:spLocks noChangeArrowheads="1"/>
          </p:cNvSpPr>
          <p:nvPr/>
        </p:nvSpPr>
        <p:spPr bwMode="auto">
          <a:xfrm>
            <a:off x="838200" y="6007106"/>
            <a:ext cx="5324669"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nl-NL" altLang="nl-NL" sz="2400" b="0" i="0" u="none" strike="noStrike" cap="none" normalizeH="0" baseline="0" dirty="0">
                <a:ln>
                  <a:noFill/>
                </a:ln>
                <a:solidFill>
                  <a:srgbClr val="00B0F0"/>
                </a:solidFill>
                <a:effectLst/>
                <a:latin typeface="Lucida Console" panose="020B0609040504020204" pitchFamily="49" charset="0"/>
              </a:rPr>
              <a:t>[1] 89.02974 100.17026</a:t>
            </a:r>
            <a:endParaRPr kumimoji="0" lang="nl-NL" altLang="nl-NL" sz="2400" b="0" i="0" u="none" strike="noStrike" cap="none" normalizeH="0" baseline="0" dirty="0">
              <a:ln>
                <a:noFill/>
              </a:ln>
              <a:solidFill>
                <a:srgbClr val="00B0F0"/>
              </a:solidFill>
              <a:effectLst/>
              <a:latin typeface="Arial" panose="020B0604020202090204" pitchFamily="34" charset="0"/>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967"/>
            <a:ext cx="10515600" cy="1163217"/>
          </a:xfrm>
        </p:spPr>
        <p:txBody>
          <a:bodyPr>
            <a:normAutofit/>
          </a:bodyPr>
          <a:lstStyle/>
          <a:p>
            <a:pPr algn="ctr"/>
            <a:r>
              <a:rPr lang="nl-NL" b="1" dirty="0"/>
              <a:t>How </a:t>
            </a:r>
            <a:r>
              <a:rPr lang="nl-NL" b="1" dirty="0" err="1"/>
              <a:t>to</a:t>
            </a:r>
            <a:r>
              <a:rPr lang="nl-NL" b="1" dirty="0"/>
              <a:t> </a:t>
            </a:r>
            <a:r>
              <a:rPr lang="nl-NL" b="1" dirty="0" err="1"/>
              <a:t>calculate</a:t>
            </a:r>
            <a:r>
              <a:rPr lang="nl-NL" b="1" dirty="0"/>
              <a:t> CIs “</a:t>
            </a:r>
            <a:r>
              <a:rPr lang="nl-NL" b="1" dirty="0" err="1"/>
              <a:t>automatically</a:t>
            </a:r>
            <a:r>
              <a:rPr lang="nl-NL" b="1" dirty="0"/>
              <a:t>”?</a:t>
            </a:r>
            <a:br>
              <a:rPr lang="nl-NL" b="1" dirty="0"/>
            </a:br>
            <a:r>
              <a:rPr lang="nl-NL" sz="2800" b="1" dirty="0" err="1"/>
              <a:t>Normal</a:t>
            </a:r>
            <a:r>
              <a:rPr lang="nl-NL" sz="2800" b="1" dirty="0"/>
              <a:t> </a:t>
            </a:r>
            <a:r>
              <a:rPr lang="nl-NL" sz="2800" b="1" dirty="0" err="1"/>
              <a:t>distribution</a:t>
            </a:r>
            <a:r>
              <a:rPr lang="nl-NL" sz="2800" b="1" dirty="0"/>
              <a:t> (</a:t>
            </a:r>
            <a:r>
              <a:rPr lang="nl-NL" sz="2800" b="1" dirty="0" err="1"/>
              <a:t>raw</a:t>
            </a:r>
            <a:r>
              <a:rPr lang="nl-NL" sz="2800" b="1" dirty="0"/>
              <a:t> data): </a:t>
            </a:r>
            <a:r>
              <a:rPr lang="nl-NL" sz="2800" b="1" u="sng" dirty="0" err="1"/>
              <a:t>Unknown</a:t>
            </a:r>
            <a:r>
              <a:rPr lang="nl-NL" sz="2800" b="1" dirty="0"/>
              <a:t> </a:t>
            </a:r>
            <a:r>
              <a:rPr lang="nl-NL" sz="2800" b="1" dirty="0" err="1"/>
              <a:t>population</a:t>
            </a:r>
            <a:r>
              <a:rPr lang="nl-NL" sz="2800" b="1" dirty="0"/>
              <a:t> </a:t>
            </a:r>
            <a:r>
              <a:rPr lang="nl-NL" sz="2800" b="1" dirty="0" err="1"/>
              <a:t>variance</a:t>
            </a:r>
            <a:r>
              <a:rPr lang="nl-NL" sz="2800" b="1" dirty="0"/>
              <a:t> (t)</a:t>
            </a:r>
            <a:endParaRPr lang="nl-NL" sz="2800" b="1" dirty="0"/>
          </a:p>
        </p:txBody>
      </p:sp>
      <p:sp>
        <p:nvSpPr>
          <p:cNvPr id="3" name="Content Placeholder 2"/>
          <p:cNvSpPr>
            <a:spLocks noGrp="1"/>
          </p:cNvSpPr>
          <p:nvPr>
            <p:ph idx="1"/>
          </p:nvPr>
        </p:nvSpPr>
        <p:spPr>
          <a:xfrm>
            <a:off x="838199" y="1486678"/>
            <a:ext cx="10882745" cy="4808375"/>
          </a:xfrm>
        </p:spPr>
        <p:txBody>
          <a:bodyPr>
            <a:normAutofit/>
          </a:bodyPr>
          <a:lstStyle/>
          <a:p>
            <a:r>
              <a:rPr lang="en-US" b="1" dirty="0"/>
              <a:t>For city mileage from mpg </a:t>
            </a:r>
            <a:r>
              <a:rPr lang="en-US" b="1" dirty="0" err="1"/>
              <a:t>dataframe</a:t>
            </a:r>
            <a:endParaRPr lang="nl-NL" b="1" dirty="0"/>
          </a:p>
          <a:p>
            <a:pPr marL="0" indent="0">
              <a:buNone/>
            </a:pPr>
            <a:r>
              <a:rPr lang="nl-NL" sz="2000" dirty="0" err="1">
                <a:solidFill>
                  <a:srgbClr val="FF0000"/>
                </a:solidFill>
              </a:rPr>
              <a:t>stat.desc</a:t>
            </a:r>
            <a:r>
              <a:rPr lang="nl-NL" sz="2000" dirty="0"/>
              <a:t>(</a:t>
            </a:r>
            <a:r>
              <a:rPr lang="nl-NL" sz="2000" dirty="0" err="1"/>
              <a:t>mpg$cty</a:t>
            </a:r>
            <a:r>
              <a:rPr lang="nl-NL" sz="2000" dirty="0"/>
              <a:t>, basic = F)   # </a:t>
            </a:r>
            <a:r>
              <a:rPr lang="nl-NL" sz="2000" dirty="0" err="1"/>
              <a:t>from</a:t>
            </a:r>
            <a:r>
              <a:rPr lang="nl-NL" sz="2000" dirty="0"/>
              <a:t> </a:t>
            </a:r>
            <a:r>
              <a:rPr lang="nl-NL" sz="2000" dirty="0" err="1"/>
              <a:t>pastecs</a:t>
            </a:r>
            <a:r>
              <a:rPr lang="nl-NL" sz="2000" dirty="0"/>
              <a:t> package</a:t>
            </a:r>
            <a:endParaRPr lang="nl-NL" sz="2000" dirty="0"/>
          </a:p>
          <a:p>
            <a:pPr marL="0" indent="0">
              <a:buNone/>
            </a:pPr>
            <a:r>
              <a:rPr lang="nl-NL" sz="2000" dirty="0"/>
              <a:t>      </a:t>
            </a:r>
            <a:r>
              <a:rPr lang="nl-NL" sz="2000" dirty="0" err="1"/>
              <a:t>median</a:t>
            </a:r>
            <a:r>
              <a:rPr lang="nl-NL" sz="2000" dirty="0"/>
              <a:t>             </a:t>
            </a:r>
            <a:r>
              <a:rPr lang="nl-NL" sz="2000" dirty="0" err="1">
                <a:solidFill>
                  <a:srgbClr val="FF0000"/>
                </a:solidFill>
              </a:rPr>
              <a:t>mean</a:t>
            </a:r>
            <a:r>
              <a:rPr lang="nl-NL" sz="2000" dirty="0"/>
              <a:t>           </a:t>
            </a:r>
            <a:r>
              <a:rPr lang="nl-NL" sz="2000" dirty="0" err="1"/>
              <a:t>SE.mean</a:t>
            </a:r>
            <a:r>
              <a:rPr lang="nl-NL" sz="2000" dirty="0"/>
              <a:t>    </a:t>
            </a:r>
            <a:r>
              <a:rPr lang="nl-NL" sz="2000" dirty="0">
                <a:solidFill>
                  <a:srgbClr val="FF0000"/>
                </a:solidFill>
              </a:rPr>
              <a:t>CI.mean.0.95</a:t>
            </a:r>
            <a:r>
              <a:rPr lang="nl-NL" sz="2000" dirty="0"/>
              <a:t>       var                </a:t>
            </a:r>
            <a:r>
              <a:rPr lang="nl-NL" sz="2000" dirty="0" err="1"/>
              <a:t>std.dev</a:t>
            </a:r>
            <a:r>
              <a:rPr lang="nl-NL" sz="2000" dirty="0"/>
              <a:t>         </a:t>
            </a:r>
            <a:r>
              <a:rPr lang="nl-NL" sz="2000" dirty="0" err="1"/>
              <a:t>coef.var</a:t>
            </a:r>
            <a:r>
              <a:rPr lang="nl-NL" sz="2000" dirty="0"/>
              <a:t> </a:t>
            </a:r>
            <a:endParaRPr lang="nl-NL" sz="2000" dirty="0"/>
          </a:p>
          <a:p>
            <a:pPr marL="0" indent="0">
              <a:buNone/>
            </a:pPr>
            <a:r>
              <a:rPr lang="nl-NL" sz="2000" dirty="0"/>
              <a:t>  17.0000000</a:t>
            </a:r>
            <a:r>
              <a:rPr lang="nl-NL" sz="2000" dirty="0">
                <a:solidFill>
                  <a:srgbClr val="FF0000"/>
                </a:solidFill>
              </a:rPr>
              <a:t>   16.8589744    </a:t>
            </a:r>
            <a:r>
              <a:rPr lang="nl-NL" sz="2000" dirty="0"/>
              <a:t>0.2782199    </a:t>
            </a:r>
            <a:r>
              <a:rPr lang="nl-NL" sz="2000" dirty="0">
                <a:solidFill>
                  <a:srgbClr val="FF0000"/>
                </a:solidFill>
              </a:rPr>
              <a:t>0.5481481</a:t>
            </a:r>
            <a:r>
              <a:rPr lang="nl-NL" sz="2000" dirty="0"/>
              <a:t>   18.1130736    4.2559457    0.2524439 </a:t>
            </a:r>
            <a:endParaRPr lang="nl-NL" sz="2000" dirty="0"/>
          </a:p>
          <a:p>
            <a:pPr marL="0" indent="0">
              <a:buNone/>
            </a:pPr>
            <a:r>
              <a:rPr lang="en-US" sz="2000" dirty="0"/>
              <a:t># </a:t>
            </a:r>
            <a:r>
              <a:rPr lang="en-US" sz="2000" dirty="0">
                <a:solidFill>
                  <a:srgbClr val="FF0000"/>
                </a:solidFill>
              </a:rPr>
              <a:t>SEM = </a:t>
            </a:r>
            <a:r>
              <a:rPr lang="en-US" sz="2000" dirty="0" err="1">
                <a:solidFill>
                  <a:srgbClr val="FF0000"/>
                </a:solidFill>
              </a:rPr>
              <a:t>SE.mean</a:t>
            </a:r>
            <a:r>
              <a:rPr lang="en-US" sz="2000" dirty="0">
                <a:solidFill>
                  <a:srgbClr val="FF0000"/>
                </a:solidFill>
              </a:rPr>
              <a:t>; MOE = CI.mean.0.95</a:t>
            </a:r>
            <a:endParaRPr lang="en-US" sz="2000" dirty="0">
              <a:solidFill>
                <a:srgbClr val="FF0000"/>
              </a:solidFill>
            </a:endParaRPr>
          </a:p>
          <a:p>
            <a:pPr marL="0" indent="0">
              <a:buNone/>
            </a:pPr>
            <a:endParaRPr lang="en-US" sz="2000" dirty="0">
              <a:solidFill>
                <a:srgbClr val="FF0000"/>
              </a:solidFill>
            </a:endParaRPr>
          </a:p>
          <a:p>
            <a:r>
              <a:rPr lang="en-US" b="1" dirty="0"/>
              <a:t>For 95% CIs, add/subtract MOE from M</a:t>
            </a:r>
            <a:endParaRPr lang="en-US" b="1" dirty="0"/>
          </a:p>
          <a:p>
            <a:pPr marL="0" indent="0">
              <a:buNone/>
            </a:pPr>
            <a:r>
              <a:rPr lang="en-US" sz="2000" dirty="0"/>
              <a:t>lower &lt;- 16.8589744 - 0.5481481</a:t>
            </a:r>
            <a:endParaRPr lang="en-US" sz="2000" dirty="0"/>
          </a:p>
          <a:p>
            <a:pPr marL="0" indent="0">
              <a:buNone/>
            </a:pPr>
            <a:r>
              <a:rPr lang="en-US" sz="2000" dirty="0"/>
              <a:t>upper &lt;- 16.8589744 + 0.5481481</a:t>
            </a:r>
            <a:endParaRPr lang="en-US" sz="2000" dirty="0"/>
          </a:p>
          <a:p>
            <a:pPr marL="0" indent="0">
              <a:buNone/>
            </a:pPr>
            <a:r>
              <a:rPr lang="en-US" sz="2000" dirty="0"/>
              <a:t>c(</a:t>
            </a:r>
            <a:r>
              <a:rPr lang="en-US" sz="2000" dirty="0" err="1"/>
              <a:t>lower,upper</a:t>
            </a:r>
            <a:r>
              <a:rPr lang="en-US" sz="2000" dirty="0"/>
              <a:t>)</a:t>
            </a:r>
            <a:endParaRPr lang="nl-NL" sz="2000" dirty="0"/>
          </a:p>
        </p:txBody>
      </p:sp>
      <p:sp>
        <p:nvSpPr>
          <p:cNvPr id="6" name="Rectangle 2"/>
          <p:cNvSpPr>
            <a:spLocks noChangeArrowheads="1"/>
          </p:cNvSpPr>
          <p:nvPr/>
        </p:nvSpPr>
        <p:spPr bwMode="auto">
          <a:xfrm>
            <a:off x="838199" y="5681986"/>
            <a:ext cx="5324669"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lvl="0" eaLnBrk="0" fontAlgn="base" hangingPunct="0">
              <a:spcBef>
                <a:spcPct val="0"/>
              </a:spcBef>
              <a:spcAft>
                <a:spcPct val="0"/>
              </a:spcAft>
            </a:pPr>
            <a:r>
              <a:rPr lang="nl-NL" altLang="nl-NL" sz="2400" dirty="0">
                <a:solidFill>
                  <a:srgbClr val="00B0F0"/>
                </a:solidFill>
                <a:latin typeface="Lucida Console" panose="020B0609040504020204" pitchFamily="49" charset="0"/>
              </a:rPr>
              <a:t>[1] 16.31083 17.40712</a:t>
            </a:r>
            <a:endParaRPr kumimoji="0" lang="nl-NL" altLang="nl-NL" sz="2400" b="0" i="0" u="none" strike="noStrike" cap="none" normalizeH="0" baseline="0" dirty="0">
              <a:ln>
                <a:noFill/>
              </a:ln>
              <a:solidFill>
                <a:srgbClr val="00B0F0"/>
              </a:solidFill>
              <a:effectLst/>
              <a:latin typeface="Arial" panose="020B0604020202090204" pitchFamily="34" charset="0"/>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
        <p:nvSpPr>
          <p:cNvPr id="9" name="TextBox 8"/>
          <p:cNvSpPr txBox="1"/>
          <p:nvPr/>
        </p:nvSpPr>
        <p:spPr>
          <a:xfrm>
            <a:off x="7249886" y="3890865"/>
            <a:ext cx="4583127" cy="2339102"/>
          </a:xfrm>
          <a:prstGeom prst="rect">
            <a:avLst/>
          </a:prstGeom>
          <a:noFill/>
          <a:ln w="38100">
            <a:solidFill>
              <a:srgbClr val="FF0000"/>
            </a:solidFill>
          </a:ln>
        </p:spPr>
        <p:txBody>
          <a:bodyPr wrap="square" rtlCol="0">
            <a:spAutoFit/>
          </a:bodyPr>
          <a:lstStyle/>
          <a:p>
            <a:pPr marL="285750" indent="-285750">
              <a:buFont typeface="Arial" panose="020B0604020202090204" pitchFamily="34" charset="0"/>
              <a:buChar char="•"/>
            </a:pPr>
            <a:r>
              <a:rPr lang="en-US" sz="2800" b="1" dirty="0"/>
              <a:t>There is also a CI() function in the </a:t>
            </a:r>
            <a:r>
              <a:rPr lang="en-US" sz="2800" b="1" dirty="0" err="1"/>
              <a:t>Rmisc</a:t>
            </a:r>
            <a:r>
              <a:rPr lang="en-US" sz="2800" b="1" dirty="0"/>
              <a:t> package</a:t>
            </a:r>
            <a:endParaRPr lang="en-US" sz="2800" b="1" dirty="0"/>
          </a:p>
          <a:p>
            <a:endParaRPr lang="en-US" dirty="0"/>
          </a:p>
          <a:p>
            <a:r>
              <a:rPr lang="en-US" sz="2400" dirty="0"/>
              <a:t>CI(</a:t>
            </a:r>
            <a:r>
              <a:rPr lang="en-US" sz="2400" dirty="0" err="1"/>
              <a:t>mpg$cty</a:t>
            </a:r>
            <a:r>
              <a:rPr lang="en-US" sz="2400" dirty="0"/>
              <a:t>)</a:t>
            </a:r>
            <a:endParaRPr lang="en-US" sz="2400" dirty="0"/>
          </a:p>
          <a:p>
            <a:r>
              <a:rPr lang="en-US" sz="2400" dirty="0"/>
              <a:t>   upper        mean         lower </a:t>
            </a:r>
            <a:endParaRPr lang="en-US" sz="2400" dirty="0"/>
          </a:p>
          <a:p>
            <a:r>
              <a:rPr lang="en-US" sz="2400" dirty="0"/>
              <a:t>17.40712  16.85897   16.31083 </a:t>
            </a:r>
            <a:endParaRPr lang="nl-NL"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a:bodyPr>
          <a:lstStyle/>
          <a:p>
            <a:pPr algn="ctr"/>
            <a:r>
              <a:rPr lang="nl-NL" b="1" dirty="0"/>
              <a:t>CIs for discrete </a:t>
            </a:r>
            <a:r>
              <a:rPr lang="nl-NL" b="1" dirty="0" err="1"/>
              <a:t>distributions</a:t>
            </a:r>
            <a:endParaRPr lang="nl-NL" sz="2800" b="1" dirty="0"/>
          </a:p>
        </p:txBody>
      </p:sp>
      <p:sp>
        <p:nvSpPr>
          <p:cNvPr id="3" name="Content Placeholder 2"/>
          <p:cNvSpPr>
            <a:spLocks noGrp="1"/>
          </p:cNvSpPr>
          <p:nvPr>
            <p:ph idx="1"/>
          </p:nvPr>
        </p:nvSpPr>
        <p:spPr>
          <a:xfrm>
            <a:off x="838200" y="1461796"/>
            <a:ext cx="10515600" cy="4795935"/>
          </a:xfrm>
        </p:spPr>
        <p:txBody>
          <a:bodyPr>
            <a:normAutofit/>
          </a:bodyPr>
          <a:lstStyle/>
          <a:p>
            <a:r>
              <a:rPr lang="nl-NL" dirty="0" err="1"/>
              <a:t>Constructing</a:t>
            </a:r>
            <a:r>
              <a:rPr lang="nl-NL" dirty="0"/>
              <a:t> CIs for discrete </a:t>
            </a:r>
            <a:r>
              <a:rPr lang="nl-NL" dirty="0" err="1"/>
              <a:t>distributions</a:t>
            </a:r>
            <a:r>
              <a:rPr lang="nl-NL" dirty="0"/>
              <a:t> is </a:t>
            </a:r>
            <a:r>
              <a:rPr lang="nl-NL" dirty="0" err="1"/>
              <a:t>surprisingly</a:t>
            </a:r>
            <a:r>
              <a:rPr lang="nl-NL" dirty="0"/>
              <a:t> </a:t>
            </a:r>
            <a:r>
              <a:rPr lang="nl-NL" dirty="0" err="1"/>
              <a:t>similar</a:t>
            </a:r>
            <a:r>
              <a:rPr lang="nl-NL" dirty="0"/>
              <a:t> as for </a:t>
            </a:r>
            <a:r>
              <a:rPr lang="nl-NL" dirty="0" err="1"/>
              <a:t>continuous</a:t>
            </a:r>
            <a:r>
              <a:rPr lang="nl-NL" dirty="0"/>
              <a:t> </a:t>
            </a:r>
            <a:r>
              <a:rPr lang="nl-NL" dirty="0" err="1"/>
              <a:t>distributions</a:t>
            </a:r>
            <a:endParaRPr lang="nl-NL" dirty="0"/>
          </a:p>
          <a:p>
            <a:pPr lvl="2"/>
            <a:endParaRPr lang="nl-NL" dirty="0"/>
          </a:p>
          <a:p>
            <a:r>
              <a:rPr lang="nl-NL" dirty="0"/>
              <a:t>The </a:t>
            </a:r>
            <a:r>
              <a:rPr lang="nl-NL" b="1" dirty="0" err="1"/>
              <a:t>mean</a:t>
            </a:r>
            <a:r>
              <a:rPr lang="nl-NL" dirty="0"/>
              <a:t> for a discrete </a:t>
            </a:r>
            <a:r>
              <a:rPr lang="nl-NL" dirty="0" err="1"/>
              <a:t>distribution</a:t>
            </a:r>
            <a:r>
              <a:rPr lang="nl-NL" dirty="0"/>
              <a:t> is: ratio of </a:t>
            </a:r>
            <a:r>
              <a:rPr lang="nl-NL" dirty="0" err="1"/>
              <a:t>successes</a:t>
            </a:r>
            <a:r>
              <a:rPr lang="nl-NL" dirty="0"/>
              <a:t> </a:t>
            </a:r>
            <a:r>
              <a:rPr lang="nl-NL" dirty="0" err="1"/>
              <a:t>and</a:t>
            </a:r>
            <a:r>
              <a:rPr lang="nl-NL" dirty="0"/>
              <a:t> trials</a:t>
            </a:r>
            <a:endParaRPr lang="nl-NL" dirty="0"/>
          </a:p>
          <a:p>
            <a:pPr lvl="1"/>
            <a:r>
              <a:rPr lang="nl-NL" dirty="0"/>
              <a:t># of </a:t>
            </a:r>
            <a:r>
              <a:rPr lang="nl-NL" dirty="0" err="1"/>
              <a:t>successes</a:t>
            </a:r>
            <a:r>
              <a:rPr lang="nl-NL" dirty="0"/>
              <a:t> (x) / # of trials (n) = </a:t>
            </a:r>
            <a:r>
              <a:rPr lang="nl-NL" dirty="0">
                <a:solidFill>
                  <a:srgbClr val="FF0000"/>
                </a:solidFill>
              </a:rPr>
              <a:t>P</a:t>
            </a:r>
            <a:r>
              <a:rPr lang="nl-NL" dirty="0"/>
              <a:t> = x/n</a:t>
            </a:r>
            <a:endParaRPr lang="nl-NL" dirty="0"/>
          </a:p>
          <a:p>
            <a:pPr lvl="2"/>
            <a:endParaRPr lang="nl-NL" dirty="0"/>
          </a:p>
          <a:p>
            <a:r>
              <a:rPr lang="nl-NL" dirty="0"/>
              <a:t>The </a:t>
            </a:r>
            <a:r>
              <a:rPr lang="nl-NL" b="1" dirty="0" err="1"/>
              <a:t>variance</a:t>
            </a:r>
            <a:r>
              <a:rPr lang="nl-NL" dirty="0"/>
              <a:t> for a discrete </a:t>
            </a:r>
            <a:r>
              <a:rPr lang="nl-NL" dirty="0" err="1"/>
              <a:t>distribution</a:t>
            </a:r>
            <a:r>
              <a:rPr lang="nl-NL" dirty="0"/>
              <a:t> is a </a:t>
            </a:r>
            <a:r>
              <a:rPr lang="nl-NL" dirty="0" err="1"/>
              <a:t>function</a:t>
            </a:r>
            <a:r>
              <a:rPr lang="nl-NL" dirty="0"/>
              <a:t> of </a:t>
            </a:r>
            <a:r>
              <a:rPr lang="nl-NL" dirty="0" err="1"/>
              <a:t>the</a:t>
            </a:r>
            <a:r>
              <a:rPr lang="nl-NL" dirty="0"/>
              <a:t> </a:t>
            </a:r>
            <a:r>
              <a:rPr lang="nl-NL" dirty="0" err="1"/>
              <a:t>mean</a:t>
            </a:r>
            <a:r>
              <a:rPr lang="nl-NL" dirty="0"/>
              <a:t> (P) </a:t>
            </a:r>
            <a:endParaRPr lang="nl-NL" dirty="0"/>
          </a:p>
          <a:p>
            <a:pPr lvl="1"/>
            <a:r>
              <a:rPr lang="nl-NL" dirty="0">
                <a:solidFill>
                  <a:srgbClr val="FF0000"/>
                </a:solidFill>
              </a:rPr>
              <a:t>P(1-P)</a:t>
            </a:r>
            <a:endParaRPr lang="nl-NL" dirty="0">
              <a:solidFill>
                <a:srgbClr val="FF0000"/>
              </a:solidFill>
            </a:endParaRPr>
          </a:p>
          <a:p>
            <a:pPr lvl="2"/>
            <a:endParaRPr lang="nl-NL" dirty="0"/>
          </a:p>
          <a:p>
            <a:r>
              <a:rPr lang="nl-NL" dirty="0"/>
              <a:t>The </a:t>
            </a:r>
            <a:r>
              <a:rPr lang="nl-NL" b="1" dirty="0"/>
              <a:t>SE</a:t>
            </a:r>
            <a:r>
              <a:rPr lang="nl-NL" dirty="0"/>
              <a:t> </a:t>
            </a:r>
            <a:r>
              <a:rPr lang="nl-NL" dirty="0" err="1"/>
              <a:t>can</a:t>
            </a:r>
            <a:r>
              <a:rPr lang="nl-NL" dirty="0"/>
              <a:t> </a:t>
            </a:r>
            <a:r>
              <a:rPr lang="nl-NL" dirty="0" err="1"/>
              <a:t>be</a:t>
            </a:r>
            <a:r>
              <a:rPr lang="nl-NL" dirty="0"/>
              <a:t> </a:t>
            </a:r>
            <a:r>
              <a:rPr lang="nl-NL" dirty="0" err="1"/>
              <a:t>calculated</a:t>
            </a:r>
            <a:r>
              <a:rPr lang="nl-NL" dirty="0"/>
              <a:t> by: </a:t>
            </a:r>
            <a:r>
              <a:rPr lang="nl-NL" dirty="0">
                <a:solidFill>
                  <a:srgbClr val="FF0000"/>
                </a:solidFill>
              </a:rPr>
              <a:t>√ P(1-P) / n </a:t>
            </a:r>
            <a:endParaRPr lang="nl-NL" dirty="0">
              <a:solidFill>
                <a:srgbClr val="FF0000"/>
              </a:solidFill>
            </a:endParaRPr>
          </a:p>
          <a:p>
            <a:pPr lvl="1"/>
            <a:r>
              <a:rPr lang="nl-NL" dirty="0"/>
              <a:t>Using </a:t>
            </a:r>
            <a:r>
              <a:rPr lang="nl-NL" dirty="0" err="1"/>
              <a:t>same</a:t>
            </a:r>
            <a:r>
              <a:rPr lang="nl-NL" dirty="0"/>
              <a:t> procedure as for </a:t>
            </a:r>
            <a:r>
              <a:rPr lang="nl-NL" dirty="0" err="1"/>
              <a:t>normal</a:t>
            </a:r>
            <a:r>
              <a:rPr lang="nl-NL" dirty="0"/>
              <a:t> </a:t>
            </a:r>
            <a:r>
              <a:rPr lang="nl-NL" dirty="0" err="1"/>
              <a:t>distributions</a:t>
            </a:r>
            <a:r>
              <a:rPr lang="nl-NL" dirty="0"/>
              <a:t> leads </a:t>
            </a:r>
            <a:r>
              <a:rPr lang="nl-NL" dirty="0" err="1"/>
              <a:t>to</a:t>
            </a:r>
            <a:r>
              <a:rPr lang="nl-NL" dirty="0"/>
              <a:t> </a:t>
            </a:r>
            <a:r>
              <a:rPr lang="nl-NL" b="1" dirty="0" err="1"/>
              <a:t>Wald</a:t>
            </a:r>
            <a:r>
              <a:rPr lang="nl-NL" b="1" dirty="0"/>
              <a:t> CI</a:t>
            </a:r>
            <a:endParaRPr lang="nl-NL" b="1"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880" y="2407170"/>
            <a:ext cx="10662920" cy="2989033"/>
          </a:xfrm>
          <a:prstGeom prst="rect">
            <a:avLst/>
          </a:prstGeom>
        </p:spPr>
      </p:pic>
      <p:sp>
        <p:nvSpPr>
          <p:cNvPr id="2" name="Title 1"/>
          <p:cNvSpPr>
            <a:spLocks noGrp="1"/>
          </p:cNvSpPr>
          <p:nvPr>
            <p:ph type="title"/>
          </p:nvPr>
        </p:nvSpPr>
        <p:spPr>
          <a:xfrm>
            <a:off x="838200" y="217715"/>
            <a:ext cx="10515600" cy="1038808"/>
          </a:xfrm>
        </p:spPr>
        <p:txBody>
          <a:bodyPr>
            <a:normAutofit/>
          </a:bodyPr>
          <a:lstStyle/>
          <a:p>
            <a:pPr algn="ctr"/>
            <a:r>
              <a:rPr lang="nl-NL" b="1" dirty="0" err="1"/>
              <a:t>Variation</a:t>
            </a:r>
            <a:r>
              <a:rPr lang="nl-NL" b="1" dirty="0"/>
              <a:t> in P </a:t>
            </a:r>
            <a:r>
              <a:rPr lang="nl-NL" b="1" dirty="0" err="1"/>
              <a:t>for</a:t>
            </a:r>
            <a:r>
              <a:rPr lang="nl-NL" b="1" dirty="0"/>
              <a:t> </a:t>
            </a:r>
            <a:r>
              <a:rPr lang="nl-NL" b="1" dirty="0" err="1"/>
              <a:t>binomial</a:t>
            </a:r>
            <a:r>
              <a:rPr lang="nl-NL" b="1" dirty="0"/>
              <a:t> </a:t>
            </a:r>
            <a:r>
              <a:rPr lang="nl-NL" b="1" dirty="0" err="1"/>
              <a:t>distributions</a:t>
            </a:r>
            <a:endParaRPr lang="nl-NL" sz="2800" b="1" dirty="0"/>
          </a:p>
        </p:txBody>
      </p:sp>
      <p:sp>
        <p:nvSpPr>
          <p:cNvPr id="3" name="Content Placeholder 2"/>
          <p:cNvSpPr>
            <a:spLocks noGrp="1"/>
          </p:cNvSpPr>
          <p:nvPr>
            <p:ph idx="1"/>
          </p:nvPr>
        </p:nvSpPr>
        <p:spPr>
          <a:xfrm>
            <a:off x="503695" y="1461796"/>
            <a:ext cx="11109185" cy="5081244"/>
          </a:xfrm>
        </p:spPr>
        <p:txBody>
          <a:bodyPr>
            <a:normAutofit/>
          </a:bodyPr>
          <a:lstStyle/>
          <a:p>
            <a:r>
              <a:rPr lang="nl-NL" dirty="0"/>
              <a:t>The </a:t>
            </a:r>
            <a:r>
              <a:rPr lang="nl-NL" dirty="0" err="1"/>
              <a:t>shape</a:t>
            </a:r>
            <a:r>
              <a:rPr lang="nl-NL" dirty="0"/>
              <a:t> of discrete </a:t>
            </a:r>
            <a:r>
              <a:rPr lang="nl-NL" dirty="0" err="1"/>
              <a:t>distributions</a:t>
            </a:r>
            <a:r>
              <a:rPr lang="nl-NL" dirty="0"/>
              <a:t> (e.g., </a:t>
            </a:r>
            <a:r>
              <a:rPr lang="nl-NL" dirty="0" err="1"/>
              <a:t>binomial</a:t>
            </a:r>
            <a:r>
              <a:rPr lang="nl-NL" dirty="0"/>
              <a:t>) </a:t>
            </a:r>
            <a:r>
              <a:rPr lang="nl-NL" dirty="0" err="1"/>
              <a:t>vary</a:t>
            </a:r>
            <a:r>
              <a:rPr lang="nl-NL" dirty="0"/>
              <a:t> as a </a:t>
            </a:r>
            <a:r>
              <a:rPr lang="nl-NL" dirty="0" err="1"/>
              <a:t>function</a:t>
            </a:r>
            <a:r>
              <a:rPr lang="nl-NL" dirty="0"/>
              <a:t> of P (i.e., </a:t>
            </a:r>
            <a:r>
              <a:rPr lang="nl-NL" dirty="0" err="1"/>
              <a:t>the</a:t>
            </a:r>
            <a:r>
              <a:rPr lang="nl-NL" dirty="0"/>
              <a:t> </a:t>
            </a:r>
            <a:r>
              <a:rPr lang="nl-NL" dirty="0" err="1"/>
              <a:t>mean</a:t>
            </a:r>
            <a:r>
              <a:rPr lang="nl-NL" dirty="0"/>
              <a:t> </a:t>
            </a:r>
            <a:r>
              <a:rPr lang="nl-NL" dirty="0" err="1"/>
              <a:t>proportion</a:t>
            </a:r>
            <a:r>
              <a:rPr lang="nl-NL" dirty="0"/>
              <a:t> of </a:t>
            </a:r>
            <a:r>
              <a:rPr lang="nl-NL" dirty="0" err="1"/>
              <a:t>successes</a:t>
            </a:r>
            <a:r>
              <a:rPr lang="nl-NL" dirty="0"/>
              <a:t>)</a:t>
            </a:r>
            <a:endParaRPr lang="nl-NL" dirty="0"/>
          </a:p>
          <a:p>
            <a:pPr marL="0" indent="0">
              <a:buNone/>
            </a:pPr>
            <a:endParaRPr lang="nl-NL" dirty="0"/>
          </a:p>
          <a:p>
            <a:pPr marL="0" indent="0">
              <a:buNone/>
            </a:pPr>
            <a:endParaRPr lang="nl-NL" dirty="0"/>
          </a:p>
          <a:p>
            <a:pPr marL="0" indent="0">
              <a:buNone/>
            </a:pPr>
            <a:endParaRPr lang="nl-NL" dirty="0"/>
          </a:p>
          <a:p>
            <a:endParaRPr lang="nl-NL" dirty="0"/>
          </a:p>
          <a:p>
            <a:endParaRPr lang="nl-NL" dirty="0"/>
          </a:p>
          <a:p>
            <a:endParaRPr lang="nl-NL" dirty="0"/>
          </a:p>
          <a:p>
            <a:r>
              <a:rPr lang="nl-NL" dirty="0" err="1"/>
              <a:t>Binomial</a:t>
            </a:r>
            <a:r>
              <a:rPr lang="nl-NL" dirty="0"/>
              <a:t> </a:t>
            </a:r>
            <a:r>
              <a:rPr lang="nl-NL" dirty="0" err="1"/>
              <a:t>distributions</a:t>
            </a:r>
            <a:r>
              <a:rPr lang="nl-NL" dirty="0"/>
              <a:t> </a:t>
            </a:r>
            <a:r>
              <a:rPr lang="nl-NL" dirty="0" err="1"/>
              <a:t>for</a:t>
            </a:r>
            <a:r>
              <a:rPr lang="nl-NL" dirty="0"/>
              <a:t> </a:t>
            </a:r>
            <a:r>
              <a:rPr lang="nl-NL" dirty="0" err="1"/>
              <a:t>various</a:t>
            </a:r>
            <a:r>
              <a:rPr lang="nl-NL" dirty="0"/>
              <a:t> </a:t>
            </a:r>
            <a:r>
              <a:rPr lang="nl-NL" dirty="0" err="1"/>
              <a:t>proportions</a:t>
            </a:r>
            <a:r>
              <a:rPr lang="nl-NL" dirty="0"/>
              <a:t> of </a:t>
            </a:r>
            <a:r>
              <a:rPr lang="nl-NL" dirty="0" err="1"/>
              <a:t>successes</a:t>
            </a:r>
            <a:r>
              <a:rPr lang="nl-NL" dirty="0"/>
              <a:t> in 25 trials</a:t>
            </a:r>
            <a:endParaRPr lang="nl-NL" dirty="0"/>
          </a:p>
          <a:p>
            <a:pPr lvl="1"/>
            <a:r>
              <a:rPr lang="nl-NL" dirty="0" err="1"/>
              <a:t>Positive</a:t>
            </a:r>
            <a:r>
              <a:rPr lang="nl-NL" dirty="0"/>
              <a:t> </a:t>
            </a:r>
            <a:r>
              <a:rPr lang="nl-NL" dirty="0" err="1"/>
              <a:t>skew</a:t>
            </a:r>
            <a:r>
              <a:rPr lang="nl-NL" dirty="0"/>
              <a:t> </a:t>
            </a:r>
            <a:r>
              <a:rPr lang="nl-NL" dirty="0" err="1"/>
              <a:t>when</a:t>
            </a:r>
            <a:r>
              <a:rPr lang="nl-NL" dirty="0"/>
              <a:t> P is low; </a:t>
            </a:r>
            <a:r>
              <a:rPr lang="nl-NL" dirty="0" err="1"/>
              <a:t>Negative</a:t>
            </a:r>
            <a:r>
              <a:rPr lang="nl-NL" dirty="0"/>
              <a:t> </a:t>
            </a:r>
            <a:r>
              <a:rPr lang="nl-NL" dirty="0" err="1"/>
              <a:t>skew</a:t>
            </a:r>
            <a:r>
              <a:rPr lang="nl-NL" dirty="0"/>
              <a:t> </a:t>
            </a:r>
            <a:r>
              <a:rPr lang="nl-NL" dirty="0" err="1"/>
              <a:t>when</a:t>
            </a:r>
            <a:r>
              <a:rPr lang="nl-NL" dirty="0"/>
              <a:t> P is high, “</a:t>
            </a:r>
            <a:r>
              <a:rPr lang="nl-NL" dirty="0" err="1"/>
              <a:t>Normal</a:t>
            </a:r>
            <a:r>
              <a:rPr lang="nl-NL" dirty="0"/>
              <a:t>” </a:t>
            </a:r>
            <a:r>
              <a:rPr lang="nl-NL" dirty="0" err="1"/>
              <a:t>when</a:t>
            </a:r>
            <a:r>
              <a:rPr lang="nl-NL" dirty="0"/>
              <a:t> P = .5</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a:bodyPr>
          <a:lstStyle/>
          <a:p>
            <a:pPr algn="ctr"/>
            <a:r>
              <a:rPr lang="nl-NL" b="1" dirty="0" err="1"/>
              <a:t>Wald</a:t>
            </a:r>
            <a:r>
              <a:rPr lang="nl-NL" b="1" dirty="0"/>
              <a:t> CIs</a:t>
            </a:r>
            <a:endParaRPr lang="nl-NL" sz="2800" b="1" dirty="0"/>
          </a:p>
        </p:txBody>
      </p:sp>
      <p:sp>
        <p:nvSpPr>
          <p:cNvPr id="3" name="Content Placeholder 2"/>
          <p:cNvSpPr>
            <a:spLocks noGrp="1"/>
          </p:cNvSpPr>
          <p:nvPr>
            <p:ph idx="1"/>
          </p:nvPr>
        </p:nvSpPr>
        <p:spPr>
          <a:xfrm>
            <a:off x="838200" y="1461796"/>
            <a:ext cx="10515600" cy="4795935"/>
          </a:xfrm>
        </p:spPr>
        <p:txBody>
          <a:bodyPr>
            <a:normAutofit lnSpcReduction="10000"/>
          </a:bodyPr>
          <a:lstStyle/>
          <a:p>
            <a:r>
              <a:rPr lang="nl-NL" dirty="0" err="1"/>
              <a:t>Wald</a:t>
            </a:r>
            <a:r>
              <a:rPr lang="nl-NL" dirty="0"/>
              <a:t> CIs </a:t>
            </a:r>
            <a:r>
              <a:rPr lang="nl-NL" dirty="0" err="1"/>
              <a:t>can</a:t>
            </a:r>
            <a:r>
              <a:rPr lang="nl-NL" dirty="0"/>
              <a:t> lead </a:t>
            </a:r>
            <a:r>
              <a:rPr lang="nl-NL" dirty="0" err="1"/>
              <a:t>to</a:t>
            </a:r>
            <a:r>
              <a:rPr lang="nl-NL" dirty="0"/>
              <a:t> accurate </a:t>
            </a:r>
            <a:r>
              <a:rPr lang="nl-NL" dirty="0" err="1"/>
              <a:t>approximations</a:t>
            </a:r>
            <a:r>
              <a:rPr lang="nl-NL" dirty="0"/>
              <a:t>…</a:t>
            </a:r>
            <a:r>
              <a:rPr lang="nl-NL" dirty="0" err="1"/>
              <a:t>when</a:t>
            </a:r>
            <a:r>
              <a:rPr lang="nl-NL" dirty="0"/>
              <a:t> P ≈ .5</a:t>
            </a:r>
            <a:endParaRPr lang="nl-NL" dirty="0"/>
          </a:p>
          <a:p>
            <a:pPr lvl="1"/>
            <a:r>
              <a:rPr lang="nl-NL" dirty="0"/>
              <a:t>BUT, </a:t>
            </a:r>
            <a:r>
              <a:rPr lang="nl-NL" dirty="0" err="1"/>
              <a:t>binomial</a:t>
            </a:r>
            <a:r>
              <a:rPr lang="nl-NL" dirty="0"/>
              <a:t> </a:t>
            </a:r>
            <a:r>
              <a:rPr lang="nl-NL" dirty="0" err="1"/>
              <a:t>distributions</a:t>
            </a:r>
            <a:r>
              <a:rPr lang="nl-NL" dirty="0"/>
              <a:t> are </a:t>
            </a:r>
            <a:r>
              <a:rPr lang="nl-NL" dirty="0" err="1"/>
              <a:t>asymmetric</a:t>
            </a:r>
            <a:r>
              <a:rPr lang="nl-NL" dirty="0"/>
              <a:t>, </a:t>
            </a:r>
            <a:r>
              <a:rPr lang="nl-NL" dirty="0" err="1"/>
              <a:t>and</a:t>
            </a:r>
            <a:r>
              <a:rPr lang="nl-NL" dirty="0"/>
              <a:t> </a:t>
            </a:r>
            <a:r>
              <a:rPr lang="nl-NL" dirty="0" err="1"/>
              <a:t>Wald</a:t>
            </a:r>
            <a:r>
              <a:rPr lang="nl-NL" dirty="0"/>
              <a:t> CIs </a:t>
            </a:r>
            <a:r>
              <a:rPr lang="nl-NL" dirty="0" err="1"/>
              <a:t>don’t</a:t>
            </a:r>
            <a:r>
              <a:rPr lang="nl-NL" dirty="0"/>
              <a:t> </a:t>
            </a:r>
            <a:r>
              <a:rPr lang="nl-NL" dirty="0" err="1"/>
              <a:t>reflect</a:t>
            </a:r>
            <a:r>
              <a:rPr lang="nl-NL" dirty="0"/>
              <a:t> </a:t>
            </a:r>
            <a:r>
              <a:rPr lang="nl-NL" dirty="0" err="1"/>
              <a:t>this</a:t>
            </a:r>
            <a:r>
              <a:rPr lang="nl-NL" dirty="0"/>
              <a:t> (</a:t>
            </a:r>
            <a:r>
              <a:rPr lang="nl-NL" dirty="0" err="1"/>
              <a:t>unless</a:t>
            </a:r>
            <a:r>
              <a:rPr lang="nl-NL" dirty="0"/>
              <a:t> P ≈ .5) </a:t>
            </a:r>
            <a:endParaRPr lang="nl-NL" dirty="0"/>
          </a:p>
          <a:p>
            <a:pPr lvl="2"/>
            <a:endParaRPr lang="nl-NL" dirty="0"/>
          </a:p>
          <a:p>
            <a:r>
              <a:rPr lang="nl-NL" dirty="0"/>
              <a:t>The </a:t>
            </a:r>
            <a:r>
              <a:rPr lang="nl-NL" b="1" dirty="0" err="1"/>
              <a:t>adjusted</a:t>
            </a:r>
            <a:r>
              <a:rPr lang="nl-NL" b="1" dirty="0"/>
              <a:t> </a:t>
            </a:r>
            <a:r>
              <a:rPr lang="nl-NL" b="1" dirty="0" err="1"/>
              <a:t>Wald</a:t>
            </a:r>
            <a:r>
              <a:rPr lang="nl-NL" b="1" dirty="0"/>
              <a:t> CI </a:t>
            </a:r>
            <a:r>
              <a:rPr lang="nl-NL" dirty="0"/>
              <a:t>corrects for </a:t>
            </a:r>
            <a:r>
              <a:rPr lang="nl-NL" dirty="0" err="1"/>
              <a:t>this</a:t>
            </a:r>
            <a:r>
              <a:rPr lang="nl-NL" dirty="0"/>
              <a:t> by </a:t>
            </a:r>
            <a:r>
              <a:rPr lang="nl-NL" dirty="0" err="1"/>
              <a:t>simply</a:t>
            </a:r>
            <a:r>
              <a:rPr lang="nl-NL" dirty="0"/>
              <a:t> </a:t>
            </a:r>
            <a:r>
              <a:rPr lang="nl-NL" dirty="0" err="1"/>
              <a:t>adding</a:t>
            </a:r>
            <a:r>
              <a:rPr lang="nl-NL" dirty="0"/>
              <a:t> 2 </a:t>
            </a:r>
            <a:r>
              <a:rPr lang="nl-NL" dirty="0" err="1"/>
              <a:t>successes</a:t>
            </a:r>
            <a:r>
              <a:rPr lang="nl-NL" dirty="0"/>
              <a:t> </a:t>
            </a:r>
            <a:r>
              <a:rPr lang="nl-NL" dirty="0" err="1"/>
              <a:t>and</a:t>
            </a:r>
            <a:r>
              <a:rPr lang="nl-NL" dirty="0"/>
              <a:t> 2 </a:t>
            </a:r>
            <a:r>
              <a:rPr lang="nl-NL" dirty="0" err="1"/>
              <a:t>failures</a:t>
            </a:r>
            <a:r>
              <a:rPr lang="nl-NL" dirty="0"/>
              <a:t> (i.e., x + 2 </a:t>
            </a:r>
            <a:r>
              <a:rPr lang="nl-NL" dirty="0" err="1"/>
              <a:t>and</a:t>
            </a:r>
            <a:r>
              <a:rPr lang="nl-NL" dirty="0"/>
              <a:t> n + 4)</a:t>
            </a:r>
            <a:endParaRPr lang="nl-NL" dirty="0"/>
          </a:p>
          <a:p>
            <a:pPr lvl="1"/>
            <a:r>
              <a:rPr lang="nl-NL" dirty="0" err="1"/>
              <a:t>So</a:t>
            </a:r>
            <a:r>
              <a:rPr lang="nl-NL" dirty="0"/>
              <a:t>, P </a:t>
            </a:r>
            <a:r>
              <a:rPr lang="nl-NL" dirty="0" err="1"/>
              <a:t>becomes</a:t>
            </a:r>
            <a:r>
              <a:rPr lang="nl-NL" dirty="0"/>
              <a:t> closer </a:t>
            </a:r>
            <a:r>
              <a:rPr lang="nl-NL" dirty="0" err="1"/>
              <a:t>to</a:t>
            </a:r>
            <a:r>
              <a:rPr lang="nl-NL" dirty="0"/>
              <a:t> .5?</a:t>
            </a:r>
            <a:endParaRPr lang="nl-NL" dirty="0"/>
          </a:p>
          <a:p>
            <a:endParaRPr lang="nl-NL" dirty="0"/>
          </a:p>
          <a:p>
            <a:r>
              <a:rPr lang="nl-NL" dirty="0" err="1"/>
              <a:t>Other</a:t>
            </a:r>
            <a:r>
              <a:rPr lang="nl-NL" dirty="0"/>
              <a:t> “</a:t>
            </a:r>
            <a:r>
              <a:rPr lang="nl-NL" dirty="0" err="1"/>
              <a:t>improved</a:t>
            </a:r>
            <a:r>
              <a:rPr lang="nl-NL" dirty="0"/>
              <a:t>” CIs have been </a:t>
            </a:r>
            <a:r>
              <a:rPr lang="nl-NL" dirty="0" err="1"/>
              <a:t>developed</a:t>
            </a:r>
            <a:r>
              <a:rPr lang="nl-NL" dirty="0"/>
              <a:t>, </a:t>
            </a:r>
            <a:r>
              <a:rPr lang="nl-NL" dirty="0" err="1"/>
              <a:t>such</a:t>
            </a:r>
            <a:r>
              <a:rPr lang="nl-NL" dirty="0"/>
              <a:t> as </a:t>
            </a:r>
            <a:r>
              <a:rPr lang="nl-NL" dirty="0" err="1"/>
              <a:t>Clopper</a:t>
            </a:r>
            <a:r>
              <a:rPr lang="nl-NL" dirty="0"/>
              <a:t>-Pearson, Wilson CI, Wilson </a:t>
            </a:r>
            <a:r>
              <a:rPr lang="nl-NL" dirty="0" err="1"/>
              <a:t>continuity-corrected</a:t>
            </a:r>
            <a:r>
              <a:rPr lang="nl-NL" dirty="0"/>
              <a:t>, </a:t>
            </a:r>
            <a:r>
              <a:rPr lang="nl-NL" dirty="0" err="1"/>
              <a:t>and</a:t>
            </a:r>
            <a:r>
              <a:rPr lang="nl-NL" dirty="0"/>
              <a:t> Blaker CI.</a:t>
            </a:r>
            <a:endParaRPr lang="nl-NL" dirty="0"/>
          </a:p>
          <a:p>
            <a:pPr lvl="1"/>
            <a:r>
              <a:rPr lang="nl-NL" dirty="0" err="1">
                <a:solidFill>
                  <a:srgbClr val="FF0000"/>
                </a:solidFill>
              </a:rPr>
              <a:t>While</a:t>
            </a:r>
            <a:r>
              <a:rPr lang="nl-NL" dirty="0">
                <a:solidFill>
                  <a:srgbClr val="FF0000"/>
                </a:solidFill>
              </a:rPr>
              <a:t> </a:t>
            </a:r>
            <a:r>
              <a:rPr lang="nl-NL" dirty="0" err="1">
                <a:solidFill>
                  <a:srgbClr val="FF0000"/>
                </a:solidFill>
              </a:rPr>
              <a:t>each</a:t>
            </a:r>
            <a:r>
              <a:rPr lang="nl-NL" dirty="0">
                <a:solidFill>
                  <a:srgbClr val="FF0000"/>
                </a:solidFill>
              </a:rPr>
              <a:t> has </a:t>
            </a:r>
            <a:r>
              <a:rPr lang="nl-NL" dirty="0" err="1">
                <a:solidFill>
                  <a:srgbClr val="FF0000"/>
                </a:solidFill>
              </a:rPr>
              <a:t>their</a:t>
            </a:r>
            <a:r>
              <a:rPr lang="nl-NL" dirty="0">
                <a:solidFill>
                  <a:srgbClr val="FF0000"/>
                </a:solidFill>
              </a:rPr>
              <a:t> </a:t>
            </a:r>
            <a:r>
              <a:rPr lang="nl-NL" dirty="0" err="1">
                <a:solidFill>
                  <a:srgbClr val="FF0000"/>
                </a:solidFill>
              </a:rPr>
              <a:t>strengths</a:t>
            </a:r>
            <a:r>
              <a:rPr lang="nl-NL" dirty="0">
                <a:solidFill>
                  <a:srgbClr val="FF0000"/>
                </a:solidFill>
              </a:rPr>
              <a:t>, </a:t>
            </a:r>
            <a:r>
              <a:rPr lang="nl-NL" dirty="0" err="1">
                <a:solidFill>
                  <a:srgbClr val="FF0000"/>
                </a:solidFill>
              </a:rPr>
              <a:t>the</a:t>
            </a:r>
            <a:r>
              <a:rPr lang="nl-NL" dirty="0">
                <a:solidFill>
                  <a:srgbClr val="FF0000"/>
                </a:solidFill>
              </a:rPr>
              <a:t> </a:t>
            </a:r>
            <a:r>
              <a:rPr lang="nl-NL" b="1" dirty="0">
                <a:solidFill>
                  <a:srgbClr val="FF0000"/>
                </a:solidFill>
              </a:rPr>
              <a:t>Blaker CI </a:t>
            </a:r>
            <a:r>
              <a:rPr lang="nl-NL" dirty="0">
                <a:solidFill>
                  <a:srgbClr val="FF0000"/>
                </a:solidFill>
              </a:rPr>
              <a:t>is </a:t>
            </a:r>
            <a:r>
              <a:rPr lang="nl-NL" dirty="0" err="1">
                <a:solidFill>
                  <a:srgbClr val="FF0000"/>
                </a:solidFill>
              </a:rPr>
              <a:t>recommended</a:t>
            </a:r>
            <a:r>
              <a:rPr lang="nl-NL" dirty="0">
                <a:solidFill>
                  <a:srgbClr val="FF0000"/>
                </a:solidFill>
              </a:rPr>
              <a:t> in most </a:t>
            </a:r>
            <a:r>
              <a:rPr lang="nl-NL" dirty="0" err="1">
                <a:solidFill>
                  <a:srgbClr val="FF0000"/>
                </a:solidFill>
              </a:rPr>
              <a:t>situations</a:t>
            </a:r>
            <a:endParaRPr lang="nl-NL"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fontScale="90000"/>
          </a:bodyPr>
          <a:lstStyle/>
          <a:p>
            <a:pPr algn="ctr"/>
            <a:r>
              <a:rPr lang="nl-NL" b="1" dirty="0"/>
              <a:t>How </a:t>
            </a:r>
            <a:r>
              <a:rPr lang="nl-NL" b="1" dirty="0" err="1"/>
              <a:t>to</a:t>
            </a:r>
            <a:r>
              <a:rPr lang="nl-NL" b="1" dirty="0"/>
              <a:t> </a:t>
            </a:r>
            <a:r>
              <a:rPr lang="nl-NL" b="1" dirty="0" err="1"/>
              <a:t>calculate</a:t>
            </a:r>
            <a:r>
              <a:rPr lang="nl-NL" b="1" dirty="0"/>
              <a:t> CIs?</a:t>
            </a:r>
            <a:br>
              <a:rPr lang="nl-NL" b="1" dirty="0"/>
            </a:br>
            <a:r>
              <a:rPr lang="nl-NL" sz="3100" b="1" dirty="0" err="1"/>
              <a:t>Binomial</a:t>
            </a:r>
            <a:r>
              <a:rPr lang="nl-NL" sz="3100" b="1" dirty="0"/>
              <a:t> </a:t>
            </a:r>
            <a:r>
              <a:rPr lang="nl-NL" sz="3100" b="1" dirty="0" err="1"/>
              <a:t>distribution</a:t>
            </a:r>
            <a:r>
              <a:rPr lang="nl-NL" sz="3100" b="1" dirty="0"/>
              <a:t> (</a:t>
            </a:r>
            <a:r>
              <a:rPr lang="nl-NL" sz="3100" b="1" dirty="0" err="1"/>
              <a:t>Wald</a:t>
            </a:r>
            <a:r>
              <a:rPr lang="nl-NL" sz="3100" b="1" dirty="0"/>
              <a:t> CI) </a:t>
            </a:r>
            <a:r>
              <a:rPr lang="nl-NL" sz="3100" b="1" dirty="0" err="1"/>
              <a:t>using</a:t>
            </a:r>
            <a:r>
              <a:rPr lang="nl-NL" sz="3100" b="1" dirty="0"/>
              <a:t> summary data</a:t>
            </a:r>
            <a:endParaRPr lang="nl-NL" sz="3100" b="1" dirty="0"/>
          </a:p>
        </p:txBody>
      </p:sp>
      <p:sp>
        <p:nvSpPr>
          <p:cNvPr id="3" name="Content Placeholder 2"/>
          <p:cNvSpPr>
            <a:spLocks noGrp="1"/>
          </p:cNvSpPr>
          <p:nvPr>
            <p:ph idx="1"/>
          </p:nvPr>
        </p:nvSpPr>
        <p:spPr>
          <a:xfrm>
            <a:off x="702907" y="1567543"/>
            <a:ext cx="10873273" cy="4727510"/>
          </a:xfrm>
        </p:spPr>
        <p:txBody>
          <a:bodyPr/>
          <a:lstStyle/>
          <a:p>
            <a:pPr marL="0" indent="0">
              <a:buNone/>
            </a:pPr>
            <a:r>
              <a:rPr lang="nl-NL" dirty="0"/>
              <a:t>s &lt;- 19		# </a:t>
            </a:r>
            <a:r>
              <a:rPr lang="nl-NL" dirty="0" err="1"/>
              <a:t>number</a:t>
            </a:r>
            <a:r>
              <a:rPr lang="nl-NL" dirty="0"/>
              <a:t> of </a:t>
            </a:r>
            <a:r>
              <a:rPr lang="nl-NL" dirty="0" err="1"/>
              <a:t>successes</a:t>
            </a:r>
            <a:endParaRPr lang="nl-NL" dirty="0"/>
          </a:p>
          <a:p>
            <a:pPr marL="0" indent="0">
              <a:buNone/>
            </a:pPr>
            <a:r>
              <a:rPr lang="nl-NL" dirty="0"/>
              <a:t>n &lt;- 25		# </a:t>
            </a:r>
            <a:r>
              <a:rPr lang="nl-NL" dirty="0" err="1"/>
              <a:t>number</a:t>
            </a:r>
            <a:r>
              <a:rPr lang="nl-NL" dirty="0"/>
              <a:t> of trials</a:t>
            </a:r>
            <a:endParaRPr lang="nl-NL" dirty="0"/>
          </a:p>
          <a:p>
            <a:pPr marL="0" indent="0">
              <a:buNone/>
            </a:pPr>
            <a:r>
              <a:rPr lang="nl-NL" dirty="0" err="1"/>
              <a:t>alpha</a:t>
            </a:r>
            <a:r>
              <a:rPr lang="nl-NL" dirty="0"/>
              <a:t> &lt;- .01		# </a:t>
            </a:r>
            <a:r>
              <a:rPr lang="nl-NL" dirty="0" err="1"/>
              <a:t>alpha</a:t>
            </a:r>
            <a:endParaRPr lang="nl-NL" dirty="0"/>
          </a:p>
          <a:p>
            <a:endParaRPr lang="nl-NL" dirty="0"/>
          </a:p>
          <a:p>
            <a:pPr marL="0" indent="0">
              <a:buNone/>
            </a:pPr>
            <a:r>
              <a:rPr lang="nl-NL" dirty="0" err="1"/>
              <a:t>p.hat</a:t>
            </a:r>
            <a:r>
              <a:rPr lang="nl-NL" dirty="0"/>
              <a:t> &lt;- s/n					# </a:t>
            </a:r>
            <a:r>
              <a:rPr lang="nl-NL" dirty="0" err="1"/>
              <a:t>calculate</a:t>
            </a:r>
            <a:r>
              <a:rPr lang="nl-NL" dirty="0"/>
              <a:t> P </a:t>
            </a:r>
            <a:endParaRPr lang="nl-NL" dirty="0"/>
          </a:p>
          <a:p>
            <a:pPr marL="0" indent="0">
              <a:buNone/>
            </a:pPr>
            <a:r>
              <a:rPr lang="nl-NL" dirty="0" err="1"/>
              <a:t>se.p</a:t>
            </a:r>
            <a:r>
              <a:rPr lang="nl-NL" dirty="0"/>
              <a:t> &lt;- ((</a:t>
            </a:r>
            <a:r>
              <a:rPr lang="nl-NL" dirty="0" err="1"/>
              <a:t>p.hat</a:t>
            </a:r>
            <a:r>
              <a:rPr lang="nl-NL" dirty="0"/>
              <a:t>*(1-p.hat))/n)</a:t>
            </a:r>
            <a:r>
              <a:rPr lang="nl-NL" dirty="0">
                <a:solidFill>
                  <a:srgbClr val="FF0000"/>
                </a:solidFill>
              </a:rPr>
              <a:t>^.5</a:t>
            </a:r>
            <a:r>
              <a:rPr lang="nl-NL" dirty="0"/>
              <a:t>		# </a:t>
            </a:r>
            <a:r>
              <a:rPr lang="nl-NL" dirty="0" err="1"/>
              <a:t>calculate</a:t>
            </a:r>
            <a:r>
              <a:rPr lang="nl-NL" dirty="0"/>
              <a:t> SE</a:t>
            </a:r>
            <a:endParaRPr lang="nl-NL" dirty="0"/>
          </a:p>
          <a:p>
            <a:pPr marL="0" indent="0">
              <a:buNone/>
            </a:pPr>
            <a:r>
              <a:rPr lang="nl-NL" dirty="0"/>
              <a:t>moe &lt;- </a:t>
            </a:r>
            <a:r>
              <a:rPr lang="nl-NL" dirty="0" err="1"/>
              <a:t>qnorm</a:t>
            </a:r>
            <a:r>
              <a:rPr lang="nl-NL" dirty="0"/>
              <a:t>(1-alpha/2)*</a:t>
            </a:r>
            <a:r>
              <a:rPr lang="nl-NL" dirty="0" err="1"/>
              <a:t>se.p</a:t>
            </a:r>
            <a:r>
              <a:rPr lang="nl-NL" dirty="0"/>
              <a:t>		# </a:t>
            </a:r>
            <a:r>
              <a:rPr lang="nl-NL" dirty="0" err="1"/>
              <a:t>calculate</a:t>
            </a:r>
            <a:r>
              <a:rPr lang="nl-NL" dirty="0"/>
              <a:t> MOE</a:t>
            </a:r>
            <a:endParaRPr lang="nl-NL" dirty="0"/>
          </a:p>
          <a:p>
            <a:pPr marL="0" indent="0">
              <a:buNone/>
            </a:pPr>
            <a:r>
              <a:rPr lang="nl-NL" dirty="0"/>
              <a:t>c(</a:t>
            </a:r>
            <a:r>
              <a:rPr lang="nl-NL" dirty="0" err="1"/>
              <a:t>p.hat</a:t>
            </a:r>
            <a:r>
              <a:rPr lang="nl-NL" dirty="0"/>
              <a:t>-moe, </a:t>
            </a:r>
            <a:r>
              <a:rPr lang="nl-NL" dirty="0" err="1"/>
              <a:t>p.hat+moe</a:t>
            </a:r>
            <a:r>
              <a:rPr lang="nl-NL" dirty="0"/>
              <a:t>)			# combine </a:t>
            </a:r>
            <a:r>
              <a:rPr lang="nl-NL" dirty="0" err="1"/>
              <a:t>lower</a:t>
            </a:r>
            <a:r>
              <a:rPr lang="nl-NL" dirty="0"/>
              <a:t> </a:t>
            </a:r>
            <a:r>
              <a:rPr lang="nl-NL" dirty="0" err="1"/>
              <a:t>and</a:t>
            </a:r>
            <a:r>
              <a:rPr lang="nl-NL" dirty="0"/>
              <a:t> </a:t>
            </a:r>
            <a:r>
              <a:rPr lang="nl-NL" dirty="0" err="1"/>
              <a:t>upper</a:t>
            </a:r>
            <a:r>
              <a:rPr lang="nl-NL" dirty="0"/>
              <a:t> </a:t>
            </a:r>
            <a:r>
              <a:rPr lang="nl-NL" dirty="0" err="1"/>
              <a:t>bounds</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fontScale="90000"/>
          </a:bodyPr>
          <a:lstStyle/>
          <a:p>
            <a:pPr algn="ctr"/>
            <a:r>
              <a:rPr lang="nl-NL" b="1" dirty="0"/>
              <a:t>How </a:t>
            </a:r>
            <a:r>
              <a:rPr lang="nl-NL" b="1" dirty="0" err="1"/>
              <a:t>to</a:t>
            </a:r>
            <a:r>
              <a:rPr lang="nl-NL" b="1" dirty="0"/>
              <a:t> </a:t>
            </a:r>
            <a:r>
              <a:rPr lang="nl-NL" b="1" dirty="0" err="1"/>
              <a:t>calculate</a:t>
            </a:r>
            <a:r>
              <a:rPr lang="nl-NL" b="1" dirty="0"/>
              <a:t> CIs?</a:t>
            </a:r>
            <a:br>
              <a:rPr lang="nl-NL" b="1" dirty="0"/>
            </a:br>
            <a:r>
              <a:rPr lang="nl-NL" sz="3100" b="1" dirty="0"/>
              <a:t>Blaker CIs for </a:t>
            </a:r>
            <a:r>
              <a:rPr lang="nl-NL" sz="3100" b="1" dirty="0" err="1"/>
              <a:t>binomial</a:t>
            </a:r>
            <a:r>
              <a:rPr lang="nl-NL" sz="3100" b="1" dirty="0"/>
              <a:t> </a:t>
            </a:r>
            <a:r>
              <a:rPr lang="nl-NL" sz="3100" b="1" dirty="0" err="1"/>
              <a:t>and</a:t>
            </a:r>
            <a:r>
              <a:rPr lang="nl-NL" sz="3100" b="1" dirty="0"/>
              <a:t> </a:t>
            </a:r>
            <a:r>
              <a:rPr lang="nl-NL" sz="3100" b="1" dirty="0" err="1"/>
              <a:t>Poisson</a:t>
            </a:r>
            <a:r>
              <a:rPr lang="nl-NL" sz="3100" b="1" dirty="0"/>
              <a:t> </a:t>
            </a:r>
            <a:r>
              <a:rPr lang="nl-NL" sz="3100" b="1" dirty="0" err="1"/>
              <a:t>distributions</a:t>
            </a:r>
            <a:r>
              <a:rPr lang="nl-NL" sz="3100" b="1" dirty="0"/>
              <a:t> </a:t>
            </a:r>
            <a:r>
              <a:rPr lang="nl-NL" sz="3100" b="1" dirty="0" err="1"/>
              <a:t>using</a:t>
            </a:r>
            <a:r>
              <a:rPr lang="nl-NL" sz="3100" b="1" dirty="0"/>
              <a:t> summary data</a:t>
            </a:r>
            <a:endParaRPr lang="nl-NL" sz="3100" b="1" dirty="0"/>
          </a:p>
        </p:txBody>
      </p:sp>
      <p:sp>
        <p:nvSpPr>
          <p:cNvPr id="3" name="Content Placeholder 2"/>
          <p:cNvSpPr>
            <a:spLocks noGrp="1"/>
          </p:cNvSpPr>
          <p:nvPr>
            <p:ph idx="1"/>
          </p:nvPr>
        </p:nvSpPr>
        <p:spPr>
          <a:xfrm>
            <a:off x="702907" y="1567543"/>
            <a:ext cx="10873273" cy="4727510"/>
          </a:xfrm>
        </p:spPr>
        <p:txBody>
          <a:bodyPr/>
          <a:lstStyle/>
          <a:p>
            <a:pPr marL="0" indent="0">
              <a:buNone/>
            </a:pPr>
            <a:r>
              <a:rPr lang="nl-NL" dirty="0">
                <a:solidFill>
                  <a:srgbClr val="FF0000"/>
                </a:solidFill>
              </a:rPr>
              <a:t>install.packages('</a:t>
            </a:r>
            <a:r>
              <a:rPr lang="nl-NL" dirty="0" err="1">
                <a:solidFill>
                  <a:srgbClr val="FF0000"/>
                </a:solidFill>
              </a:rPr>
              <a:t>exactci</a:t>
            </a:r>
            <a:r>
              <a:rPr lang="nl-NL" dirty="0">
                <a:solidFill>
                  <a:srgbClr val="FF0000"/>
                </a:solidFill>
              </a:rPr>
              <a:t>')  </a:t>
            </a:r>
            <a:r>
              <a:rPr lang="nl-NL" sz="2400" dirty="0"/>
              <a:t># </a:t>
            </a:r>
            <a:r>
              <a:rPr lang="nl-NL" sz="2400" dirty="0" err="1"/>
              <a:t>this</a:t>
            </a:r>
            <a:r>
              <a:rPr lang="nl-NL" sz="2400" dirty="0"/>
              <a:t> </a:t>
            </a:r>
            <a:r>
              <a:rPr lang="nl-NL" sz="2400" dirty="0" err="1"/>
              <a:t>only</a:t>
            </a:r>
            <a:r>
              <a:rPr lang="nl-NL" sz="2400" dirty="0"/>
              <a:t> </a:t>
            </a:r>
            <a:r>
              <a:rPr lang="nl-NL" sz="2400" dirty="0" err="1"/>
              <a:t>needs</a:t>
            </a:r>
            <a:r>
              <a:rPr lang="nl-NL" sz="2400" dirty="0"/>
              <a:t> </a:t>
            </a:r>
            <a:r>
              <a:rPr lang="nl-NL" sz="2400" dirty="0" err="1"/>
              <a:t>to</a:t>
            </a:r>
            <a:r>
              <a:rPr lang="nl-NL" sz="2400" dirty="0"/>
              <a:t> </a:t>
            </a:r>
            <a:r>
              <a:rPr lang="nl-NL" sz="2400" dirty="0" err="1"/>
              <a:t>be</a:t>
            </a:r>
            <a:r>
              <a:rPr lang="nl-NL" sz="2400" dirty="0"/>
              <a:t> </a:t>
            </a:r>
            <a:r>
              <a:rPr lang="nl-NL" sz="2400" dirty="0" err="1"/>
              <a:t>done</a:t>
            </a:r>
            <a:r>
              <a:rPr lang="nl-NL" sz="2400" dirty="0"/>
              <a:t> </a:t>
            </a:r>
            <a:r>
              <a:rPr lang="nl-NL" sz="2400" dirty="0" err="1"/>
              <a:t>once</a:t>
            </a:r>
            <a:r>
              <a:rPr lang="nl-NL" sz="2400" dirty="0"/>
              <a:t> on </a:t>
            </a:r>
            <a:r>
              <a:rPr lang="nl-NL" sz="2400" dirty="0" err="1"/>
              <a:t>your</a:t>
            </a:r>
            <a:r>
              <a:rPr lang="nl-NL" sz="2400" dirty="0"/>
              <a:t> computer</a:t>
            </a:r>
            <a:endParaRPr lang="nl-NL" sz="2400" dirty="0"/>
          </a:p>
          <a:p>
            <a:pPr marL="0" indent="0">
              <a:buNone/>
            </a:pPr>
            <a:r>
              <a:rPr lang="nl-NL" dirty="0" err="1">
                <a:solidFill>
                  <a:srgbClr val="FF0000"/>
                </a:solidFill>
              </a:rPr>
              <a:t>library</a:t>
            </a:r>
            <a:r>
              <a:rPr lang="nl-NL" dirty="0">
                <a:solidFill>
                  <a:srgbClr val="FF0000"/>
                </a:solidFill>
              </a:rPr>
              <a:t>(</a:t>
            </a:r>
            <a:r>
              <a:rPr lang="nl-NL" dirty="0" err="1">
                <a:solidFill>
                  <a:srgbClr val="FF0000"/>
                </a:solidFill>
              </a:rPr>
              <a:t>exactci</a:t>
            </a:r>
            <a:r>
              <a:rPr lang="nl-NL" dirty="0">
                <a:solidFill>
                  <a:srgbClr val="FF0000"/>
                </a:solidFill>
              </a:rPr>
              <a:t>)		</a:t>
            </a:r>
            <a:r>
              <a:rPr lang="nl-NL" sz="2400" dirty="0"/>
              <a:t>  # </a:t>
            </a:r>
            <a:r>
              <a:rPr lang="nl-NL" sz="2400" dirty="0" err="1"/>
              <a:t>this</a:t>
            </a:r>
            <a:r>
              <a:rPr lang="nl-NL" sz="2400" dirty="0"/>
              <a:t> </a:t>
            </a:r>
            <a:r>
              <a:rPr lang="nl-NL" sz="2400" dirty="0" err="1"/>
              <a:t>needs</a:t>
            </a:r>
            <a:r>
              <a:rPr lang="nl-NL" sz="2400" dirty="0"/>
              <a:t> </a:t>
            </a:r>
            <a:r>
              <a:rPr lang="nl-NL" sz="2400" dirty="0" err="1"/>
              <a:t>to</a:t>
            </a:r>
            <a:r>
              <a:rPr lang="nl-NL" sz="2400" dirty="0"/>
              <a:t> </a:t>
            </a:r>
            <a:r>
              <a:rPr lang="nl-NL" sz="2400" dirty="0" err="1"/>
              <a:t>be</a:t>
            </a:r>
            <a:r>
              <a:rPr lang="nl-NL" sz="2400" dirty="0"/>
              <a:t> </a:t>
            </a:r>
            <a:r>
              <a:rPr lang="nl-NL" sz="2400" dirty="0" err="1"/>
              <a:t>done</a:t>
            </a:r>
            <a:r>
              <a:rPr lang="nl-NL" sz="2400" dirty="0"/>
              <a:t> </a:t>
            </a:r>
            <a:r>
              <a:rPr lang="nl-NL" sz="2400" dirty="0" err="1"/>
              <a:t>every</a:t>
            </a:r>
            <a:r>
              <a:rPr lang="nl-NL" sz="2400" dirty="0"/>
              <a:t> time </a:t>
            </a:r>
            <a:r>
              <a:rPr lang="nl-NL" sz="2400" dirty="0" err="1"/>
              <a:t>you</a:t>
            </a:r>
            <a:r>
              <a:rPr lang="nl-NL" sz="2400" dirty="0"/>
              <a:t> start R</a:t>
            </a:r>
            <a:endParaRPr lang="nl-NL" sz="2400" dirty="0"/>
          </a:p>
          <a:p>
            <a:pPr marL="0" indent="0">
              <a:buNone/>
            </a:pPr>
            <a:r>
              <a:rPr lang="nl-NL" sz="2400" dirty="0"/>
              <a:t>NOTE: </a:t>
            </a:r>
            <a:r>
              <a:rPr lang="nl-NL" sz="2400" dirty="0" err="1"/>
              <a:t>There</a:t>
            </a:r>
            <a:r>
              <a:rPr lang="nl-NL" sz="2400" dirty="0"/>
              <a:t> is </a:t>
            </a:r>
            <a:r>
              <a:rPr lang="nl-NL" sz="2400" dirty="0" err="1"/>
              <a:t>also</a:t>
            </a:r>
            <a:r>
              <a:rPr lang="nl-NL" sz="2400" dirty="0"/>
              <a:t> </a:t>
            </a:r>
            <a:r>
              <a:rPr lang="nl-NL" sz="2400" dirty="0" err="1"/>
              <a:t>the</a:t>
            </a:r>
            <a:r>
              <a:rPr lang="nl-NL" sz="2400" dirty="0"/>
              <a:t> package </a:t>
            </a:r>
            <a:r>
              <a:rPr lang="nl-NL" sz="2400" dirty="0" err="1"/>
              <a:t>BlakerCI</a:t>
            </a:r>
            <a:r>
              <a:rPr lang="nl-NL" sz="2400" dirty="0"/>
              <a:t>()</a:t>
            </a:r>
            <a:endParaRPr lang="nl-NL" sz="2400" dirty="0"/>
          </a:p>
          <a:p>
            <a:pPr marL="0" indent="0">
              <a:buNone/>
            </a:pPr>
            <a:endParaRPr lang="nl-NL" dirty="0"/>
          </a:p>
          <a:p>
            <a:pPr marL="0" indent="0">
              <a:buNone/>
            </a:pPr>
            <a:r>
              <a:rPr lang="nl-NL" dirty="0" err="1">
                <a:solidFill>
                  <a:srgbClr val="FF0000"/>
                </a:solidFill>
              </a:rPr>
              <a:t>binom.exact</a:t>
            </a:r>
            <a:r>
              <a:rPr lang="nl-NL" dirty="0">
                <a:solidFill>
                  <a:srgbClr val="FF0000"/>
                </a:solidFill>
              </a:rPr>
              <a:t>(19, 25, </a:t>
            </a:r>
            <a:r>
              <a:rPr lang="nl-NL" dirty="0" err="1">
                <a:solidFill>
                  <a:srgbClr val="FF0000"/>
                </a:solidFill>
              </a:rPr>
              <a:t>tsmethod</a:t>
            </a:r>
            <a:r>
              <a:rPr lang="nl-NL" dirty="0">
                <a:solidFill>
                  <a:srgbClr val="FF0000"/>
                </a:solidFill>
              </a:rPr>
              <a:t>='blaker', </a:t>
            </a:r>
            <a:r>
              <a:rPr lang="nl-NL" dirty="0" err="1">
                <a:solidFill>
                  <a:srgbClr val="FF0000"/>
                </a:solidFill>
              </a:rPr>
              <a:t>conf.level</a:t>
            </a:r>
            <a:r>
              <a:rPr lang="nl-NL" dirty="0">
                <a:solidFill>
                  <a:srgbClr val="FF0000"/>
                </a:solidFill>
              </a:rPr>
              <a:t>=0.99)</a:t>
            </a:r>
            <a:endParaRPr lang="nl-NL" dirty="0">
              <a:solidFill>
                <a:srgbClr val="FF0000"/>
              </a:solidFill>
            </a:endParaRPr>
          </a:p>
          <a:p>
            <a:pPr marL="0" indent="0">
              <a:buNone/>
            </a:pPr>
            <a:r>
              <a:rPr lang="nl-NL" dirty="0"/>
              <a:t># s = 19, n = 25</a:t>
            </a:r>
            <a:endParaRPr lang="nl-NL" dirty="0"/>
          </a:p>
          <a:p>
            <a:pPr marL="0" indent="0">
              <a:buNone/>
            </a:pPr>
            <a:endParaRPr lang="nl-NL" dirty="0"/>
          </a:p>
          <a:p>
            <a:pPr marL="0" indent="0">
              <a:buNone/>
            </a:pPr>
            <a:r>
              <a:rPr lang="nl-NL" dirty="0" err="1">
                <a:solidFill>
                  <a:srgbClr val="FF0000"/>
                </a:solidFill>
              </a:rPr>
              <a:t>poisson.exact</a:t>
            </a:r>
            <a:r>
              <a:rPr lang="nl-NL" dirty="0">
                <a:solidFill>
                  <a:srgbClr val="FF0000"/>
                </a:solidFill>
              </a:rPr>
              <a:t>(7, T=2, </a:t>
            </a:r>
            <a:r>
              <a:rPr lang="nl-NL" dirty="0" err="1">
                <a:solidFill>
                  <a:srgbClr val="FF0000"/>
                </a:solidFill>
              </a:rPr>
              <a:t>tsmethod</a:t>
            </a:r>
            <a:r>
              <a:rPr lang="nl-NL" dirty="0">
                <a:solidFill>
                  <a:srgbClr val="FF0000"/>
                </a:solidFill>
              </a:rPr>
              <a:t>='blaker', </a:t>
            </a:r>
            <a:r>
              <a:rPr lang="nl-NL" dirty="0" err="1">
                <a:solidFill>
                  <a:srgbClr val="FF0000"/>
                </a:solidFill>
              </a:rPr>
              <a:t>conf.level</a:t>
            </a:r>
            <a:r>
              <a:rPr lang="nl-NL" dirty="0">
                <a:solidFill>
                  <a:srgbClr val="FF0000"/>
                </a:solidFill>
              </a:rPr>
              <a:t> = .99)</a:t>
            </a:r>
            <a:endParaRPr lang="nl-NL" dirty="0">
              <a:solidFill>
                <a:srgbClr val="FF0000"/>
              </a:solidFill>
            </a:endParaRPr>
          </a:p>
          <a:p>
            <a:pPr marL="0" indent="0">
              <a:buNone/>
            </a:pPr>
            <a:r>
              <a:rPr lang="nl-NL" dirty="0"/>
              <a:t># event = 7, time </a:t>
            </a:r>
            <a:r>
              <a:rPr lang="nl-NL" dirty="0" err="1"/>
              <a:t>scale</a:t>
            </a:r>
            <a:r>
              <a:rPr lang="nl-NL" dirty="0"/>
              <a:t> = 2</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a:bodyPr>
          <a:lstStyle/>
          <a:p>
            <a:pPr algn="ctr"/>
            <a:r>
              <a:rPr lang="nl-NL" b="1" dirty="0"/>
              <a:t>CIs for a </a:t>
            </a:r>
            <a:r>
              <a:rPr lang="nl-NL" b="1" dirty="0" err="1"/>
              <a:t>difference</a:t>
            </a:r>
            <a:endParaRPr lang="nl-NL" sz="2800" b="1" dirty="0"/>
          </a:p>
        </p:txBody>
      </p:sp>
      <p:sp>
        <p:nvSpPr>
          <p:cNvPr id="3" name="Content Placeholder 2"/>
          <p:cNvSpPr>
            <a:spLocks noGrp="1"/>
          </p:cNvSpPr>
          <p:nvPr>
            <p:ph idx="1"/>
          </p:nvPr>
        </p:nvSpPr>
        <p:spPr>
          <a:xfrm>
            <a:off x="838200" y="1461796"/>
            <a:ext cx="10515600" cy="4795935"/>
          </a:xfrm>
        </p:spPr>
        <p:txBody>
          <a:bodyPr>
            <a:normAutofit fontScale="92500" lnSpcReduction="10000"/>
          </a:bodyPr>
          <a:lstStyle/>
          <a:p>
            <a:r>
              <a:rPr lang="nl-NL" dirty="0"/>
              <a:t>CIs </a:t>
            </a:r>
            <a:r>
              <a:rPr lang="nl-NL" dirty="0" err="1"/>
              <a:t>can</a:t>
            </a:r>
            <a:r>
              <a:rPr lang="nl-NL" dirty="0"/>
              <a:t> </a:t>
            </a:r>
            <a:r>
              <a:rPr lang="nl-NL" dirty="0" err="1"/>
              <a:t>also</a:t>
            </a:r>
            <a:r>
              <a:rPr lang="nl-NL" dirty="0"/>
              <a:t> </a:t>
            </a:r>
            <a:r>
              <a:rPr lang="nl-NL" dirty="0" err="1"/>
              <a:t>be</a:t>
            </a:r>
            <a:r>
              <a:rPr lang="nl-NL" dirty="0"/>
              <a:t> </a:t>
            </a:r>
            <a:r>
              <a:rPr lang="nl-NL" dirty="0" err="1"/>
              <a:t>constructed</a:t>
            </a:r>
            <a:r>
              <a:rPr lang="nl-NL" dirty="0"/>
              <a:t> for </a:t>
            </a:r>
            <a:r>
              <a:rPr lang="nl-NL" dirty="0" err="1"/>
              <a:t>the</a:t>
            </a:r>
            <a:r>
              <a:rPr lang="nl-NL" dirty="0"/>
              <a:t> </a:t>
            </a:r>
            <a:r>
              <a:rPr lang="nl-NL" dirty="0" err="1"/>
              <a:t>difference</a:t>
            </a:r>
            <a:r>
              <a:rPr lang="nl-NL" dirty="0"/>
              <a:t> </a:t>
            </a:r>
            <a:r>
              <a:rPr lang="nl-NL" dirty="0" err="1"/>
              <a:t>between</a:t>
            </a:r>
            <a:r>
              <a:rPr lang="nl-NL" dirty="0"/>
              <a:t> two parameters (i.e., 2 means, 2 </a:t>
            </a:r>
            <a:r>
              <a:rPr lang="nl-NL" dirty="0" err="1"/>
              <a:t>variances</a:t>
            </a:r>
            <a:r>
              <a:rPr lang="nl-NL" dirty="0"/>
              <a:t>, etc.)</a:t>
            </a:r>
            <a:endParaRPr lang="nl-NL" dirty="0"/>
          </a:p>
          <a:p>
            <a:pPr lvl="2"/>
            <a:endParaRPr lang="nl-NL" b="1" dirty="0"/>
          </a:p>
          <a:p>
            <a:r>
              <a:rPr lang="nl-NL" b="1" dirty="0" err="1"/>
              <a:t>Variance</a:t>
            </a:r>
            <a:r>
              <a:rPr lang="nl-NL" b="1" dirty="0"/>
              <a:t> </a:t>
            </a:r>
            <a:r>
              <a:rPr lang="nl-NL" b="1" dirty="0" err="1"/>
              <a:t>sum</a:t>
            </a:r>
            <a:r>
              <a:rPr lang="nl-NL" b="1" dirty="0"/>
              <a:t> </a:t>
            </a:r>
            <a:r>
              <a:rPr lang="nl-NL" b="1" dirty="0" err="1"/>
              <a:t>law</a:t>
            </a:r>
            <a:r>
              <a:rPr lang="nl-NL" b="1" dirty="0"/>
              <a:t> </a:t>
            </a:r>
            <a:r>
              <a:rPr lang="nl-NL" dirty="0" err="1"/>
              <a:t>states</a:t>
            </a:r>
            <a:r>
              <a:rPr lang="nl-NL" dirty="0"/>
              <a:t> </a:t>
            </a:r>
            <a:r>
              <a:rPr lang="nl-NL" dirty="0" err="1"/>
              <a:t>that</a:t>
            </a:r>
            <a:r>
              <a:rPr lang="nl-NL" dirty="0"/>
              <a:t> </a:t>
            </a:r>
            <a:r>
              <a:rPr lang="nl-NL" dirty="0" err="1"/>
              <a:t>the</a:t>
            </a:r>
            <a:r>
              <a:rPr lang="nl-NL" dirty="0"/>
              <a:t> </a:t>
            </a:r>
            <a:r>
              <a:rPr lang="nl-NL" dirty="0" err="1"/>
              <a:t>variance</a:t>
            </a:r>
            <a:r>
              <a:rPr lang="nl-NL" dirty="0"/>
              <a:t> of a </a:t>
            </a:r>
            <a:r>
              <a:rPr lang="nl-NL" dirty="0" err="1"/>
              <a:t>sum</a:t>
            </a:r>
            <a:r>
              <a:rPr lang="nl-NL" dirty="0"/>
              <a:t> or </a:t>
            </a:r>
            <a:r>
              <a:rPr lang="nl-NL" dirty="0" err="1"/>
              <a:t>difference</a:t>
            </a:r>
            <a:r>
              <a:rPr lang="nl-NL" dirty="0"/>
              <a:t> </a:t>
            </a:r>
            <a:r>
              <a:rPr lang="nl-NL" dirty="0" err="1"/>
              <a:t>between</a:t>
            </a:r>
            <a:r>
              <a:rPr lang="nl-NL" dirty="0"/>
              <a:t> two variables is </a:t>
            </a:r>
            <a:r>
              <a:rPr lang="nl-NL" dirty="0" err="1"/>
              <a:t>equal</a:t>
            </a:r>
            <a:r>
              <a:rPr lang="nl-NL" dirty="0"/>
              <a:t> </a:t>
            </a:r>
            <a:r>
              <a:rPr lang="nl-NL" dirty="0" err="1"/>
              <a:t>to</a:t>
            </a:r>
            <a:r>
              <a:rPr lang="nl-NL" dirty="0"/>
              <a:t> </a:t>
            </a:r>
            <a:r>
              <a:rPr lang="nl-NL" dirty="0" err="1"/>
              <a:t>the</a:t>
            </a:r>
            <a:r>
              <a:rPr lang="nl-NL" dirty="0"/>
              <a:t> </a:t>
            </a:r>
            <a:r>
              <a:rPr lang="nl-NL" dirty="0" err="1"/>
              <a:t>sum</a:t>
            </a:r>
            <a:r>
              <a:rPr lang="nl-NL" dirty="0"/>
              <a:t> of </a:t>
            </a:r>
            <a:r>
              <a:rPr lang="nl-NL" dirty="0" err="1"/>
              <a:t>their</a:t>
            </a:r>
            <a:r>
              <a:rPr lang="nl-NL" dirty="0"/>
              <a:t> </a:t>
            </a:r>
            <a:r>
              <a:rPr lang="nl-NL" dirty="0" err="1"/>
              <a:t>variance</a:t>
            </a:r>
            <a:r>
              <a:rPr lang="nl-NL" dirty="0"/>
              <a:t> plus or minus </a:t>
            </a:r>
            <a:r>
              <a:rPr lang="nl-NL" dirty="0" err="1"/>
              <a:t>twice</a:t>
            </a:r>
            <a:r>
              <a:rPr lang="nl-NL" dirty="0"/>
              <a:t> </a:t>
            </a:r>
            <a:r>
              <a:rPr lang="nl-NL" dirty="0" err="1"/>
              <a:t>their</a:t>
            </a:r>
            <a:r>
              <a:rPr lang="nl-NL" dirty="0"/>
              <a:t> </a:t>
            </a:r>
            <a:r>
              <a:rPr lang="nl-NL" dirty="0" err="1"/>
              <a:t>covariance</a:t>
            </a:r>
            <a:endParaRPr lang="nl-NL" dirty="0"/>
          </a:p>
          <a:p>
            <a:endParaRPr lang="nl-NL" dirty="0"/>
          </a:p>
          <a:p>
            <a:pPr lvl="1"/>
            <a:r>
              <a:rPr lang="nl-NL" dirty="0"/>
              <a:t>If x </a:t>
            </a:r>
            <a:r>
              <a:rPr lang="nl-NL" dirty="0" err="1"/>
              <a:t>and</a:t>
            </a:r>
            <a:r>
              <a:rPr lang="nl-NL" dirty="0"/>
              <a:t> y are </a:t>
            </a:r>
            <a:r>
              <a:rPr lang="nl-NL" dirty="0" err="1"/>
              <a:t>uncorrelated</a:t>
            </a:r>
            <a:r>
              <a:rPr lang="nl-NL" dirty="0"/>
              <a:t>, </a:t>
            </a:r>
            <a:r>
              <a:rPr lang="nl-NL" dirty="0" err="1"/>
              <a:t>then</a:t>
            </a:r>
            <a:endParaRPr lang="nl-NL" dirty="0"/>
          </a:p>
          <a:p>
            <a:pPr lvl="1"/>
            <a:endParaRPr lang="nl-NL" dirty="0"/>
          </a:p>
          <a:p>
            <a:r>
              <a:rPr lang="nl-NL" dirty="0" err="1"/>
              <a:t>To</a:t>
            </a:r>
            <a:r>
              <a:rPr lang="nl-NL" dirty="0"/>
              <a:t> </a:t>
            </a:r>
            <a:r>
              <a:rPr lang="nl-NL" dirty="0" err="1"/>
              <a:t>calculate</a:t>
            </a:r>
            <a:r>
              <a:rPr lang="nl-NL" dirty="0"/>
              <a:t> </a:t>
            </a:r>
            <a:r>
              <a:rPr lang="nl-NL" dirty="0" err="1"/>
              <a:t>the</a:t>
            </a:r>
            <a:r>
              <a:rPr lang="nl-NL" dirty="0"/>
              <a:t> SE for a (</a:t>
            </a:r>
            <a:r>
              <a:rPr lang="nl-NL" dirty="0" err="1"/>
              <a:t>sum</a:t>
            </a:r>
            <a:r>
              <a:rPr lang="nl-NL" dirty="0"/>
              <a:t> or) </a:t>
            </a:r>
            <a:r>
              <a:rPr lang="nl-NL" dirty="0" err="1"/>
              <a:t>difference</a:t>
            </a:r>
            <a:r>
              <a:rPr lang="nl-NL" dirty="0"/>
              <a:t>, </a:t>
            </a:r>
            <a:r>
              <a:rPr lang="nl-NL" dirty="0" err="1"/>
              <a:t>an</a:t>
            </a:r>
            <a:r>
              <a:rPr lang="nl-NL" dirty="0"/>
              <a:t> </a:t>
            </a:r>
            <a:r>
              <a:rPr lang="nl-NL" dirty="0" err="1"/>
              <a:t>estimate</a:t>
            </a:r>
            <a:r>
              <a:rPr lang="nl-NL" dirty="0"/>
              <a:t> of </a:t>
            </a:r>
            <a:r>
              <a:rPr lang="nl-NL" dirty="0" err="1"/>
              <a:t>the</a:t>
            </a:r>
            <a:r>
              <a:rPr lang="nl-NL" dirty="0"/>
              <a:t> “</a:t>
            </a:r>
            <a:r>
              <a:rPr lang="nl-NL" dirty="0" err="1"/>
              <a:t>pooled</a:t>
            </a:r>
            <a:r>
              <a:rPr lang="nl-NL" dirty="0"/>
              <a:t>” </a:t>
            </a:r>
            <a:r>
              <a:rPr lang="nl-NL" dirty="0" err="1"/>
              <a:t>variance</a:t>
            </a:r>
            <a:r>
              <a:rPr lang="nl-NL" dirty="0"/>
              <a:t> is </a:t>
            </a:r>
            <a:r>
              <a:rPr lang="nl-NL" dirty="0" err="1"/>
              <a:t>needed</a:t>
            </a:r>
            <a:endParaRPr lang="nl-NL" dirty="0"/>
          </a:p>
          <a:p>
            <a:pPr lvl="1"/>
            <a:r>
              <a:rPr lang="nl-NL" dirty="0"/>
              <a:t>If </a:t>
            </a:r>
            <a:r>
              <a:rPr lang="nl-NL" dirty="0" err="1"/>
              <a:t>variances</a:t>
            </a:r>
            <a:r>
              <a:rPr lang="nl-NL" dirty="0"/>
              <a:t> are </a:t>
            </a:r>
            <a:r>
              <a:rPr lang="nl-NL" dirty="0" err="1"/>
              <a:t>not</a:t>
            </a:r>
            <a:r>
              <a:rPr lang="nl-NL" dirty="0"/>
              <a:t> </a:t>
            </a:r>
            <a:r>
              <a:rPr lang="nl-NL" dirty="0" err="1"/>
              <a:t>equal</a:t>
            </a:r>
            <a:r>
              <a:rPr lang="nl-NL" dirty="0"/>
              <a:t> (Behrens-Fisher </a:t>
            </a:r>
            <a:r>
              <a:rPr lang="nl-NL" dirty="0" err="1"/>
              <a:t>problem</a:t>
            </a:r>
            <a:r>
              <a:rPr lang="nl-NL" dirty="0"/>
              <a:t>), </a:t>
            </a:r>
            <a:r>
              <a:rPr lang="nl-NL" dirty="0" err="1"/>
              <a:t>then</a:t>
            </a:r>
            <a:r>
              <a:rPr lang="nl-NL" dirty="0"/>
              <a:t> </a:t>
            </a:r>
            <a:r>
              <a:rPr lang="nl-NL" dirty="0" err="1"/>
              <a:t>the</a:t>
            </a:r>
            <a:r>
              <a:rPr lang="nl-NL" dirty="0"/>
              <a:t> </a:t>
            </a:r>
            <a:r>
              <a:rPr lang="nl-NL" b="1" dirty="0" err="1"/>
              <a:t>Welch-Satterthwaite</a:t>
            </a:r>
            <a:r>
              <a:rPr lang="nl-NL" b="1" dirty="0"/>
              <a:t> </a:t>
            </a:r>
            <a:r>
              <a:rPr lang="nl-NL" dirty="0" err="1"/>
              <a:t>correction</a:t>
            </a:r>
            <a:r>
              <a:rPr lang="nl-NL" dirty="0"/>
              <a:t> </a:t>
            </a:r>
            <a:r>
              <a:rPr lang="nl-NL" dirty="0" err="1"/>
              <a:t>should</a:t>
            </a:r>
            <a:r>
              <a:rPr lang="nl-NL" dirty="0"/>
              <a:t> </a:t>
            </a:r>
            <a:r>
              <a:rPr lang="nl-NL" dirty="0" err="1"/>
              <a:t>be</a:t>
            </a:r>
            <a:r>
              <a:rPr lang="nl-NL" dirty="0"/>
              <a:t> </a:t>
            </a:r>
            <a:r>
              <a:rPr lang="nl-NL" dirty="0" err="1"/>
              <a:t>applied</a:t>
            </a:r>
            <a:r>
              <a:rPr lang="nl-NL" dirty="0"/>
              <a:t> </a:t>
            </a:r>
            <a:r>
              <a:rPr lang="nl-NL" dirty="0" err="1"/>
              <a:t>to</a:t>
            </a:r>
            <a:r>
              <a:rPr lang="nl-NL" dirty="0"/>
              <a:t> </a:t>
            </a:r>
            <a:r>
              <a:rPr lang="nl-NL" dirty="0" err="1"/>
              <a:t>adjust</a:t>
            </a:r>
            <a:r>
              <a:rPr lang="nl-NL" dirty="0"/>
              <a:t> </a:t>
            </a:r>
            <a:r>
              <a:rPr lang="nl-NL" dirty="0" err="1"/>
              <a:t>the</a:t>
            </a:r>
            <a:r>
              <a:rPr lang="nl-NL" dirty="0"/>
              <a:t> </a:t>
            </a:r>
            <a:r>
              <a:rPr lang="nl-NL" dirty="0" err="1"/>
              <a:t>df</a:t>
            </a:r>
            <a:r>
              <a:rPr lang="nl-NL" dirty="0"/>
              <a:t>.</a:t>
            </a:r>
            <a:endParaRPr lang="nl-NL"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pic>
        <p:nvPicPr>
          <p:cNvPr id="2050" name="Picture 2" descr="http://onlinestatbook.com/chapter3/graphics/variance_sum_general.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78125" y="3859763"/>
            <a:ext cx="1944446" cy="55371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onlinestatbook.com/chapter4/graphics/var_sum_cor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030" y="3242564"/>
            <a:ext cx="3490318" cy="5629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fontScale="90000"/>
          </a:bodyPr>
          <a:lstStyle/>
          <a:p>
            <a:pPr algn="ctr"/>
            <a:r>
              <a:rPr lang="nl-NL" b="1" dirty="0"/>
              <a:t>How </a:t>
            </a:r>
            <a:r>
              <a:rPr lang="nl-NL" b="1" dirty="0" err="1"/>
              <a:t>to</a:t>
            </a:r>
            <a:r>
              <a:rPr lang="nl-NL" b="1" dirty="0"/>
              <a:t> </a:t>
            </a:r>
            <a:r>
              <a:rPr lang="nl-NL" b="1" dirty="0" err="1"/>
              <a:t>calculate</a:t>
            </a:r>
            <a:r>
              <a:rPr lang="nl-NL" b="1" dirty="0"/>
              <a:t> CIs for </a:t>
            </a:r>
            <a:r>
              <a:rPr lang="nl-NL" b="1" dirty="0" err="1"/>
              <a:t>differences</a:t>
            </a:r>
            <a:r>
              <a:rPr lang="nl-NL" b="1" dirty="0"/>
              <a:t>?</a:t>
            </a:r>
            <a:br>
              <a:rPr lang="nl-NL" b="1" dirty="0"/>
            </a:br>
            <a:r>
              <a:rPr lang="nl-NL" sz="2800" b="1" i="1" dirty="0"/>
              <a:t>SIDEBAR: Always </a:t>
            </a:r>
            <a:r>
              <a:rPr lang="nl-NL" sz="2800" b="1" i="1" dirty="0" err="1"/>
              <a:t>visually</a:t>
            </a:r>
            <a:r>
              <a:rPr lang="nl-NL" sz="2800" b="1" i="1" dirty="0"/>
              <a:t> and </a:t>
            </a:r>
            <a:r>
              <a:rPr lang="nl-NL" sz="2800" b="1" i="1" dirty="0" err="1"/>
              <a:t>numerically</a:t>
            </a:r>
            <a:r>
              <a:rPr lang="nl-NL" sz="2800" b="1" i="1" dirty="0"/>
              <a:t> </a:t>
            </a:r>
            <a:r>
              <a:rPr lang="nl-NL" sz="2800" b="1" i="1" dirty="0" err="1"/>
              <a:t>inspect</a:t>
            </a:r>
            <a:r>
              <a:rPr lang="nl-NL" sz="2800" b="1" i="1" dirty="0"/>
              <a:t> new data!</a:t>
            </a:r>
            <a:endParaRPr lang="nl-NL" sz="2800" b="1" dirty="0"/>
          </a:p>
        </p:txBody>
      </p:sp>
      <p:sp>
        <p:nvSpPr>
          <p:cNvPr id="3" name="Content Placeholder 2"/>
          <p:cNvSpPr>
            <a:spLocks noGrp="1"/>
          </p:cNvSpPr>
          <p:nvPr>
            <p:ph idx="1"/>
          </p:nvPr>
        </p:nvSpPr>
        <p:spPr>
          <a:xfrm>
            <a:off x="702907" y="1449354"/>
            <a:ext cx="10873273" cy="5161419"/>
          </a:xfrm>
        </p:spPr>
        <p:txBody>
          <a:bodyPr>
            <a:normAutofit fontScale="77500" lnSpcReduction="20000"/>
          </a:bodyPr>
          <a:lstStyle/>
          <a:p>
            <a:r>
              <a:rPr lang="nl-NL" b="1" dirty="0"/>
              <a:t>Inspect data </a:t>
            </a:r>
            <a:r>
              <a:rPr lang="nl-NL" b="1" dirty="0" err="1"/>
              <a:t>objects</a:t>
            </a:r>
            <a:r>
              <a:rPr lang="nl-NL" b="1" dirty="0"/>
              <a:t> </a:t>
            </a:r>
            <a:r>
              <a:rPr lang="nl-NL" b="1" dirty="0" err="1"/>
              <a:t>visually</a:t>
            </a:r>
            <a:endParaRPr lang="nl-NL" b="1" dirty="0"/>
          </a:p>
          <a:p>
            <a:pPr marL="0" indent="0">
              <a:buNone/>
            </a:pPr>
            <a:r>
              <a:rPr lang="en-US" dirty="0" err="1">
                <a:solidFill>
                  <a:srgbClr val="FF0000"/>
                </a:solidFill>
              </a:rPr>
              <a:t>densityplot</a:t>
            </a:r>
            <a:r>
              <a:rPr lang="en-US" dirty="0">
                <a:solidFill>
                  <a:srgbClr val="FF0000"/>
                </a:solidFill>
              </a:rPr>
              <a:t>(bp2000$percent_accuracy, </a:t>
            </a:r>
            <a:endParaRPr lang="en-US" dirty="0">
              <a:solidFill>
                <a:srgbClr val="FF0000"/>
              </a:solidFill>
            </a:endParaRPr>
          </a:p>
          <a:p>
            <a:pPr marL="0" indent="0">
              <a:buNone/>
            </a:pPr>
            <a:r>
              <a:rPr lang="en-US" dirty="0">
                <a:solidFill>
                  <a:srgbClr val="FF0000"/>
                </a:solidFill>
              </a:rPr>
              <a:t>group = bp2000$group)</a:t>
            </a:r>
            <a:endParaRPr lang="en-US" dirty="0">
              <a:solidFill>
                <a:srgbClr val="FF0000"/>
              </a:solidFill>
            </a:endParaRPr>
          </a:p>
          <a:p>
            <a:endParaRPr lang="en-US" b="1" dirty="0"/>
          </a:p>
          <a:p>
            <a:endParaRPr lang="en-US" b="1" dirty="0"/>
          </a:p>
          <a:p>
            <a:pPr marL="0" indent="0">
              <a:buNone/>
            </a:pPr>
            <a:endParaRPr lang="nl-NL" b="1" dirty="0"/>
          </a:p>
          <a:p>
            <a:r>
              <a:rPr lang="nl-NL" b="1" dirty="0"/>
              <a:t>Inspect data </a:t>
            </a:r>
            <a:r>
              <a:rPr lang="nl-NL" b="1" dirty="0" err="1"/>
              <a:t>objects</a:t>
            </a:r>
            <a:r>
              <a:rPr lang="nl-NL" b="1" dirty="0"/>
              <a:t> </a:t>
            </a:r>
            <a:r>
              <a:rPr lang="nl-NL" b="1" dirty="0" err="1"/>
              <a:t>numerically</a:t>
            </a:r>
            <a:endParaRPr lang="nl-NL" b="1" dirty="0"/>
          </a:p>
          <a:p>
            <a:pPr marL="0" indent="0">
              <a:buNone/>
            </a:pPr>
            <a:r>
              <a:rPr lang="nl-NL" dirty="0">
                <a:solidFill>
                  <a:srgbClr val="FF0000"/>
                </a:solidFill>
              </a:rPr>
              <a:t>by(bp2000$percent_accuracy, bp2000$group, </a:t>
            </a:r>
            <a:r>
              <a:rPr lang="nl-NL" dirty="0" err="1">
                <a:solidFill>
                  <a:srgbClr val="FF0000"/>
                </a:solidFill>
              </a:rPr>
              <a:t>stat.desc</a:t>
            </a:r>
            <a:r>
              <a:rPr lang="nl-NL" dirty="0">
                <a:solidFill>
                  <a:srgbClr val="FF0000"/>
                </a:solidFill>
              </a:rPr>
              <a:t>, basic = F, norm = T)</a:t>
            </a:r>
            <a:endParaRPr lang="nl-NL" dirty="0">
              <a:solidFill>
                <a:srgbClr val="FF0000"/>
              </a:solidFill>
            </a:endParaRPr>
          </a:p>
          <a:p>
            <a:pPr marL="0" indent="0">
              <a:buNone/>
            </a:pPr>
            <a:r>
              <a:rPr lang="nl-NL" sz="2000" dirty="0"/>
              <a:t>bp2000$group: low </a:t>
            </a:r>
            <a:r>
              <a:rPr lang="nl-NL" sz="2000" dirty="0" err="1"/>
              <a:t>study</a:t>
            </a:r>
            <a:endParaRPr lang="nl-NL" sz="2000" dirty="0"/>
          </a:p>
          <a:p>
            <a:pPr marL="0" indent="0">
              <a:buNone/>
            </a:pPr>
            <a:r>
              <a:rPr lang="nl-NL" sz="1900" dirty="0" err="1"/>
              <a:t>median</a:t>
            </a:r>
            <a:r>
              <a:rPr lang="nl-NL" sz="1900" dirty="0"/>
              <a:t>   </a:t>
            </a:r>
            <a:r>
              <a:rPr lang="nl-NL" sz="1900" dirty="0" err="1"/>
              <a:t>mean</a:t>
            </a:r>
            <a:r>
              <a:rPr lang="nl-NL" sz="1900" dirty="0"/>
              <a:t>  </a:t>
            </a:r>
            <a:r>
              <a:rPr lang="nl-NL" sz="1900" dirty="0" err="1"/>
              <a:t>SE.mean</a:t>
            </a:r>
            <a:r>
              <a:rPr lang="nl-NL" sz="1900" dirty="0"/>
              <a:t>  CI.mean.0.95  </a:t>
            </a:r>
            <a:r>
              <a:rPr lang="nl-NL" sz="1900" dirty="0">
                <a:solidFill>
                  <a:srgbClr val="FF0000"/>
                </a:solidFill>
              </a:rPr>
              <a:t> var   </a:t>
            </a:r>
            <a:r>
              <a:rPr lang="nl-NL" sz="1900" dirty="0" err="1"/>
              <a:t>std.dev</a:t>
            </a:r>
            <a:r>
              <a:rPr lang="nl-NL" sz="1900" dirty="0"/>
              <a:t>  </a:t>
            </a:r>
            <a:r>
              <a:rPr lang="nl-NL" sz="1900" dirty="0" err="1"/>
              <a:t>coef.var</a:t>
            </a:r>
            <a:r>
              <a:rPr lang="nl-NL" sz="1900" dirty="0"/>
              <a:t>  </a:t>
            </a:r>
            <a:r>
              <a:rPr lang="nl-NL" sz="1900" dirty="0" err="1"/>
              <a:t>skewness</a:t>
            </a:r>
            <a:r>
              <a:rPr lang="nl-NL" sz="1900" dirty="0"/>
              <a:t>  </a:t>
            </a:r>
            <a:r>
              <a:rPr lang="nl-NL" sz="1900" dirty="0">
                <a:solidFill>
                  <a:srgbClr val="FF0000"/>
                </a:solidFill>
              </a:rPr>
              <a:t>skew.2SE</a:t>
            </a:r>
            <a:r>
              <a:rPr lang="nl-NL" sz="1900" dirty="0"/>
              <a:t>  </a:t>
            </a:r>
            <a:r>
              <a:rPr lang="nl-NL" sz="1900" dirty="0" err="1"/>
              <a:t>kurtosis</a:t>
            </a:r>
            <a:r>
              <a:rPr lang="nl-NL" sz="1900" dirty="0"/>
              <a:t>  </a:t>
            </a:r>
            <a:r>
              <a:rPr lang="nl-NL" sz="1900" dirty="0">
                <a:solidFill>
                  <a:srgbClr val="FF0000"/>
                </a:solidFill>
              </a:rPr>
              <a:t>kurt.2SE </a:t>
            </a:r>
            <a:r>
              <a:rPr lang="nl-NL" sz="1900" dirty="0"/>
              <a:t>   </a:t>
            </a:r>
            <a:r>
              <a:rPr lang="nl-NL" sz="1900" dirty="0" err="1"/>
              <a:t>normtest.W</a:t>
            </a:r>
            <a:r>
              <a:rPr lang="nl-NL" sz="1900" dirty="0"/>
              <a:t>    </a:t>
            </a:r>
            <a:r>
              <a:rPr lang="nl-NL" sz="1900" dirty="0" err="1"/>
              <a:t>normtest.p</a:t>
            </a:r>
            <a:r>
              <a:rPr lang="nl-NL" sz="1900" dirty="0"/>
              <a:t> </a:t>
            </a:r>
            <a:endParaRPr lang="nl-NL" sz="1900" dirty="0"/>
          </a:p>
          <a:p>
            <a:pPr marL="0" indent="0">
              <a:buNone/>
            </a:pPr>
            <a:r>
              <a:rPr lang="nl-NL" sz="2000" dirty="0"/>
              <a:t> 81.25     74.10   4.54            9.32       </a:t>
            </a:r>
            <a:r>
              <a:rPr lang="nl-NL" sz="2000" dirty="0">
                <a:solidFill>
                  <a:srgbClr val="FF0000"/>
                </a:solidFill>
              </a:rPr>
              <a:t>577.87</a:t>
            </a:r>
            <a:r>
              <a:rPr lang="nl-NL" sz="2000" dirty="0"/>
              <a:t>  24.03   0.32         -0.86         </a:t>
            </a:r>
            <a:r>
              <a:rPr lang="nl-NL" sz="2000" dirty="0">
                <a:solidFill>
                  <a:srgbClr val="FF0000"/>
                </a:solidFill>
              </a:rPr>
              <a:t>-0.98      </a:t>
            </a:r>
            <a:r>
              <a:rPr lang="nl-NL" sz="2000" dirty="0"/>
              <a:t>-0.18      </a:t>
            </a:r>
            <a:r>
              <a:rPr lang="nl-NL" sz="2000" dirty="0">
                <a:solidFill>
                  <a:srgbClr val="FF0000"/>
                </a:solidFill>
              </a:rPr>
              <a:t> -0.10           </a:t>
            </a:r>
            <a:r>
              <a:rPr lang="nl-NL" sz="2000" dirty="0"/>
              <a:t>0.88            0.00 </a:t>
            </a:r>
            <a:endParaRPr lang="nl-NL" sz="2000" dirty="0"/>
          </a:p>
          <a:p>
            <a:pPr marL="0" indent="0">
              <a:buNone/>
            </a:pPr>
            <a:r>
              <a:rPr lang="nl-NL" sz="2000" dirty="0"/>
              <a:t>---------------------------------------------------------------------------------------------------------------------------------------------------------- </a:t>
            </a:r>
            <a:endParaRPr lang="nl-NL" sz="2000" dirty="0"/>
          </a:p>
          <a:p>
            <a:pPr marL="0" indent="0">
              <a:buNone/>
            </a:pPr>
            <a:r>
              <a:rPr lang="nl-NL" sz="2000" dirty="0"/>
              <a:t>bp2000$group: high </a:t>
            </a:r>
            <a:r>
              <a:rPr lang="nl-NL" sz="2000" dirty="0" err="1"/>
              <a:t>study</a:t>
            </a:r>
            <a:endParaRPr lang="nl-NL" sz="2000" dirty="0"/>
          </a:p>
          <a:p>
            <a:pPr marL="0" indent="0">
              <a:buNone/>
            </a:pPr>
            <a:r>
              <a:rPr lang="nl-NL" sz="1900" dirty="0" err="1"/>
              <a:t>median</a:t>
            </a:r>
            <a:r>
              <a:rPr lang="nl-NL" sz="1900" dirty="0"/>
              <a:t>   </a:t>
            </a:r>
            <a:r>
              <a:rPr lang="nl-NL" sz="1900" dirty="0" err="1"/>
              <a:t>mean</a:t>
            </a:r>
            <a:r>
              <a:rPr lang="nl-NL" sz="1900" dirty="0"/>
              <a:t>  </a:t>
            </a:r>
            <a:r>
              <a:rPr lang="nl-NL" sz="1900" dirty="0" err="1"/>
              <a:t>SE.mean</a:t>
            </a:r>
            <a:r>
              <a:rPr lang="nl-NL" sz="1900" dirty="0"/>
              <a:t>  CI.mean.0.95  </a:t>
            </a:r>
            <a:r>
              <a:rPr lang="nl-NL" sz="1900" dirty="0">
                <a:solidFill>
                  <a:srgbClr val="FF0000"/>
                </a:solidFill>
              </a:rPr>
              <a:t>var</a:t>
            </a:r>
            <a:r>
              <a:rPr lang="nl-NL" sz="1900" dirty="0"/>
              <a:t>   </a:t>
            </a:r>
            <a:r>
              <a:rPr lang="nl-NL" sz="1900" dirty="0" err="1"/>
              <a:t>std.dev</a:t>
            </a:r>
            <a:r>
              <a:rPr lang="nl-NL" sz="1900" dirty="0"/>
              <a:t>  </a:t>
            </a:r>
            <a:r>
              <a:rPr lang="nl-NL" sz="1900" dirty="0" err="1"/>
              <a:t>coef.var</a:t>
            </a:r>
            <a:r>
              <a:rPr lang="nl-NL" sz="1900" dirty="0"/>
              <a:t>  </a:t>
            </a:r>
            <a:r>
              <a:rPr lang="nl-NL" sz="1900" dirty="0" err="1"/>
              <a:t>skewness</a:t>
            </a:r>
            <a:r>
              <a:rPr lang="nl-NL" sz="1900" dirty="0"/>
              <a:t>  </a:t>
            </a:r>
            <a:r>
              <a:rPr lang="nl-NL" sz="1900" dirty="0">
                <a:solidFill>
                  <a:srgbClr val="FF0000"/>
                </a:solidFill>
              </a:rPr>
              <a:t>skew.2SE</a:t>
            </a:r>
            <a:r>
              <a:rPr lang="nl-NL" sz="1900" dirty="0"/>
              <a:t>  </a:t>
            </a:r>
            <a:r>
              <a:rPr lang="nl-NL" sz="1900" dirty="0" err="1"/>
              <a:t>kurtosis</a:t>
            </a:r>
            <a:r>
              <a:rPr lang="nl-NL" sz="1900" dirty="0"/>
              <a:t>  </a:t>
            </a:r>
            <a:r>
              <a:rPr lang="nl-NL" sz="1900" dirty="0">
                <a:solidFill>
                  <a:srgbClr val="FF0000"/>
                </a:solidFill>
              </a:rPr>
              <a:t>kurt.2SE</a:t>
            </a:r>
            <a:r>
              <a:rPr lang="nl-NL" sz="1900" dirty="0"/>
              <a:t>  </a:t>
            </a:r>
            <a:r>
              <a:rPr lang="nl-NL" sz="1900" dirty="0" err="1"/>
              <a:t>normtest.W</a:t>
            </a:r>
            <a:r>
              <a:rPr lang="nl-NL" sz="1900" dirty="0"/>
              <a:t>   </a:t>
            </a:r>
            <a:r>
              <a:rPr lang="nl-NL" sz="1900" dirty="0" err="1"/>
              <a:t>normtest.p</a:t>
            </a:r>
            <a:r>
              <a:rPr lang="nl-NL" sz="1900" dirty="0"/>
              <a:t> </a:t>
            </a:r>
            <a:endParaRPr lang="nl-NL" sz="1900" dirty="0"/>
          </a:p>
          <a:p>
            <a:pPr marL="0" indent="0">
              <a:buNone/>
            </a:pPr>
            <a:r>
              <a:rPr lang="nl-NL" sz="2000" dirty="0"/>
              <a:t> 87.50    87.20    1.60           3.28        </a:t>
            </a:r>
            <a:r>
              <a:rPr lang="nl-NL" sz="2000" dirty="0">
                <a:solidFill>
                  <a:srgbClr val="FF0000"/>
                </a:solidFill>
              </a:rPr>
              <a:t>71.92</a:t>
            </a:r>
            <a:r>
              <a:rPr lang="nl-NL" sz="2000" dirty="0"/>
              <a:t>    8.48       0.09       -0.46         </a:t>
            </a:r>
            <a:r>
              <a:rPr lang="nl-NL" sz="2000" dirty="0">
                <a:solidFill>
                  <a:srgbClr val="FF0000"/>
                </a:solidFill>
              </a:rPr>
              <a:t>-0.52      </a:t>
            </a:r>
            <a:r>
              <a:rPr lang="nl-NL" sz="2000" dirty="0"/>
              <a:t>-0.34       </a:t>
            </a:r>
            <a:r>
              <a:rPr lang="nl-NL" sz="2000" dirty="0">
                <a:solidFill>
                  <a:srgbClr val="FF0000"/>
                </a:solidFill>
              </a:rPr>
              <a:t>-0.19           </a:t>
            </a:r>
            <a:r>
              <a:rPr lang="nl-NL" sz="2000" dirty="0"/>
              <a:t>0.95            0.26</a:t>
            </a:r>
            <a:endParaRPr lang="en-US" sz="2000" dirty="0"/>
          </a:p>
          <a:p>
            <a:pPr marL="0" indent="0">
              <a:buNone/>
            </a:pPr>
            <a:endParaRPr lang="nl-NL" dirty="0">
              <a:solidFill>
                <a:srgbClr val="FF0000"/>
              </a:solidFill>
            </a:endParaRPr>
          </a:p>
          <a:p>
            <a:pPr marL="0" indent="0">
              <a:buNone/>
            </a:pPr>
            <a:endParaRPr lang="nl-NL" dirty="0"/>
          </a:p>
        </p:txBody>
      </p:sp>
      <p:sp>
        <p:nvSpPr>
          <p:cNvPr id="5" name="Slide Number Placeholder 4"/>
          <p:cNvSpPr>
            <a:spLocks noGrp="1"/>
          </p:cNvSpPr>
          <p:nvPr>
            <p:ph type="sldNum" sz="quarter" idx="12"/>
          </p:nvPr>
        </p:nvSpPr>
        <p:spPr/>
        <p:txBody>
          <a:bodyPr/>
          <a:lstStyle/>
          <a:p>
            <a:fld id="{48FBE6B8-82E0-4E11-A022-15B2AA89B3C8}" type="slidenum">
              <a:rPr lang="nl-NL" smtClean="0"/>
            </a:fld>
            <a:endParaRPr lang="nl-NL"/>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36958" y="1164803"/>
            <a:ext cx="3826661" cy="28652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fontScale="90000"/>
          </a:bodyPr>
          <a:lstStyle/>
          <a:p>
            <a:pPr algn="ctr"/>
            <a:r>
              <a:rPr lang="nl-NL" b="1" dirty="0"/>
              <a:t>How </a:t>
            </a:r>
            <a:r>
              <a:rPr lang="nl-NL" b="1" dirty="0" err="1"/>
              <a:t>to</a:t>
            </a:r>
            <a:r>
              <a:rPr lang="nl-NL" b="1" dirty="0"/>
              <a:t> </a:t>
            </a:r>
            <a:r>
              <a:rPr lang="nl-NL" b="1" dirty="0" err="1"/>
              <a:t>calculate</a:t>
            </a:r>
            <a:r>
              <a:rPr lang="nl-NL" b="1" dirty="0"/>
              <a:t> CIs for </a:t>
            </a:r>
            <a:r>
              <a:rPr lang="nl-NL" b="1" dirty="0" err="1"/>
              <a:t>differences</a:t>
            </a:r>
            <a:r>
              <a:rPr lang="nl-NL" b="1" dirty="0"/>
              <a:t>?</a:t>
            </a:r>
            <a:br>
              <a:rPr lang="nl-NL" b="1" dirty="0"/>
            </a:br>
            <a:r>
              <a:rPr lang="nl-NL" sz="2800" b="1" i="1" dirty="0"/>
              <a:t>t</a:t>
            </a:r>
            <a:r>
              <a:rPr lang="nl-NL" sz="2800" b="1" dirty="0"/>
              <a:t>-tests w/ </a:t>
            </a:r>
            <a:r>
              <a:rPr lang="nl-NL" sz="2800" b="1" dirty="0" err="1"/>
              <a:t>and</a:t>
            </a:r>
            <a:r>
              <a:rPr lang="nl-NL" sz="2800" b="1" dirty="0"/>
              <a:t> w/o </a:t>
            </a:r>
            <a:r>
              <a:rPr lang="nl-NL" sz="2800" b="1" dirty="0" err="1"/>
              <a:t>Welch-Satterthwaite</a:t>
            </a:r>
            <a:r>
              <a:rPr lang="nl-NL" sz="2800" b="1" dirty="0"/>
              <a:t> </a:t>
            </a:r>
            <a:r>
              <a:rPr lang="nl-NL" sz="2800" b="1" dirty="0" err="1"/>
              <a:t>correction</a:t>
            </a:r>
            <a:endParaRPr lang="nl-NL" sz="2800" b="1" dirty="0"/>
          </a:p>
        </p:txBody>
      </p:sp>
      <p:sp>
        <p:nvSpPr>
          <p:cNvPr id="3" name="Content Placeholder 2"/>
          <p:cNvSpPr>
            <a:spLocks noGrp="1"/>
          </p:cNvSpPr>
          <p:nvPr>
            <p:ph idx="1"/>
          </p:nvPr>
        </p:nvSpPr>
        <p:spPr>
          <a:xfrm>
            <a:off x="702907" y="1449355"/>
            <a:ext cx="10873273" cy="5013438"/>
          </a:xfrm>
        </p:spPr>
        <p:txBody>
          <a:bodyPr>
            <a:normAutofit fontScale="92500" lnSpcReduction="20000"/>
          </a:bodyPr>
          <a:lstStyle/>
          <a:p>
            <a:r>
              <a:rPr lang="nl-NL" dirty="0"/>
              <a:t>CIs </a:t>
            </a:r>
            <a:r>
              <a:rPr lang="nl-NL" dirty="0" err="1"/>
              <a:t>for</a:t>
            </a:r>
            <a:r>
              <a:rPr lang="nl-NL" dirty="0"/>
              <a:t> a </a:t>
            </a:r>
            <a:r>
              <a:rPr lang="nl-NL" dirty="0" err="1"/>
              <a:t>mean</a:t>
            </a:r>
            <a:r>
              <a:rPr lang="nl-NL" dirty="0"/>
              <a:t> </a:t>
            </a:r>
            <a:r>
              <a:rPr lang="nl-NL" dirty="0" err="1"/>
              <a:t>difference</a:t>
            </a:r>
            <a:r>
              <a:rPr lang="nl-NL" dirty="0"/>
              <a:t> </a:t>
            </a:r>
            <a:r>
              <a:rPr lang="nl-NL" dirty="0" err="1"/>
              <a:t>can</a:t>
            </a:r>
            <a:r>
              <a:rPr lang="nl-NL" dirty="0"/>
              <a:t> </a:t>
            </a:r>
            <a:r>
              <a:rPr lang="nl-NL" dirty="0" err="1"/>
              <a:t>also</a:t>
            </a:r>
            <a:r>
              <a:rPr lang="nl-NL" dirty="0"/>
              <a:t> </a:t>
            </a:r>
            <a:r>
              <a:rPr lang="nl-NL" dirty="0" err="1"/>
              <a:t>be</a:t>
            </a:r>
            <a:r>
              <a:rPr lang="nl-NL" dirty="0"/>
              <a:t> </a:t>
            </a:r>
            <a:r>
              <a:rPr lang="nl-NL" dirty="0" err="1"/>
              <a:t>calculated</a:t>
            </a:r>
            <a:r>
              <a:rPr lang="nl-NL" dirty="0"/>
              <a:t> </a:t>
            </a:r>
            <a:r>
              <a:rPr lang="nl-NL" dirty="0" err="1"/>
              <a:t>manually</a:t>
            </a:r>
            <a:r>
              <a:rPr lang="nl-NL" dirty="0"/>
              <a:t> (</a:t>
            </a:r>
            <a:r>
              <a:rPr lang="nl-NL" dirty="0" err="1"/>
              <a:t>see</a:t>
            </a:r>
            <a:r>
              <a:rPr lang="nl-NL" dirty="0"/>
              <a:t> R script), but </a:t>
            </a:r>
            <a:r>
              <a:rPr lang="nl-NL" dirty="0" err="1"/>
              <a:t>there</a:t>
            </a:r>
            <a:r>
              <a:rPr lang="nl-NL" dirty="0"/>
              <a:t> are </a:t>
            </a:r>
            <a:r>
              <a:rPr lang="nl-NL" dirty="0" err="1"/>
              <a:t>also</a:t>
            </a:r>
            <a:r>
              <a:rPr lang="nl-NL" dirty="0"/>
              <a:t> </a:t>
            </a:r>
            <a:r>
              <a:rPr lang="nl-NL" dirty="0" err="1"/>
              <a:t>automated</a:t>
            </a:r>
            <a:r>
              <a:rPr lang="nl-NL" dirty="0"/>
              <a:t> </a:t>
            </a:r>
            <a:r>
              <a:rPr lang="nl-NL" dirty="0" err="1"/>
              <a:t>ways</a:t>
            </a:r>
            <a:r>
              <a:rPr lang="nl-NL" dirty="0"/>
              <a:t>…</a:t>
            </a:r>
            <a:endParaRPr lang="nl-NL" dirty="0"/>
          </a:p>
          <a:p>
            <a:pPr marL="0" indent="0">
              <a:buNone/>
            </a:pPr>
            <a:endParaRPr lang="nl-NL" sz="2100" dirty="0">
              <a:solidFill>
                <a:srgbClr val="FF0000"/>
              </a:solidFill>
            </a:endParaRPr>
          </a:p>
          <a:p>
            <a:pPr marL="0" indent="0">
              <a:buNone/>
            </a:pPr>
            <a:r>
              <a:rPr lang="nl-NL" dirty="0" err="1">
                <a:solidFill>
                  <a:srgbClr val="FF0000"/>
                </a:solidFill>
              </a:rPr>
              <a:t>t.test</a:t>
            </a:r>
            <a:r>
              <a:rPr lang="nl-NL" dirty="0">
                <a:solidFill>
                  <a:srgbClr val="FF0000"/>
                </a:solidFill>
              </a:rPr>
              <a:t>(</a:t>
            </a:r>
            <a:r>
              <a:rPr lang="nl-NL" dirty="0" err="1">
                <a:solidFill>
                  <a:srgbClr val="FF0000"/>
                </a:solidFill>
              </a:rPr>
              <a:t>hsc</a:t>
            </a:r>
            <a:r>
              <a:rPr lang="nl-NL" dirty="0">
                <a:solidFill>
                  <a:srgbClr val="FF0000"/>
                </a:solidFill>
              </a:rPr>
              <a:t>, </a:t>
            </a:r>
            <a:r>
              <a:rPr lang="nl-NL" dirty="0" err="1">
                <a:solidFill>
                  <a:srgbClr val="FF0000"/>
                </a:solidFill>
              </a:rPr>
              <a:t>lsc</a:t>
            </a:r>
            <a:r>
              <a:rPr lang="nl-NL" dirty="0">
                <a:solidFill>
                  <a:srgbClr val="FF0000"/>
                </a:solidFill>
              </a:rPr>
              <a:t>)$conf.int		</a:t>
            </a:r>
            <a:endParaRPr lang="nl-NL" dirty="0">
              <a:solidFill>
                <a:srgbClr val="FF0000"/>
              </a:solidFill>
            </a:endParaRPr>
          </a:p>
          <a:p>
            <a:pPr marL="0" indent="0">
              <a:buNone/>
            </a:pPr>
            <a:r>
              <a:rPr lang="nl-NL" dirty="0"/>
              <a:t># w/ </a:t>
            </a:r>
            <a:r>
              <a:rPr lang="nl-NL" dirty="0" err="1"/>
              <a:t>Welch-Satterthwaite</a:t>
            </a:r>
            <a:r>
              <a:rPr lang="nl-NL" dirty="0"/>
              <a:t> </a:t>
            </a:r>
            <a:r>
              <a:rPr lang="nl-NL" dirty="0" err="1"/>
              <a:t>correction</a:t>
            </a:r>
            <a:r>
              <a:rPr lang="nl-NL" dirty="0"/>
              <a:t> (</a:t>
            </a:r>
            <a:r>
              <a:rPr lang="nl-NL" dirty="0" err="1"/>
              <a:t>the</a:t>
            </a:r>
            <a:r>
              <a:rPr lang="nl-NL" dirty="0"/>
              <a:t> default)</a:t>
            </a:r>
            <a:endParaRPr lang="nl-NL" dirty="0"/>
          </a:p>
          <a:p>
            <a:pPr marL="0" indent="0">
              <a:buNone/>
            </a:pPr>
            <a:r>
              <a:rPr lang="nl-NL" altLang="nl-NL" sz="1900" dirty="0">
                <a:solidFill>
                  <a:schemeClr val="accent5"/>
                </a:solidFill>
                <a:latin typeface="Lucida Console" panose="020B0609040504020204" pitchFamily="49" charset="0"/>
              </a:rPr>
              <a:t>[1] 3.30104 22.88944 </a:t>
            </a:r>
            <a:r>
              <a:rPr lang="nl-NL" altLang="nl-NL" sz="1900" b="1" dirty="0">
                <a:latin typeface="Lucida Console" panose="020B0609040504020204" pitchFamily="49" charset="0"/>
              </a:rPr>
              <a:t>#NOTE: </a:t>
            </a:r>
            <a:r>
              <a:rPr lang="nl-NL" altLang="nl-NL" sz="1900" b="1" dirty="0" err="1">
                <a:latin typeface="Lucida Console" panose="020B0609040504020204" pitchFamily="49" charset="0"/>
              </a:rPr>
              <a:t>the</a:t>
            </a:r>
            <a:r>
              <a:rPr lang="nl-NL" altLang="nl-NL" sz="1900" b="1" dirty="0">
                <a:latin typeface="Lucida Console" panose="020B0609040504020204" pitchFamily="49" charset="0"/>
              </a:rPr>
              <a:t> </a:t>
            </a:r>
            <a:r>
              <a:rPr lang="nl-NL" altLang="nl-NL" sz="1900" b="1" dirty="0" err="1">
                <a:latin typeface="Lucida Console" panose="020B0609040504020204" pitchFamily="49" charset="0"/>
              </a:rPr>
              <a:t>CIs</a:t>
            </a:r>
            <a:r>
              <a:rPr lang="nl-NL" altLang="nl-NL" sz="1900" b="1" dirty="0">
                <a:latin typeface="Lucida Console" panose="020B0609040504020204" pitchFamily="49" charset="0"/>
              </a:rPr>
              <a:t> </a:t>
            </a:r>
            <a:r>
              <a:rPr lang="nl-NL" altLang="nl-NL" sz="1900" b="1" dirty="0" err="1">
                <a:latin typeface="Lucida Console" panose="020B0609040504020204" pitchFamily="49" charset="0"/>
              </a:rPr>
              <a:t>correspond</a:t>
            </a:r>
            <a:r>
              <a:rPr lang="nl-NL" altLang="nl-NL" sz="1900" b="1" dirty="0">
                <a:latin typeface="Lucida Console" panose="020B0609040504020204" pitchFamily="49" charset="0"/>
              </a:rPr>
              <a:t> </a:t>
            </a:r>
            <a:r>
              <a:rPr lang="nl-NL" altLang="nl-NL" sz="1900" b="1" dirty="0" err="1">
                <a:latin typeface="Lucida Console" panose="020B0609040504020204" pitchFamily="49" charset="0"/>
              </a:rPr>
              <a:t>to</a:t>
            </a:r>
            <a:r>
              <a:rPr lang="nl-NL" altLang="nl-NL" sz="1900" b="1" dirty="0">
                <a:latin typeface="Lucida Console" panose="020B0609040504020204" pitchFamily="49" charset="0"/>
              </a:rPr>
              <a:t> </a:t>
            </a:r>
            <a:r>
              <a:rPr lang="nl-NL" altLang="nl-NL" sz="1900" b="1" dirty="0" err="1">
                <a:latin typeface="Lucida Console" panose="020B0609040504020204" pitchFamily="49" charset="0"/>
              </a:rPr>
              <a:t>the</a:t>
            </a:r>
            <a:r>
              <a:rPr lang="nl-NL" altLang="nl-NL" sz="1900" b="1" dirty="0">
                <a:latin typeface="Lucida Console" panose="020B0609040504020204" pitchFamily="49" charset="0"/>
              </a:rPr>
              <a:t> </a:t>
            </a:r>
            <a:r>
              <a:rPr lang="nl-NL" altLang="nl-NL" sz="1900" b="1" dirty="0" err="1">
                <a:latin typeface="Lucida Console" panose="020B0609040504020204" pitchFamily="49" charset="0"/>
              </a:rPr>
              <a:t>difference</a:t>
            </a:r>
            <a:r>
              <a:rPr lang="nl-NL" altLang="nl-NL" sz="1900" b="1" dirty="0">
                <a:latin typeface="Lucida Console" panose="020B0609040504020204" pitchFamily="49" charset="0"/>
              </a:rPr>
              <a:t> in means</a:t>
            </a:r>
            <a:endParaRPr lang="nl-NL" altLang="nl-NL" sz="1900" b="1" dirty="0">
              <a:latin typeface="Lucida Console" panose="020B0609040504020204" pitchFamily="49" charset="0"/>
            </a:endParaRPr>
          </a:p>
          <a:p>
            <a:pPr marL="0" indent="0">
              <a:buNone/>
            </a:pPr>
            <a:r>
              <a:rPr lang="nl-NL" altLang="nl-NL" sz="1900" dirty="0">
                <a:solidFill>
                  <a:schemeClr val="accent5"/>
                </a:solidFill>
                <a:latin typeface="Lucida Console" panose="020B0609040504020204" pitchFamily="49" charset="0"/>
              </a:rPr>
              <a:t>attr(,"</a:t>
            </a:r>
            <a:r>
              <a:rPr lang="nl-NL" altLang="nl-NL" sz="1900" dirty="0" err="1">
                <a:solidFill>
                  <a:schemeClr val="accent5"/>
                </a:solidFill>
                <a:latin typeface="Lucida Console" panose="020B0609040504020204" pitchFamily="49" charset="0"/>
              </a:rPr>
              <a:t>conf.level</a:t>
            </a:r>
            <a:r>
              <a:rPr lang="nl-NL" altLang="nl-NL" sz="1900" dirty="0">
                <a:solidFill>
                  <a:schemeClr val="accent5"/>
                </a:solidFill>
                <a:latin typeface="Lucida Console" panose="020B0609040504020204" pitchFamily="49" charset="0"/>
              </a:rPr>
              <a:t>") </a:t>
            </a:r>
            <a:endParaRPr lang="nl-NL" altLang="nl-NL" sz="1900" dirty="0">
              <a:solidFill>
                <a:schemeClr val="accent5"/>
              </a:solidFill>
              <a:latin typeface="Lucida Console" panose="020B0609040504020204" pitchFamily="49" charset="0"/>
            </a:endParaRPr>
          </a:p>
          <a:p>
            <a:pPr marL="0" indent="0">
              <a:buNone/>
            </a:pPr>
            <a:r>
              <a:rPr lang="nl-NL" altLang="nl-NL" sz="1900" dirty="0">
                <a:solidFill>
                  <a:schemeClr val="accent5"/>
                </a:solidFill>
                <a:latin typeface="Lucida Console" panose="020B0609040504020204" pitchFamily="49" charset="0"/>
              </a:rPr>
              <a:t>[1] 0.95</a:t>
            </a:r>
            <a:endParaRPr lang="en-US" sz="1900" dirty="0">
              <a:solidFill>
                <a:srgbClr val="FF0000"/>
              </a:solidFill>
            </a:endParaRPr>
          </a:p>
          <a:p>
            <a:pPr marL="0" indent="0">
              <a:buNone/>
            </a:pPr>
            <a:endParaRPr lang="nl-NL" sz="2100" dirty="0">
              <a:solidFill>
                <a:srgbClr val="FF0000"/>
              </a:solidFill>
            </a:endParaRPr>
          </a:p>
          <a:p>
            <a:pPr marL="0" indent="0">
              <a:buNone/>
            </a:pPr>
            <a:r>
              <a:rPr lang="nl-NL" dirty="0" err="1"/>
              <a:t>t.test</a:t>
            </a:r>
            <a:r>
              <a:rPr lang="nl-NL" dirty="0"/>
              <a:t>(</a:t>
            </a:r>
            <a:r>
              <a:rPr lang="nl-NL" dirty="0" err="1"/>
              <a:t>hsc</a:t>
            </a:r>
            <a:r>
              <a:rPr lang="nl-NL" dirty="0"/>
              <a:t>, </a:t>
            </a:r>
            <a:r>
              <a:rPr lang="nl-NL" dirty="0" err="1"/>
              <a:t>lsc</a:t>
            </a:r>
            <a:r>
              <a:rPr lang="nl-NL" dirty="0"/>
              <a:t>, </a:t>
            </a:r>
            <a:r>
              <a:rPr lang="nl-NL" dirty="0" err="1">
                <a:solidFill>
                  <a:srgbClr val="FF0000"/>
                </a:solidFill>
              </a:rPr>
              <a:t>var.equal</a:t>
            </a:r>
            <a:r>
              <a:rPr lang="nl-NL" dirty="0">
                <a:solidFill>
                  <a:srgbClr val="FF0000"/>
                </a:solidFill>
              </a:rPr>
              <a:t>=TRUE)</a:t>
            </a:r>
            <a:r>
              <a:rPr lang="nl-NL" dirty="0"/>
              <a:t>$conf.int</a:t>
            </a:r>
            <a:r>
              <a:rPr lang="nl-NL" dirty="0">
                <a:solidFill>
                  <a:srgbClr val="FF0000"/>
                </a:solidFill>
              </a:rPr>
              <a:t> </a:t>
            </a:r>
            <a:endParaRPr lang="nl-NL" dirty="0">
              <a:solidFill>
                <a:srgbClr val="FF0000"/>
              </a:solidFill>
            </a:endParaRPr>
          </a:p>
          <a:p>
            <a:pPr marL="0" indent="0">
              <a:buNone/>
            </a:pPr>
            <a:r>
              <a:rPr lang="nl-NL" dirty="0"/>
              <a:t># w/o </a:t>
            </a:r>
            <a:r>
              <a:rPr lang="nl-NL" dirty="0" err="1"/>
              <a:t>correction</a:t>
            </a:r>
            <a:r>
              <a:rPr lang="nl-NL" dirty="0"/>
              <a:t>…</a:t>
            </a:r>
            <a:r>
              <a:rPr lang="nl-NL" dirty="0" err="1"/>
              <a:t>assumes</a:t>
            </a:r>
            <a:r>
              <a:rPr lang="nl-NL" dirty="0"/>
              <a:t> </a:t>
            </a:r>
            <a:r>
              <a:rPr lang="nl-NL" dirty="0" err="1"/>
              <a:t>homogeneity</a:t>
            </a:r>
            <a:r>
              <a:rPr lang="nl-NL" dirty="0"/>
              <a:t> of </a:t>
            </a:r>
            <a:r>
              <a:rPr lang="nl-NL" dirty="0" err="1"/>
              <a:t>variance</a:t>
            </a:r>
            <a:r>
              <a:rPr lang="nl-NL" dirty="0"/>
              <a:t> (</a:t>
            </a:r>
            <a:r>
              <a:rPr lang="nl-NL" dirty="0" err="1"/>
              <a:t>overrides</a:t>
            </a:r>
            <a:r>
              <a:rPr lang="nl-NL" dirty="0"/>
              <a:t> default)</a:t>
            </a:r>
            <a:endParaRPr lang="nl-NL" dirty="0"/>
          </a:p>
          <a:p>
            <a:pPr marL="0" indent="0">
              <a:buNone/>
            </a:pPr>
            <a:r>
              <a:rPr lang="nl-NL" altLang="nl-NL" sz="1900" dirty="0">
                <a:solidFill>
                  <a:schemeClr val="accent5"/>
                </a:solidFill>
                <a:latin typeface="Lucida Console" panose="020B0609040504020204" pitchFamily="49" charset="0"/>
              </a:rPr>
              <a:t>[1] 3.436962 22.753514</a:t>
            </a:r>
            <a:endParaRPr lang="nl-NL" altLang="nl-NL" sz="1900" dirty="0">
              <a:solidFill>
                <a:schemeClr val="accent5"/>
              </a:solidFill>
              <a:latin typeface="Lucida Console" panose="020B0609040504020204" pitchFamily="49" charset="0"/>
            </a:endParaRPr>
          </a:p>
          <a:p>
            <a:pPr marL="0" indent="0">
              <a:buNone/>
            </a:pPr>
            <a:r>
              <a:rPr lang="nl-NL" altLang="nl-NL" sz="1900" dirty="0">
                <a:solidFill>
                  <a:schemeClr val="accent5"/>
                </a:solidFill>
                <a:latin typeface="Lucida Console" panose="020B0609040504020204" pitchFamily="49" charset="0"/>
              </a:rPr>
              <a:t>attr(,"</a:t>
            </a:r>
            <a:r>
              <a:rPr lang="nl-NL" altLang="nl-NL" sz="1900" dirty="0" err="1">
                <a:solidFill>
                  <a:schemeClr val="accent5"/>
                </a:solidFill>
                <a:latin typeface="Lucida Console" panose="020B0609040504020204" pitchFamily="49" charset="0"/>
              </a:rPr>
              <a:t>conf.level</a:t>
            </a:r>
            <a:r>
              <a:rPr lang="nl-NL" altLang="nl-NL" sz="1900" dirty="0">
                <a:solidFill>
                  <a:schemeClr val="accent5"/>
                </a:solidFill>
                <a:latin typeface="Lucida Console" panose="020B0609040504020204" pitchFamily="49" charset="0"/>
              </a:rPr>
              <a:t>") </a:t>
            </a:r>
            <a:endParaRPr lang="nl-NL" altLang="nl-NL" sz="1900" dirty="0">
              <a:solidFill>
                <a:schemeClr val="accent5"/>
              </a:solidFill>
              <a:latin typeface="Lucida Console" panose="020B0609040504020204" pitchFamily="49" charset="0"/>
            </a:endParaRPr>
          </a:p>
          <a:p>
            <a:pPr marL="0" indent="0">
              <a:buNone/>
            </a:pPr>
            <a:r>
              <a:rPr lang="nl-NL" altLang="nl-NL" sz="1900" dirty="0">
                <a:solidFill>
                  <a:schemeClr val="accent5"/>
                </a:solidFill>
                <a:latin typeface="Lucida Console" panose="020B0609040504020204" pitchFamily="49" charset="0"/>
              </a:rPr>
              <a:t>[1] 0.95</a:t>
            </a:r>
            <a:endParaRPr lang="en-US" sz="1900" dirty="0">
              <a:solidFill>
                <a:srgbClr val="FF0000"/>
              </a:solidFill>
            </a:endParaRPr>
          </a:p>
          <a:p>
            <a:pPr marL="0" indent="0">
              <a:buNone/>
            </a:pPr>
            <a:endParaRPr lang="nl-NL" sz="2200" dirty="0">
              <a:solidFill>
                <a:schemeClr val="accent5"/>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
        <p:nvSpPr>
          <p:cNvPr id="6" name="Rectangle 2"/>
          <p:cNvSpPr>
            <a:spLocks noChangeArrowheads="1"/>
          </p:cNvSpPr>
          <p:nvPr/>
        </p:nvSpPr>
        <p:spPr bwMode="auto">
          <a:xfrm>
            <a:off x="0" y="43934"/>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nl-NL" altLang="nl-NL" sz="600" b="0" i="0" u="none" strike="noStrike" cap="none" normalizeH="0" baseline="0" dirty="0">
                <a:ln>
                  <a:noFill/>
                </a:ln>
                <a:solidFill>
                  <a:schemeClr val="tx1"/>
                </a:solidFill>
                <a:effectLst/>
              </a:rPr>
            </a:br>
            <a:endParaRPr kumimoji="0" lang="nl-NL" altLang="nl-NL" sz="1800" b="0" i="0" u="none" strike="noStrike" cap="none" normalizeH="0" baseline="0" dirty="0">
              <a:ln>
                <a:noFill/>
              </a:ln>
              <a:solidFill>
                <a:schemeClr val="tx1"/>
              </a:solidFill>
              <a:effectLst/>
              <a:latin typeface="Arial" panose="020B060402020209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a:bodyPr>
          <a:lstStyle/>
          <a:p>
            <a:pPr algn="ctr"/>
            <a:r>
              <a:rPr lang="nl-NL" b="1" dirty="0"/>
              <a:t>CIs </a:t>
            </a:r>
            <a:r>
              <a:rPr lang="nl-NL" b="1" dirty="0" err="1"/>
              <a:t>using</a:t>
            </a:r>
            <a:r>
              <a:rPr lang="nl-NL" b="1" dirty="0"/>
              <a:t> Monte Carlo </a:t>
            </a:r>
            <a:r>
              <a:rPr lang="nl-NL" b="1" dirty="0" err="1"/>
              <a:t>methods</a:t>
            </a:r>
            <a:endParaRPr lang="nl-NL" sz="2800" b="1" dirty="0"/>
          </a:p>
        </p:txBody>
      </p:sp>
      <p:sp>
        <p:nvSpPr>
          <p:cNvPr id="3" name="Content Placeholder 2"/>
          <p:cNvSpPr>
            <a:spLocks noGrp="1"/>
          </p:cNvSpPr>
          <p:nvPr>
            <p:ph idx="1"/>
          </p:nvPr>
        </p:nvSpPr>
        <p:spPr>
          <a:xfrm>
            <a:off x="838200" y="1461796"/>
            <a:ext cx="10515600" cy="4795935"/>
          </a:xfrm>
        </p:spPr>
        <p:txBody>
          <a:bodyPr>
            <a:normAutofit/>
          </a:bodyPr>
          <a:lstStyle/>
          <a:p>
            <a:r>
              <a:rPr lang="nl-NL" b="1" dirty="0"/>
              <a:t>Monte Carlo </a:t>
            </a:r>
            <a:r>
              <a:rPr lang="nl-NL" b="1" dirty="0" err="1"/>
              <a:t>methods</a:t>
            </a:r>
            <a:r>
              <a:rPr lang="nl-NL" b="1" dirty="0"/>
              <a:t> </a:t>
            </a:r>
            <a:r>
              <a:rPr lang="nl-NL" dirty="0"/>
              <a:t>are</a:t>
            </a:r>
            <a:r>
              <a:rPr lang="en-US" dirty="0"/>
              <a:t> a broad class of computational algorithms that rely on repeated random sampling to obtain numerical results.</a:t>
            </a:r>
            <a:endParaRPr lang="en-US" dirty="0"/>
          </a:p>
          <a:p>
            <a:pPr lvl="1"/>
            <a:r>
              <a:rPr lang="en-US" dirty="0">
                <a:solidFill>
                  <a:srgbClr val="FF0000"/>
                </a:solidFill>
              </a:rPr>
              <a:t>These simulations are advantageous when statistical assumptions are violated</a:t>
            </a:r>
            <a:endParaRPr lang="en-US" dirty="0">
              <a:solidFill>
                <a:srgbClr val="FF0000"/>
              </a:solidFill>
            </a:endParaRPr>
          </a:p>
          <a:p>
            <a:pPr lvl="2"/>
            <a:endParaRPr lang="en-US" dirty="0">
              <a:solidFill>
                <a:srgbClr val="FF0000"/>
              </a:solidFill>
            </a:endParaRPr>
          </a:p>
          <a:p>
            <a:r>
              <a:rPr lang="en-US" u="sng" dirty="0"/>
              <a:t>Different types of Monte Carlo methods:</a:t>
            </a:r>
            <a:endParaRPr lang="en-US" u="sng" dirty="0"/>
          </a:p>
          <a:p>
            <a:pPr lvl="1"/>
            <a:r>
              <a:rPr lang="en-US" dirty="0"/>
              <a:t>Permutation: Resampling w/o replacement for entire sample</a:t>
            </a:r>
            <a:endParaRPr lang="en-US" dirty="0"/>
          </a:p>
          <a:p>
            <a:pPr lvl="1"/>
            <a:r>
              <a:rPr lang="en-US" dirty="0"/>
              <a:t>Jackknife: Resampling w/o replacement for subsample</a:t>
            </a:r>
            <a:endParaRPr lang="en-US" dirty="0"/>
          </a:p>
          <a:p>
            <a:pPr lvl="1"/>
            <a:r>
              <a:rPr lang="en-US" b="1" dirty="0"/>
              <a:t>Bootstrap: Resampling with replacement for entire sample</a:t>
            </a:r>
            <a:endParaRPr lang="en-US" b="1" dirty="0"/>
          </a:p>
          <a:p>
            <a:endParaRPr lang="en-US" dirty="0"/>
          </a:p>
          <a:p>
            <a:r>
              <a:rPr lang="en-US" b="1" dirty="0"/>
              <a:t>Bootstrapping</a:t>
            </a:r>
            <a:r>
              <a:rPr lang="en-US" dirty="0"/>
              <a:t> is particularly useful, in that, a finite sample can generate an infinite population (assuming sample is representative)</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715"/>
            <a:ext cx="10515600" cy="1038808"/>
          </a:xfrm>
        </p:spPr>
        <p:txBody>
          <a:bodyPr>
            <a:normAutofit/>
          </a:bodyPr>
          <a:lstStyle/>
          <a:p>
            <a:pPr algn="ctr"/>
            <a:r>
              <a:rPr lang="nl-NL" b="1" dirty="0"/>
              <a:t>CIs </a:t>
            </a:r>
            <a:r>
              <a:rPr lang="nl-NL" b="1" dirty="0" err="1"/>
              <a:t>using</a:t>
            </a:r>
            <a:r>
              <a:rPr lang="nl-NL" b="1" dirty="0"/>
              <a:t> Bootstrapping</a:t>
            </a:r>
            <a:endParaRPr lang="nl-NL" sz="2800" b="1" dirty="0"/>
          </a:p>
        </p:txBody>
      </p:sp>
      <p:sp>
        <p:nvSpPr>
          <p:cNvPr id="3" name="Content Placeholder 2"/>
          <p:cNvSpPr>
            <a:spLocks noGrp="1"/>
          </p:cNvSpPr>
          <p:nvPr>
            <p:ph idx="1"/>
          </p:nvPr>
        </p:nvSpPr>
        <p:spPr>
          <a:xfrm>
            <a:off x="838200" y="1387152"/>
            <a:ext cx="10515600" cy="4870580"/>
          </a:xfrm>
        </p:spPr>
        <p:txBody>
          <a:bodyPr>
            <a:normAutofit fontScale="92500" lnSpcReduction="10000"/>
          </a:bodyPr>
          <a:lstStyle/>
          <a:p>
            <a:r>
              <a:rPr lang="nl-NL" b="1" dirty="0"/>
              <a:t>Bootstrapping is a </a:t>
            </a:r>
            <a:r>
              <a:rPr lang="nl-NL" b="1" dirty="0" err="1"/>
              <a:t>versatile</a:t>
            </a:r>
            <a:r>
              <a:rPr lang="nl-NL" b="1" dirty="0"/>
              <a:t> tool for </a:t>
            </a:r>
            <a:r>
              <a:rPr lang="nl-NL" b="1" dirty="0" err="1"/>
              <a:t>dealing</a:t>
            </a:r>
            <a:r>
              <a:rPr lang="nl-NL" b="1" dirty="0"/>
              <a:t> </a:t>
            </a:r>
            <a:r>
              <a:rPr lang="nl-NL" b="1" dirty="0" err="1"/>
              <a:t>with</a:t>
            </a:r>
            <a:r>
              <a:rPr lang="nl-NL" b="1" dirty="0"/>
              <a:t> </a:t>
            </a:r>
            <a:r>
              <a:rPr lang="nl-NL" b="1" dirty="0" err="1"/>
              <a:t>statistical</a:t>
            </a:r>
            <a:r>
              <a:rPr lang="nl-NL" b="1" dirty="0"/>
              <a:t> “</a:t>
            </a:r>
            <a:r>
              <a:rPr lang="nl-NL" b="1" i="1" dirty="0"/>
              <a:t>issues”.</a:t>
            </a:r>
            <a:endParaRPr lang="nl-NL" b="1" i="1" dirty="0"/>
          </a:p>
          <a:p>
            <a:pPr lvl="1"/>
            <a:r>
              <a:rPr lang="nl-NL" dirty="0" err="1"/>
              <a:t>Any</a:t>
            </a:r>
            <a:r>
              <a:rPr lang="nl-NL" dirty="0"/>
              <a:t> </a:t>
            </a:r>
            <a:r>
              <a:rPr lang="nl-NL" dirty="0" err="1"/>
              <a:t>statistic</a:t>
            </a:r>
            <a:r>
              <a:rPr lang="nl-NL" dirty="0"/>
              <a:t> </a:t>
            </a:r>
            <a:r>
              <a:rPr lang="nl-NL" dirty="0" err="1"/>
              <a:t>can</a:t>
            </a:r>
            <a:r>
              <a:rPr lang="nl-NL" dirty="0"/>
              <a:t> </a:t>
            </a:r>
            <a:r>
              <a:rPr lang="nl-NL" dirty="0" err="1"/>
              <a:t>be</a:t>
            </a:r>
            <a:r>
              <a:rPr lang="nl-NL" dirty="0"/>
              <a:t> “</a:t>
            </a:r>
            <a:r>
              <a:rPr lang="nl-NL" dirty="0" err="1"/>
              <a:t>bootstrapped</a:t>
            </a:r>
            <a:r>
              <a:rPr lang="nl-NL" dirty="0"/>
              <a:t>”</a:t>
            </a:r>
            <a:endParaRPr lang="nl-NL" dirty="0"/>
          </a:p>
          <a:p>
            <a:pPr lvl="1"/>
            <a:endParaRPr lang="nl-NL" i="1" dirty="0"/>
          </a:p>
          <a:p>
            <a:r>
              <a:rPr lang="en-US" dirty="0"/>
              <a:t>Increasing the number of samples cannot increase the amount of information in the original data; </a:t>
            </a:r>
            <a:r>
              <a:rPr lang="en-US" b="1" dirty="0"/>
              <a:t>it can only reduce the effects of random sampling errors </a:t>
            </a:r>
            <a:r>
              <a:rPr lang="en-US" dirty="0"/>
              <a:t>which can arise from the resampling procedure.</a:t>
            </a:r>
            <a:endParaRPr lang="en-US" dirty="0"/>
          </a:p>
          <a:p>
            <a:pPr lvl="1"/>
            <a:endParaRPr lang="nl-NL" dirty="0"/>
          </a:p>
          <a:p>
            <a:r>
              <a:rPr lang="nl-NL" dirty="0"/>
              <a:t>Bootstrapping is </a:t>
            </a:r>
            <a:r>
              <a:rPr lang="nl-NL" dirty="0" err="1"/>
              <a:t>especially</a:t>
            </a:r>
            <a:r>
              <a:rPr lang="nl-NL" dirty="0"/>
              <a:t> </a:t>
            </a:r>
            <a:r>
              <a:rPr lang="nl-NL" dirty="0" err="1"/>
              <a:t>advantageous</a:t>
            </a:r>
            <a:r>
              <a:rPr lang="nl-NL" dirty="0"/>
              <a:t> </a:t>
            </a:r>
            <a:r>
              <a:rPr lang="nl-NL" dirty="0" err="1"/>
              <a:t>when</a:t>
            </a:r>
            <a:r>
              <a:rPr lang="nl-NL" dirty="0"/>
              <a:t>: (a) </a:t>
            </a:r>
            <a:r>
              <a:rPr lang="nl-NL" dirty="0" err="1"/>
              <a:t>the</a:t>
            </a:r>
            <a:r>
              <a:rPr lang="nl-NL" dirty="0"/>
              <a:t> </a:t>
            </a:r>
            <a:r>
              <a:rPr lang="nl-NL" dirty="0" err="1"/>
              <a:t>distribution</a:t>
            </a:r>
            <a:r>
              <a:rPr lang="nl-NL" dirty="0"/>
              <a:t> of a </a:t>
            </a:r>
            <a:r>
              <a:rPr lang="nl-NL" dirty="0" err="1"/>
              <a:t>statistic</a:t>
            </a:r>
            <a:r>
              <a:rPr lang="nl-NL" dirty="0"/>
              <a:t> is </a:t>
            </a:r>
            <a:r>
              <a:rPr lang="nl-NL" dirty="0" err="1"/>
              <a:t>unknown</a:t>
            </a:r>
            <a:r>
              <a:rPr lang="nl-NL" dirty="0"/>
              <a:t>, </a:t>
            </a:r>
            <a:r>
              <a:rPr lang="nl-NL" dirty="0" err="1"/>
              <a:t>and</a:t>
            </a:r>
            <a:r>
              <a:rPr lang="nl-NL" dirty="0"/>
              <a:t> (b) </a:t>
            </a:r>
            <a:r>
              <a:rPr lang="nl-NL" dirty="0" err="1"/>
              <a:t>the</a:t>
            </a:r>
            <a:r>
              <a:rPr lang="nl-NL" dirty="0"/>
              <a:t> sample </a:t>
            </a:r>
            <a:r>
              <a:rPr lang="nl-NL" dirty="0" err="1"/>
              <a:t>size</a:t>
            </a:r>
            <a:r>
              <a:rPr lang="nl-NL" dirty="0"/>
              <a:t> is </a:t>
            </a:r>
            <a:r>
              <a:rPr lang="nl-NL" dirty="0" err="1"/>
              <a:t>insufficent</a:t>
            </a:r>
            <a:r>
              <a:rPr lang="nl-NL" dirty="0"/>
              <a:t> for </a:t>
            </a:r>
            <a:r>
              <a:rPr lang="nl-NL" dirty="0" err="1"/>
              <a:t>inference</a:t>
            </a:r>
            <a:endParaRPr lang="nl-NL" dirty="0"/>
          </a:p>
          <a:p>
            <a:pPr lvl="1"/>
            <a:endParaRPr lang="nl-NL" i="1" dirty="0"/>
          </a:p>
          <a:p>
            <a:r>
              <a:rPr lang="nl-NL" u="sng" dirty="0"/>
              <a:t>Different types of bootstrapping:</a:t>
            </a:r>
            <a:endParaRPr lang="nl-NL" u="sng" dirty="0"/>
          </a:p>
          <a:p>
            <a:pPr lvl="1"/>
            <a:r>
              <a:rPr lang="nl-NL" dirty="0" err="1"/>
              <a:t>Percentile</a:t>
            </a:r>
            <a:r>
              <a:rPr lang="nl-NL" dirty="0"/>
              <a:t>: </a:t>
            </a:r>
            <a:r>
              <a:rPr lang="nl-NL" dirty="0" err="1"/>
              <a:t>good</a:t>
            </a:r>
            <a:r>
              <a:rPr lang="nl-NL" dirty="0"/>
              <a:t> </a:t>
            </a:r>
            <a:r>
              <a:rPr lang="nl-NL" dirty="0" err="1"/>
              <a:t>when</a:t>
            </a:r>
            <a:r>
              <a:rPr lang="nl-NL" dirty="0"/>
              <a:t> CIs are </a:t>
            </a:r>
            <a:r>
              <a:rPr lang="nl-NL" dirty="0" err="1"/>
              <a:t>fairly</a:t>
            </a:r>
            <a:r>
              <a:rPr lang="nl-NL" dirty="0"/>
              <a:t> </a:t>
            </a:r>
            <a:r>
              <a:rPr lang="nl-NL" dirty="0" err="1"/>
              <a:t>symmetric</a:t>
            </a:r>
            <a:r>
              <a:rPr lang="nl-NL" dirty="0"/>
              <a:t> </a:t>
            </a:r>
            <a:r>
              <a:rPr lang="nl-NL" dirty="0" err="1"/>
              <a:t>and</a:t>
            </a:r>
            <a:r>
              <a:rPr lang="nl-NL" dirty="0"/>
              <a:t> </a:t>
            </a:r>
            <a:r>
              <a:rPr lang="nl-NL" dirty="0" err="1"/>
              <a:t>unbiased</a:t>
            </a:r>
            <a:endParaRPr lang="nl-NL" dirty="0"/>
          </a:p>
          <a:p>
            <a:pPr lvl="1"/>
            <a:r>
              <a:rPr lang="nl-NL" b="1" dirty="0">
                <a:solidFill>
                  <a:srgbClr val="FF0000"/>
                </a:solidFill>
              </a:rPr>
              <a:t>Bias-</a:t>
            </a:r>
            <a:r>
              <a:rPr lang="nl-NL" b="1" dirty="0" err="1">
                <a:solidFill>
                  <a:srgbClr val="FF0000"/>
                </a:solidFill>
              </a:rPr>
              <a:t>corrected</a:t>
            </a:r>
            <a:r>
              <a:rPr lang="nl-NL" b="1" dirty="0">
                <a:solidFill>
                  <a:srgbClr val="FF0000"/>
                </a:solidFill>
              </a:rPr>
              <a:t> </a:t>
            </a:r>
            <a:r>
              <a:rPr lang="nl-NL" b="1" dirty="0" err="1">
                <a:solidFill>
                  <a:srgbClr val="FF0000"/>
                </a:solidFill>
              </a:rPr>
              <a:t>and</a:t>
            </a:r>
            <a:r>
              <a:rPr lang="nl-NL" b="1" dirty="0">
                <a:solidFill>
                  <a:srgbClr val="FF0000"/>
                </a:solidFill>
              </a:rPr>
              <a:t> </a:t>
            </a:r>
            <a:r>
              <a:rPr lang="nl-NL" b="1" dirty="0" err="1">
                <a:solidFill>
                  <a:srgbClr val="FF0000"/>
                </a:solidFill>
              </a:rPr>
              <a:t>accelerated</a:t>
            </a:r>
            <a:r>
              <a:rPr lang="nl-NL" b="1" dirty="0">
                <a:solidFill>
                  <a:srgbClr val="FF0000"/>
                </a:solidFill>
              </a:rPr>
              <a:t> (</a:t>
            </a:r>
            <a:r>
              <a:rPr lang="nl-NL" b="1" dirty="0" err="1">
                <a:solidFill>
                  <a:srgbClr val="FF0000"/>
                </a:solidFill>
              </a:rPr>
              <a:t>BC</a:t>
            </a:r>
            <a:r>
              <a:rPr lang="nl-NL" b="1" baseline="-25000" dirty="0" err="1">
                <a:solidFill>
                  <a:srgbClr val="FF0000"/>
                </a:solidFill>
              </a:rPr>
              <a:t>a</a:t>
            </a:r>
            <a:r>
              <a:rPr lang="nl-NL" b="1" dirty="0">
                <a:solidFill>
                  <a:srgbClr val="FF0000"/>
                </a:solidFill>
              </a:rPr>
              <a:t>)</a:t>
            </a:r>
            <a:r>
              <a:rPr lang="nl-NL" dirty="0">
                <a:solidFill>
                  <a:srgbClr val="FF0000"/>
                </a:solidFill>
              </a:rPr>
              <a:t>: </a:t>
            </a:r>
            <a:r>
              <a:rPr lang="nl-NL" dirty="0" err="1">
                <a:solidFill>
                  <a:srgbClr val="FF0000"/>
                </a:solidFill>
              </a:rPr>
              <a:t>relatively</a:t>
            </a:r>
            <a:r>
              <a:rPr lang="nl-NL" dirty="0">
                <a:solidFill>
                  <a:srgbClr val="FF0000"/>
                </a:solidFill>
              </a:rPr>
              <a:t> safe default option </a:t>
            </a:r>
            <a:r>
              <a:rPr lang="nl-NL" b="1" dirty="0">
                <a:solidFill>
                  <a:srgbClr val="FF0000"/>
                </a:solidFill>
              </a:rPr>
              <a:t>(</a:t>
            </a:r>
            <a:r>
              <a:rPr lang="nl-NL" b="1" dirty="0" err="1">
                <a:solidFill>
                  <a:srgbClr val="FF0000"/>
                </a:solidFill>
              </a:rPr>
              <a:t>recommended</a:t>
            </a:r>
            <a:r>
              <a:rPr lang="nl-NL" b="1" dirty="0">
                <a:solidFill>
                  <a:srgbClr val="FF0000"/>
                </a:solidFill>
              </a:rPr>
              <a:t>)</a:t>
            </a:r>
            <a:endParaRPr lang="nl-NL" b="1"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726"/>
            <a:ext cx="10515600" cy="1003356"/>
          </a:xfrm>
        </p:spPr>
        <p:txBody>
          <a:bodyPr/>
          <a:lstStyle/>
          <a:p>
            <a:pPr algn="ctr"/>
            <a:r>
              <a:rPr lang="nl-NL" b="1" dirty="0"/>
              <a:t>How </a:t>
            </a:r>
            <a:r>
              <a:rPr lang="nl-NL" b="1" dirty="0" err="1"/>
              <a:t>to</a:t>
            </a:r>
            <a:r>
              <a:rPr lang="nl-NL" b="1" dirty="0"/>
              <a:t> </a:t>
            </a:r>
            <a:r>
              <a:rPr lang="nl-NL" b="1" dirty="0" err="1"/>
              <a:t>visualize</a:t>
            </a:r>
            <a:r>
              <a:rPr lang="nl-NL" b="1" dirty="0"/>
              <a:t> CIs?</a:t>
            </a:r>
            <a:endParaRPr lang="nl-NL" b="1" dirty="0"/>
          </a:p>
        </p:txBody>
      </p:sp>
      <p:sp>
        <p:nvSpPr>
          <p:cNvPr id="3" name="Content Placeholder 2"/>
          <p:cNvSpPr>
            <a:spLocks noGrp="1"/>
          </p:cNvSpPr>
          <p:nvPr>
            <p:ph idx="1"/>
          </p:nvPr>
        </p:nvSpPr>
        <p:spPr>
          <a:xfrm>
            <a:off x="838200" y="1455576"/>
            <a:ext cx="10515600" cy="4721387"/>
          </a:xfrm>
        </p:spPr>
        <p:txBody>
          <a:bodyPr>
            <a:normAutofit lnSpcReduction="10000"/>
          </a:bodyPr>
          <a:lstStyle/>
          <a:p>
            <a:r>
              <a:rPr lang="nl-NL" dirty="0" err="1"/>
              <a:t>Plotting</a:t>
            </a:r>
            <a:r>
              <a:rPr lang="nl-NL" dirty="0"/>
              <a:t> a </a:t>
            </a:r>
            <a:r>
              <a:rPr lang="nl-NL" dirty="0" err="1"/>
              <a:t>statistic</a:t>
            </a:r>
            <a:r>
              <a:rPr lang="nl-NL" dirty="0"/>
              <a:t> </a:t>
            </a:r>
            <a:r>
              <a:rPr lang="nl-NL" dirty="0" err="1"/>
              <a:t>with</a:t>
            </a:r>
            <a:r>
              <a:rPr lang="nl-NL" dirty="0"/>
              <a:t> “</a:t>
            </a:r>
            <a:r>
              <a:rPr lang="nl-NL" dirty="0" err="1"/>
              <a:t>whiskers</a:t>
            </a:r>
            <a:r>
              <a:rPr lang="nl-NL" dirty="0"/>
              <a:t>” (error bars) is a common </a:t>
            </a:r>
            <a:r>
              <a:rPr lang="nl-NL" dirty="0" err="1"/>
              <a:t>and</a:t>
            </a:r>
            <a:r>
              <a:rPr lang="nl-NL" dirty="0"/>
              <a:t> </a:t>
            </a:r>
            <a:r>
              <a:rPr lang="nl-NL" dirty="0" err="1"/>
              <a:t>informative</a:t>
            </a:r>
            <a:r>
              <a:rPr lang="nl-NL" dirty="0"/>
              <a:t> way of presenting interval </a:t>
            </a:r>
            <a:r>
              <a:rPr lang="nl-NL" dirty="0" err="1"/>
              <a:t>estimates</a:t>
            </a:r>
            <a:endParaRPr lang="nl-NL" dirty="0"/>
          </a:p>
          <a:p>
            <a:pPr lvl="1"/>
            <a:endParaRPr lang="nl-NL" dirty="0"/>
          </a:p>
          <a:p>
            <a:r>
              <a:rPr lang="nl-NL" dirty="0" err="1"/>
              <a:t>Several</a:t>
            </a:r>
            <a:r>
              <a:rPr lang="nl-NL" dirty="0"/>
              <a:t> issues </a:t>
            </a:r>
            <a:r>
              <a:rPr lang="nl-NL" dirty="0" err="1"/>
              <a:t>should</a:t>
            </a:r>
            <a:r>
              <a:rPr lang="nl-NL" dirty="0"/>
              <a:t> </a:t>
            </a:r>
            <a:r>
              <a:rPr lang="nl-NL" dirty="0" err="1"/>
              <a:t>be</a:t>
            </a:r>
            <a:r>
              <a:rPr lang="nl-NL" dirty="0"/>
              <a:t> </a:t>
            </a:r>
            <a:r>
              <a:rPr lang="nl-NL" dirty="0" err="1"/>
              <a:t>considered</a:t>
            </a:r>
            <a:r>
              <a:rPr lang="nl-NL" dirty="0"/>
              <a:t>:</a:t>
            </a:r>
            <a:endParaRPr lang="nl-NL" dirty="0"/>
          </a:p>
          <a:p>
            <a:pPr lvl="1"/>
            <a:r>
              <a:rPr lang="nl-NL" b="1" dirty="0" err="1"/>
              <a:t>Referencing</a:t>
            </a:r>
            <a:r>
              <a:rPr lang="nl-NL" b="1" dirty="0"/>
              <a:t>: </a:t>
            </a:r>
            <a:r>
              <a:rPr lang="nl-NL" dirty="0" err="1"/>
              <a:t>Decide</a:t>
            </a:r>
            <a:r>
              <a:rPr lang="nl-NL" dirty="0"/>
              <a:t> </a:t>
            </a:r>
            <a:r>
              <a:rPr lang="nl-NL" dirty="0" err="1"/>
              <a:t>the</a:t>
            </a:r>
            <a:r>
              <a:rPr lang="nl-NL" dirty="0"/>
              <a:t> range of </a:t>
            </a:r>
            <a:r>
              <a:rPr lang="nl-NL" dirty="0" err="1"/>
              <a:t>values</a:t>
            </a:r>
            <a:r>
              <a:rPr lang="nl-NL" dirty="0"/>
              <a:t> on </a:t>
            </a:r>
            <a:r>
              <a:rPr lang="nl-NL" dirty="0" err="1"/>
              <a:t>the</a:t>
            </a:r>
            <a:r>
              <a:rPr lang="nl-NL" dirty="0"/>
              <a:t> y-</a:t>
            </a:r>
            <a:r>
              <a:rPr lang="nl-NL" dirty="0" err="1"/>
              <a:t>axis</a:t>
            </a:r>
            <a:endParaRPr lang="nl-NL" dirty="0"/>
          </a:p>
          <a:p>
            <a:pPr lvl="1"/>
            <a:r>
              <a:rPr lang="nl-NL" b="1" dirty="0" err="1"/>
              <a:t>Labeling</a:t>
            </a:r>
            <a:r>
              <a:rPr lang="nl-NL" b="1" dirty="0"/>
              <a:t>: </a:t>
            </a:r>
            <a:r>
              <a:rPr lang="nl-NL" dirty="0" err="1"/>
              <a:t>Indicate</a:t>
            </a:r>
            <a:r>
              <a:rPr lang="nl-NL" dirty="0"/>
              <a:t> </a:t>
            </a:r>
            <a:r>
              <a:rPr lang="nl-NL" dirty="0" err="1"/>
              <a:t>what</a:t>
            </a:r>
            <a:r>
              <a:rPr lang="nl-NL" dirty="0"/>
              <a:t> is </a:t>
            </a:r>
            <a:r>
              <a:rPr lang="nl-NL" dirty="0" err="1"/>
              <a:t>being</a:t>
            </a:r>
            <a:r>
              <a:rPr lang="nl-NL" dirty="0"/>
              <a:t> </a:t>
            </a:r>
            <a:r>
              <a:rPr lang="nl-NL" dirty="0" err="1"/>
              <a:t>plotted</a:t>
            </a:r>
            <a:r>
              <a:rPr lang="nl-NL" dirty="0"/>
              <a:t> (i.e., y-</a:t>
            </a:r>
            <a:r>
              <a:rPr lang="nl-NL" dirty="0" err="1"/>
              <a:t>axis</a:t>
            </a:r>
            <a:r>
              <a:rPr lang="nl-NL" dirty="0"/>
              <a:t>, x-</a:t>
            </a:r>
            <a:r>
              <a:rPr lang="nl-NL" dirty="0" err="1"/>
              <a:t>axis</a:t>
            </a:r>
            <a:r>
              <a:rPr lang="nl-NL" dirty="0"/>
              <a:t>, </a:t>
            </a:r>
            <a:r>
              <a:rPr lang="nl-NL" dirty="0" err="1"/>
              <a:t>statistics</a:t>
            </a:r>
            <a:r>
              <a:rPr lang="nl-NL" dirty="0"/>
              <a:t>, etc.)</a:t>
            </a:r>
            <a:endParaRPr lang="nl-NL" dirty="0"/>
          </a:p>
          <a:p>
            <a:pPr lvl="1"/>
            <a:r>
              <a:rPr lang="nl-NL" b="1" dirty="0" err="1"/>
              <a:t>Interpreting</a:t>
            </a:r>
            <a:r>
              <a:rPr lang="nl-NL" b="1" dirty="0"/>
              <a:t>: </a:t>
            </a:r>
            <a:r>
              <a:rPr lang="nl-NL" dirty="0" err="1"/>
              <a:t>Decide</a:t>
            </a:r>
            <a:r>
              <a:rPr lang="nl-NL" dirty="0"/>
              <a:t> </a:t>
            </a:r>
            <a:r>
              <a:rPr lang="nl-NL" dirty="0" err="1"/>
              <a:t>what</a:t>
            </a:r>
            <a:r>
              <a:rPr lang="nl-NL" dirty="0"/>
              <a:t> interval </a:t>
            </a:r>
            <a:r>
              <a:rPr lang="nl-NL" dirty="0" err="1"/>
              <a:t>estimates</a:t>
            </a:r>
            <a:r>
              <a:rPr lang="nl-NL" dirty="0"/>
              <a:t> are </a:t>
            </a:r>
            <a:r>
              <a:rPr lang="nl-NL" dirty="0" err="1"/>
              <a:t>plotted</a:t>
            </a:r>
            <a:r>
              <a:rPr lang="nl-NL" dirty="0"/>
              <a:t> (CI for a </a:t>
            </a:r>
            <a:r>
              <a:rPr lang="nl-NL" dirty="0" err="1"/>
              <a:t>difference</a:t>
            </a:r>
            <a:r>
              <a:rPr lang="nl-NL" dirty="0"/>
              <a:t>?)</a:t>
            </a:r>
            <a:endParaRPr lang="nl-NL" dirty="0"/>
          </a:p>
          <a:p>
            <a:endParaRPr lang="nl-NL" dirty="0"/>
          </a:p>
          <a:p>
            <a:r>
              <a:rPr lang="nl-NL" dirty="0" err="1"/>
              <a:t>Plotting</a:t>
            </a:r>
            <a:r>
              <a:rPr lang="nl-NL" dirty="0"/>
              <a:t> CIs for </a:t>
            </a:r>
            <a:r>
              <a:rPr lang="nl-NL" dirty="0" err="1"/>
              <a:t>individual</a:t>
            </a:r>
            <a:r>
              <a:rPr lang="nl-NL" dirty="0"/>
              <a:t> means is </a:t>
            </a:r>
            <a:r>
              <a:rPr lang="nl-NL" dirty="0" err="1"/>
              <a:t>not</a:t>
            </a:r>
            <a:r>
              <a:rPr lang="nl-NL" dirty="0"/>
              <a:t> </a:t>
            </a:r>
            <a:r>
              <a:rPr lang="nl-NL" dirty="0" err="1"/>
              <a:t>the</a:t>
            </a:r>
            <a:r>
              <a:rPr lang="nl-NL" dirty="0"/>
              <a:t> </a:t>
            </a:r>
            <a:r>
              <a:rPr lang="nl-NL" dirty="0" err="1"/>
              <a:t>same</a:t>
            </a:r>
            <a:r>
              <a:rPr lang="nl-NL" dirty="0"/>
              <a:t> as </a:t>
            </a:r>
            <a:r>
              <a:rPr lang="nl-NL" dirty="0" err="1"/>
              <a:t>plotting</a:t>
            </a:r>
            <a:r>
              <a:rPr lang="nl-NL" dirty="0"/>
              <a:t> CIs for a </a:t>
            </a:r>
            <a:r>
              <a:rPr lang="nl-NL" dirty="0" err="1"/>
              <a:t>mean</a:t>
            </a:r>
            <a:r>
              <a:rPr lang="nl-NL" dirty="0"/>
              <a:t> </a:t>
            </a:r>
            <a:r>
              <a:rPr lang="nl-NL" dirty="0" err="1"/>
              <a:t>difference</a:t>
            </a:r>
            <a:r>
              <a:rPr lang="nl-NL" dirty="0"/>
              <a:t>!</a:t>
            </a:r>
            <a:endParaRPr lang="nl-NL" dirty="0"/>
          </a:p>
          <a:p>
            <a:pPr lvl="1"/>
            <a:r>
              <a:rPr lang="nl-NL" dirty="0">
                <a:solidFill>
                  <a:srgbClr val="FF0000"/>
                </a:solidFill>
              </a:rPr>
              <a:t>CIs </a:t>
            </a:r>
            <a:r>
              <a:rPr lang="nl-NL" dirty="0" err="1">
                <a:solidFill>
                  <a:srgbClr val="FF0000"/>
                </a:solidFill>
              </a:rPr>
              <a:t>for</a:t>
            </a:r>
            <a:r>
              <a:rPr lang="nl-NL" dirty="0">
                <a:solidFill>
                  <a:srgbClr val="FF0000"/>
                </a:solidFill>
              </a:rPr>
              <a:t> </a:t>
            </a:r>
            <a:r>
              <a:rPr lang="nl-NL" dirty="0" err="1">
                <a:solidFill>
                  <a:srgbClr val="FF0000"/>
                </a:solidFill>
              </a:rPr>
              <a:t>individual</a:t>
            </a:r>
            <a:r>
              <a:rPr lang="nl-NL" dirty="0">
                <a:solidFill>
                  <a:srgbClr val="FF0000"/>
                </a:solidFill>
              </a:rPr>
              <a:t> means are </a:t>
            </a:r>
            <a:r>
              <a:rPr lang="nl-NL" dirty="0" err="1">
                <a:solidFill>
                  <a:srgbClr val="FF0000"/>
                </a:solidFill>
              </a:rPr>
              <a:t>wider</a:t>
            </a:r>
            <a:r>
              <a:rPr lang="nl-NL" dirty="0">
                <a:solidFill>
                  <a:srgbClr val="FF0000"/>
                </a:solidFill>
              </a:rPr>
              <a:t> (by a factor of √2)</a:t>
            </a:r>
            <a:endParaRPr lang="nl-NL" dirty="0">
              <a:solidFill>
                <a:srgbClr val="FF0000"/>
              </a:solidFill>
            </a:endParaRPr>
          </a:p>
          <a:p>
            <a:endParaRPr lang="nl-NL"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0726"/>
            <a:ext cx="10515600" cy="1003356"/>
          </a:xfrm>
        </p:spPr>
        <p:txBody>
          <a:bodyPr>
            <a:normAutofit/>
          </a:bodyPr>
          <a:lstStyle/>
          <a:p>
            <a:pPr algn="ctr"/>
            <a:r>
              <a:rPr lang="nl-NL" b="1" dirty="0"/>
              <a:t>How </a:t>
            </a:r>
            <a:r>
              <a:rPr lang="nl-NL" b="1" dirty="0" err="1"/>
              <a:t>to</a:t>
            </a:r>
            <a:r>
              <a:rPr lang="nl-NL" b="1" dirty="0"/>
              <a:t> </a:t>
            </a:r>
            <a:r>
              <a:rPr lang="nl-NL" b="1" dirty="0" err="1"/>
              <a:t>visualize</a:t>
            </a:r>
            <a:r>
              <a:rPr lang="nl-NL" b="1" dirty="0"/>
              <a:t> </a:t>
            </a:r>
            <a:r>
              <a:rPr lang="nl-NL" b="1" dirty="0" err="1"/>
              <a:t>CIs</a:t>
            </a:r>
            <a:r>
              <a:rPr lang="nl-NL" b="1" dirty="0"/>
              <a:t> (w/ </a:t>
            </a:r>
            <a:r>
              <a:rPr lang="nl-NL" b="1" dirty="0" err="1"/>
              <a:t>ggplot</a:t>
            </a:r>
            <a:r>
              <a:rPr lang="nl-NL" b="1" dirty="0"/>
              <a:t>)?</a:t>
            </a:r>
            <a:endParaRPr lang="nl-NL" sz="3100" b="1" dirty="0"/>
          </a:p>
        </p:txBody>
      </p:sp>
      <p:sp>
        <p:nvSpPr>
          <p:cNvPr id="6" name="TextBox 5"/>
          <p:cNvSpPr txBox="1"/>
          <p:nvPr/>
        </p:nvSpPr>
        <p:spPr>
          <a:xfrm>
            <a:off x="6958945" y="5892581"/>
            <a:ext cx="4745466" cy="646331"/>
          </a:xfrm>
          <a:prstGeom prst="rect">
            <a:avLst/>
          </a:prstGeom>
          <a:noFill/>
        </p:spPr>
        <p:txBody>
          <a:bodyPr wrap="none" rtlCol="0">
            <a:spAutoFit/>
          </a:bodyPr>
          <a:lstStyle/>
          <a:p>
            <a:pPr algn="ctr"/>
            <a:r>
              <a:rPr lang="nl-NL" dirty="0" err="1"/>
              <a:t>Figure</a:t>
            </a:r>
            <a:r>
              <a:rPr lang="nl-NL" dirty="0"/>
              <a:t> 1: </a:t>
            </a:r>
            <a:r>
              <a:rPr lang="nl-NL" dirty="0" err="1"/>
              <a:t>Mean</a:t>
            </a:r>
            <a:r>
              <a:rPr lang="nl-NL" dirty="0"/>
              <a:t> percentage </a:t>
            </a:r>
            <a:r>
              <a:rPr lang="nl-NL" dirty="0" err="1"/>
              <a:t>accuracy</a:t>
            </a:r>
            <a:r>
              <a:rPr lang="nl-NL" dirty="0"/>
              <a:t> for low </a:t>
            </a:r>
            <a:r>
              <a:rPr lang="nl-NL" dirty="0" err="1"/>
              <a:t>and</a:t>
            </a:r>
            <a:r>
              <a:rPr lang="nl-NL" dirty="0"/>
              <a:t> </a:t>
            </a:r>
            <a:endParaRPr lang="nl-NL" dirty="0"/>
          </a:p>
          <a:p>
            <a:pPr algn="ctr"/>
            <a:r>
              <a:rPr lang="nl-NL" dirty="0"/>
              <a:t>high </a:t>
            </a:r>
            <a:r>
              <a:rPr lang="nl-NL" dirty="0" err="1"/>
              <a:t>study</a:t>
            </a:r>
            <a:r>
              <a:rPr lang="nl-NL" dirty="0"/>
              <a:t> </a:t>
            </a:r>
            <a:r>
              <a:rPr lang="nl-NL" dirty="0" err="1"/>
              <a:t>groups</a:t>
            </a:r>
            <a:r>
              <a:rPr lang="nl-NL" dirty="0"/>
              <a:t> </a:t>
            </a:r>
            <a:r>
              <a:rPr lang="nl-NL" dirty="0" err="1"/>
              <a:t>with</a:t>
            </a:r>
            <a:r>
              <a:rPr lang="nl-NL" dirty="0"/>
              <a:t> 95% CIs</a:t>
            </a:r>
            <a:endParaRPr lang="nl-NL" dirty="0"/>
          </a:p>
        </p:txBody>
      </p:sp>
      <p:sp>
        <p:nvSpPr>
          <p:cNvPr id="3" name="Slide Number Placeholder 2"/>
          <p:cNvSpPr>
            <a:spLocks noGrp="1"/>
          </p:cNvSpPr>
          <p:nvPr>
            <p:ph type="sldNum" sz="quarter" idx="12"/>
          </p:nvPr>
        </p:nvSpPr>
        <p:spPr/>
        <p:txBody>
          <a:bodyPr/>
          <a:lstStyle/>
          <a:p>
            <a:fld id="{48FBE6B8-82E0-4E11-A022-15B2AA89B3C8}" type="slidenum">
              <a:rPr lang="nl-NL" smtClean="0"/>
            </a:fld>
            <a:endParaRPr lang="nl-NL"/>
          </a:p>
        </p:txBody>
      </p:sp>
      <p:pic>
        <p:nvPicPr>
          <p:cNvPr id="9" name="Content Placeholder 8"/>
          <p:cNvPicPr>
            <a:picLocks noGrp="1" noChangeAspect="1"/>
          </p:cNvPicPr>
          <p:nvPr>
            <p:ph idx="1"/>
          </p:nvPr>
        </p:nvPicPr>
        <p:blipFill>
          <a:blip r:embed="rId1"/>
          <a:stretch>
            <a:fillRect/>
          </a:stretch>
        </p:blipFill>
        <p:spPr>
          <a:xfrm>
            <a:off x="5963921" y="1280966"/>
            <a:ext cx="6131028" cy="4590684"/>
          </a:xfrm>
          <a:prstGeom prst="rect">
            <a:avLst/>
          </a:prstGeom>
        </p:spPr>
      </p:pic>
      <p:sp>
        <p:nvSpPr>
          <p:cNvPr id="4" name="TextBox 3"/>
          <p:cNvSpPr txBox="1"/>
          <p:nvPr/>
        </p:nvSpPr>
        <p:spPr>
          <a:xfrm>
            <a:off x="59726" y="2413337"/>
            <a:ext cx="6425157" cy="2031325"/>
          </a:xfrm>
          <a:prstGeom prst="rect">
            <a:avLst/>
          </a:prstGeom>
          <a:noFill/>
        </p:spPr>
        <p:txBody>
          <a:bodyPr wrap="none" rtlCol="0">
            <a:spAutoFit/>
          </a:bodyPr>
          <a:lstStyle/>
          <a:p>
            <a:r>
              <a:rPr lang="nl-NL" dirty="0" err="1"/>
              <a:t>ggplot</a:t>
            </a:r>
            <a:r>
              <a:rPr lang="nl-NL" dirty="0"/>
              <a:t>(bp2000, </a:t>
            </a:r>
            <a:r>
              <a:rPr lang="nl-NL" dirty="0" err="1"/>
              <a:t>aes</a:t>
            </a:r>
            <a:r>
              <a:rPr lang="nl-NL" dirty="0"/>
              <a:t>(x =</a:t>
            </a:r>
            <a:r>
              <a:rPr lang="nl-NL" dirty="0" err="1"/>
              <a:t>group</a:t>
            </a:r>
            <a:r>
              <a:rPr lang="nl-NL" dirty="0"/>
              <a:t>, y =</a:t>
            </a:r>
            <a:r>
              <a:rPr lang="nl-NL" dirty="0" err="1"/>
              <a:t>percent_accuracy</a:t>
            </a:r>
            <a:r>
              <a:rPr lang="nl-NL" dirty="0"/>
              <a:t>, </a:t>
            </a:r>
            <a:r>
              <a:rPr lang="nl-NL" dirty="0" err="1"/>
              <a:t>fill</a:t>
            </a:r>
            <a:r>
              <a:rPr lang="nl-NL" dirty="0"/>
              <a:t> = </a:t>
            </a:r>
            <a:r>
              <a:rPr lang="nl-NL" dirty="0" err="1"/>
              <a:t>group</a:t>
            </a:r>
            <a:r>
              <a:rPr lang="nl-NL" dirty="0"/>
              <a:t>)) +  </a:t>
            </a:r>
            <a:endParaRPr lang="nl-NL" dirty="0"/>
          </a:p>
          <a:p>
            <a:r>
              <a:rPr lang="nl-NL" dirty="0" err="1"/>
              <a:t>stat_summary</a:t>
            </a:r>
            <a:r>
              <a:rPr lang="nl-NL" dirty="0"/>
              <a:t>(</a:t>
            </a:r>
            <a:r>
              <a:rPr lang="nl-NL" dirty="0" err="1"/>
              <a:t>geom</a:t>
            </a:r>
            <a:r>
              <a:rPr lang="nl-NL" dirty="0"/>
              <a:t> = "bar", </a:t>
            </a:r>
            <a:r>
              <a:rPr lang="nl-NL" dirty="0" err="1"/>
              <a:t>fun</a:t>
            </a:r>
            <a:r>
              <a:rPr lang="nl-NL" dirty="0"/>
              <a:t> = </a:t>
            </a:r>
            <a:r>
              <a:rPr lang="nl-NL" dirty="0" err="1"/>
              <a:t>mean</a:t>
            </a:r>
            <a:r>
              <a:rPr lang="nl-NL" dirty="0"/>
              <a:t>) +  </a:t>
            </a:r>
            <a:endParaRPr lang="nl-NL" dirty="0"/>
          </a:p>
          <a:p>
            <a:r>
              <a:rPr lang="nl-NL" dirty="0" err="1">
                <a:solidFill>
                  <a:srgbClr val="FF0000"/>
                </a:solidFill>
              </a:rPr>
              <a:t>stat_summary</a:t>
            </a:r>
            <a:r>
              <a:rPr lang="nl-NL" dirty="0">
                <a:solidFill>
                  <a:srgbClr val="FF0000"/>
                </a:solidFill>
              </a:rPr>
              <a:t>(</a:t>
            </a:r>
            <a:r>
              <a:rPr lang="nl-NL" dirty="0" err="1">
                <a:solidFill>
                  <a:srgbClr val="FF0000"/>
                </a:solidFill>
              </a:rPr>
              <a:t>geom</a:t>
            </a:r>
            <a:r>
              <a:rPr lang="nl-NL" dirty="0">
                <a:solidFill>
                  <a:srgbClr val="FF0000"/>
                </a:solidFill>
              </a:rPr>
              <a:t> = "errorbar",</a:t>
            </a:r>
            <a:r>
              <a:rPr lang="nl-NL" dirty="0" err="1">
                <a:solidFill>
                  <a:srgbClr val="FF0000"/>
                </a:solidFill>
              </a:rPr>
              <a:t>width</a:t>
            </a:r>
            <a:r>
              <a:rPr lang="nl-NL" dirty="0">
                <a:solidFill>
                  <a:srgbClr val="FF0000"/>
                </a:solidFill>
              </a:rPr>
              <a:t>=0.2, </a:t>
            </a:r>
            <a:endParaRPr lang="nl-NL" dirty="0">
              <a:solidFill>
                <a:srgbClr val="FF0000"/>
              </a:solidFill>
            </a:endParaRPr>
          </a:p>
          <a:p>
            <a:r>
              <a:rPr lang="nl-NL" dirty="0" err="1">
                <a:solidFill>
                  <a:srgbClr val="FF0000"/>
                </a:solidFill>
              </a:rPr>
              <a:t>fun.data</a:t>
            </a:r>
            <a:r>
              <a:rPr lang="nl-NL" dirty="0">
                <a:solidFill>
                  <a:srgbClr val="FF0000"/>
                </a:solidFill>
              </a:rPr>
              <a:t> = </a:t>
            </a:r>
            <a:r>
              <a:rPr lang="nl-NL" dirty="0" err="1">
                <a:solidFill>
                  <a:srgbClr val="FF0000"/>
                </a:solidFill>
              </a:rPr>
              <a:t>mean_cl_normal</a:t>
            </a:r>
            <a:r>
              <a:rPr lang="nl-NL" dirty="0">
                <a:solidFill>
                  <a:srgbClr val="FF0000"/>
                </a:solidFill>
              </a:rPr>
              <a:t>) </a:t>
            </a:r>
            <a:r>
              <a:rPr lang="nl-NL" dirty="0"/>
              <a:t>+   </a:t>
            </a:r>
            <a:endParaRPr lang="nl-NL" dirty="0"/>
          </a:p>
          <a:p>
            <a:r>
              <a:rPr lang="nl-NL" dirty="0" err="1"/>
              <a:t>coord_cartesian</a:t>
            </a:r>
            <a:r>
              <a:rPr lang="nl-NL" dirty="0"/>
              <a:t>(</a:t>
            </a:r>
            <a:r>
              <a:rPr lang="nl-NL" dirty="0" err="1"/>
              <a:t>ylim</a:t>
            </a:r>
            <a:r>
              <a:rPr lang="nl-NL" dirty="0"/>
              <a:t> = c(50, 100)) +</a:t>
            </a:r>
            <a:endParaRPr lang="nl-NL" dirty="0"/>
          </a:p>
          <a:p>
            <a:r>
              <a:rPr lang="nl-NL" dirty="0" err="1"/>
              <a:t>ylab</a:t>
            </a:r>
            <a:r>
              <a:rPr lang="nl-NL" dirty="0"/>
              <a:t>("</a:t>
            </a:r>
            <a:r>
              <a:rPr lang="nl-NL" dirty="0" err="1"/>
              <a:t>Mean</a:t>
            </a:r>
            <a:r>
              <a:rPr lang="nl-NL" dirty="0"/>
              <a:t> percentage </a:t>
            </a:r>
            <a:r>
              <a:rPr lang="nl-NL" dirty="0" err="1"/>
              <a:t>accuracy</a:t>
            </a:r>
            <a:r>
              <a:rPr lang="nl-NL" dirty="0"/>
              <a:t>")+ </a:t>
            </a:r>
            <a:r>
              <a:rPr lang="nl-NL" dirty="0" err="1"/>
              <a:t>xlab</a:t>
            </a:r>
            <a:r>
              <a:rPr lang="nl-NL" dirty="0"/>
              <a:t>("</a:t>
            </a:r>
            <a:r>
              <a:rPr lang="nl-NL" dirty="0" err="1"/>
              <a:t>Groups</a:t>
            </a:r>
            <a:r>
              <a:rPr lang="nl-NL" dirty="0"/>
              <a:t>") +  </a:t>
            </a:r>
            <a:endParaRPr lang="nl-NL" dirty="0"/>
          </a:p>
          <a:p>
            <a:r>
              <a:rPr lang="nl-NL" dirty="0" err="1"/>
              <a:t>scale_fill_grey</a:t>
            </a:r>
            <a:r>
              <a:rPr lang="nl-NL" dirty="0"/>
              <a:t>()+ </a:t>
            </a:r>
            <a:r>
              <a:rPr lang="nl-NL" dirty="0" err="1"/>
              <a:t>theme_bw</a:t>
            </a:r>
            <a:r>
              <a:rPr lang="nl-NL" dirty="0"/>
              <a:t>() + guides(</a:t>
            </a:r>
            <a:r>
              <a:rPr lang="nl-NL" dirty="0" err="1"/>
              <a:t>fill</a:t>
            </a:r>
            <a:r>
              <a:rPr lang="nl-NL" dirty="0"/>
              <a:t>="none")</a:t>
            </a:r>
            <a:endParaRPr lang="nl-NL"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980615"/>
          </a:xfrm>
        </p:spPr>
        <p:txBody>
          <a:bodyPr/>
          <a:lstStyle/>
          <a:p>
            <a:pPr algn="ctr"/>
            <a:r>
              <a:rPr lang="nl-NL" b="1" dirty="0"/>
              <a:t>How </a:t>
            </a:r>
            <a:r>
              <a:rPr lang="nl-NL" b="1" dirty="0" err="1"/>
              <a:t>to</a:t>
            </a:r>
            <a:r>
              <a:rPr lang="nl-NL" b="1" dirty="0"/>
              <a:t> report CIs?</a:t>
            </a:r>
            <a:endParaRPr lang="nl-NL" b="1" dirty="0"/>
          </a:p>
        </p:txBody>
      </p:sp>
      <p:sp>
        <p:nvSpPr>
          <p:cNvPr id="3" name="Content Placeholder 2"/>
          <p:cNvSpPr>
            <a:spLocks noGrp="1"/>
          </p:cNvSpPr>
          <p:nvPr>
            <p:ph idx="1"/>
          </p:nvPr>
        </p:nvSpPr>
        <p:spPr>
          <a:xfrm>
            <a:off x="838200" y="1468016"/>
            <a:ext cx="10515600" cy="5030320"/>
          </a:xfrm>
        </p:spPr>
        <p:txBody>
          <a:bodyPr>
            <a:normAutofit fontScale="92500" lnSpcReduction="20000"/>
          </a:bodyPr>
          <a:lstStyle/>
          <a:p>
            <a:r>
              <a:rPr lang="nl-NL" dirty="0"/>
              <a:t>According </a:t>
            </a:r>
            <a:r>
              <a:rPr lang="nl-NL" dirty="0" err="1"/>
              <a:t>to</a:t>
            </a:r>
            <a:r>
              <a:rPr lang="nl-NL" dirty="0"/>
              <a:t> APA, CIs </a:t>
            </a:r>
            <a:r>
              <a:rPr lang="nl-NL" dirty="0" err="1"/>
              <a:t>should</a:t>
            </a:r>
            <a:r>
              <a:rPr lang="nl-NL" dirty="0"/>
              <a:t> </a:t>
            </a:r>
            <a:r>
              <a:rPr lang="nl-NL" dirty="0" err="1"/>
              <a:t>be</a:t>
            </a:r>
            <a:r>
              <a:rPr lang="nl-NL" dirty="0"/>
              <a:t> </a:t>
            </a:r>
            <a:r>
              <a:rPr lang="nl-NL" dirty="0" err="1"/>
              <a:t>reported</a:t>
            </a:r>
            <a:r>
              <a:rPr lang="nl-NL" dirty="0"/>
              <a:t> in square </a:t>
            </a:r>
            <a:r>
              <a:rPr lang="nl-NL" dirty="0" err="1"/>
              <a:t>brackets</a:t>
            </a:r>
            <a:r>
              <a:rPr lang="nl-NL" dirty="0"/>
              <a:t> [ , ]</a:t>
            </a:r>
            <a:endParaRPr lang="nl-NL" dirty="0"/>
          </a:p>
          <a:p>
            <a:pPr lvl="1"/>
            <a:r>
              <a:rPr lang="nl-NL" i="1" dirty="0"/>
              <a:t>M</a:t>
            </a:r>
            <a:r>
              <a:rPr lang="nl-NL" dirty="0"/>
              <a:t> = 94.6, 95% CI [90.4, 98.8]</a:t>
            </a:r>
            <a:endParaRPr lang="nl-NL" dirty="0"/>
          </a:p>
          <a:p>
            <a:pPr lvl="1"/>
            <a:r>
              <a:rPr lang="nl-NL" i="1" dirty="0"/>
              <a:t>OR</a:t>
            </a:r>
            <a:r>
              <a:rPr lang="nl-NL" dirty="0"/>
              <a:t> = 2.22, 95% CI [1.57, 2.86]</a:t>
            </a:r>
            <a:endParaRPr lang="nl-NL" dirty="0"/>
          </a:p>
          <a:p>
            <a:pPr lvl="1"/>
            <a:r>
              <a:rPr lang="nl-NL" i="1" dirty="0"/>
              <a:t>t</a:t>
            </a:r>
            <a:r>
              <a:rPr lang="nl-NL" dirty="0"/>
              <a:t>(33.62) = 2.72, 95% CI </a:t>
            </a:r>
            <a:r>
              <a:rPr lang="nl-NL" dirty="0" err="1"/>
              <a:t>for</a:t>
            </a:r>
            <a:r>
              <a:rPr lang="nl-NL" dirty="0"/>
              <a:t> </a:t>
            </a:r>
            <a:r>
              <a:rPr lang="nl-NL" dirty="0" err="1"/>
              <a:t>the</a:t>
            </a:r>
            <a:r>
              <a:rPr lang="nl-NL" dirty="0"/>
              <a:t> </a:t>
            </a:r>
            <a:r>
              <a:rPr lang="nl-NL" dirty="0" err="1"/>
              <a:t>mean</a:t>
            </a:r>
            <a:r>
              <a:rPr lang="nl-NL" dirty="0"/>
              <a:t> </a:t>
            </a:r>
            <a:r>
              <a:rPr lang="nl-NL"/>
              <a:t>difference </a:t>
            </a:r>
            <a:r>
              <a:rPr lang="nl-NL" dirty="0"/>
              <a:t>[3.30, 22.89]</a:t>
            </a:r>
            <a:endParaRPr lang="nl-NL" dirty="0"/>
          </a:p>
          <a:p>
            <a:pPr lvl="1"/>
            <a:endParaRPr lang="nl-NL" dirty="0"/>
          </a:p>
          <a:p>
            <a:r>
              <a:rPr lang="nl-NL" dirty="0"/>
              <a:t>It is </a:t>
            </a:r>
            <a:r>
              <a:rPr lang="nl-NL" dirty="0" err="1"/>
              <a:t>recommended</a:t>
            </a:r>
            <a:r>
              <a:rPr lang="nl-NL" dirty="0"/>
              <a:t> </a:t>
            </a:r>
            <a:r>
              <a:rPr lang="nl-NL" dirty="0" err="1"/>
              <a:t>that</a:t>
            </a:r>
            <a:r>
              <a:rPr lang="nl-NL" dirty="0"/>
              <a:t> </a:t>
            </a:r>
            <a:r>
              <a:rPr lang="nl-NL" dirty="0" err="1"/>
              <a:t>the</a:t>
            </a:r>
            <a:r>
              <a:rPr lang="nl-NL" dirty="0"/>
              <a:t> CIs are </a:t>
            </a:r>
            <a:r>
              <a:rPr lang="nl-NL" dirty="0" err="1"/>
              <a:t>reported</a:t>
            </a:r>
            <a:r>
              <a:rPr lang="nl-NL" dirty="0"/>
              <a:t> </a:t>
            </a:r>
            <a:r>
              <a:rPr lang="nl-NL" dirty="0" err="1"/>
              <a:t>with</a:t>
            </a:r>
            <a:r>
              <a:rPr lang="nl-NL" dirty="0"/>
              <a:t> </a:t>
            </a:r>
            <a:r>
              <a:rPr lang="nl-NL" dirty="0" err="1"/>
              <a:t>the</a:t>
            </a:r>
            <a:r>
              <a:rPr lang="nl-NL" dirty="0"/>
              <a:t> </a:t>
            </a:r>
            <a:r>
              <a:rPr lang="nl-NL" dirty="0" err="1"/>
              <a:t>same</a:t>
            </a:r>
            <a:r>
              <a:rPr lang="nl-NL" dirty="0"/>
              <a:t> </a:t>
            </a:r>
            <a:r>
              <a:rPr lang="nl-NL" dirty="0" err="1"/>
              <a:t>precision</a:t>
            </a:r>
            <a:r>
              <a:rPr lang="nl-NL" dirty="0"/>
              <a:t> as </a:t>
            </a:r>
            <a:r>
              <a:rPr lang="nl-NL" dirty="0" err="1"/>
              <a:t>the</a:t>
            </a:r>
            <a:r>
              <a:rPr lang="nl-NL" dirty="0"/>
              <a:t> point </a:t>
            </a:r>
            <a:r>
              <a:rPr lang="nl-NL" dirty="0" err="1"/>
              <a:t>estimate</a:t>
            </a:r>
            <a:r>
              <a:rPr lang="nl-NL" dirty="0"/>
              <a:t> (i.e., </a:t>
            </a:r>
            <a:r>
              <a:rPr lang="nl-NL" dirty="0" err="1"/>
              <a:t>use</a:t>
            </a:r>
            <a:r>
              <a:rPr lang="nl-NL" dirty="0"/>
              <a:t> </a:t>
            </a:r>
            <a:r>
              <a:rPr lang="nl-NL" dirty="0" err="1"/>
              <a:t>same</a:t>
            </a:r>
            <a:r>
              <a:rPr lang="nl-NL" dirty="0"/>
              <a:t> </a:t>
            </a:r>
            <a:r>
              <a:rPr lang="nl-NL" dirty="0" err="1"/>
              <a:t>number</a:t>
            </a:r>
            <a:r>
              <a:rPr lang="nl-NL" dirty="0"/>
              <a:t> of </a:t>
            </a:r>
            <a:r>
              <a:rPr lang="nl-NL" dirty="0" err="1"/>
              <a:t>decimals</a:t>
            </a:r>
            <a:r>
              <a:rPr lang="nl-NL" dirty="0"/>
              <a:t>)</a:t>
            </a:r>
            <a:endParaRPr lang="nl-NL" dirty="0"/>
          </a:p>
          <a:p>
            <a:pPr lvl="1"/>
            <a:r>
              <a:rPr lang="nl-NL" dirty="0"/>
              <a:t>More </a:t>
            </a:r>
            <a:r>
              <a:rPr lang="nl-NL" dirty="0" err="1"/>
              <a:t>digits</a:t>
            </a:r>
            <a:r>
              <a:rPr lang="nl-NL" dirty="0"/>
              <a:t> </a:t>
            </a:r>
            <a:r>
              <a:rPr lang="nl-NL" dirty="0" err="1"/>
              <a:t>may</a:t>
            </a:r>
            <a:r>
              <a:rPr lang="nl-NL" dirty="0"/>
              <a:t> </a:t>
            </a:r>
            <a:r>
              <a:rPr lang="nl-NL" dirty="0" err="1"/>
              <a:t>give</a:t>
            </a:r>
            <a:r>
              <a:rPr lang="nl-NL" dirty="0"/>
              <a:t> </a:t>
            </a:r>
            <a:r>
              <a:rPr lang="nl-NL" dirty="0" err="1"/>
              <a:t>misleading</a:t>
            </a:r>
            <a:r>
              <a:rPr lang="nl-NL" dirty="0"/>
              <a:t> </a:t>
            </a:r>
            <a:r>
              <a:rPr lang="nl-NL" dirty="0" err="1"/>
              <a:t>impression</a:t>
            </a:r>
            <a:r>
              <a:rPr lang="nl-NL" dirty="0"/>
              <a:t> of </a:t>
            </a:r>
            <a:r>
              <a:rPr lang="nl-NL" dirty="0" err="1"/>
              <a:t>precision</a:t>
            </a:r>
            <a:endParaRPr lang="nl-NL" dirty="0"/>
          </a:p>
          <a:p>
            <a:pPr lvl="1"/>
            <a:endParaRPr lang="nl-NL" dirty="0"/>
          </a:p>
          <a:p>
            <a:r>
              <a:rPr lang="en-US" b="1" dirty="0"/>
              <a:t>Interpretation:</a:t>
            </a:r>
            <a:endParaRPr lang="en-US" b="1" dirty="0"/>
          </a:p>
          <a:p>
            <a:pPr lvl="1"/>
            <a:r>
              <a:rPr lang="en-US" sz="2600" b="1" dirty="0">
                <a:solidFill>
                  <a:srgbClr val="FF0000"/>
                </a:solidFill>
              </a:rPr>
              <a:t>Right: </a:t>
            </a:r>
            <a:r>
              <a:rPr lang="en-US" sz="2600" dirty="0">
                <a:solidFill>
                  <a:srgbClr val="FF0000"/>
                </a:solidFill>
              </a:rPr>
              <a:t>through repeated samples, e.g., 95 out of 100 confidence intervals would be expected to contain true θ with α = .05 </a:t>
            </a:r>
            <a:endParaRPr lang="en-US" sz="2600" dirty="0">
              <a:solidFill>
                <a:srgbClr val="FF0000"/>
              </a:solidFill>
            </a:endParaRPr>
          </a:p>
          <a:p>
            <a:pPr lvl="1"/>
            <a:r>
              <a:rPr lang="en-US" sz="2600" dirty="0"/>
              <a:t>Wrong: through one sample; e.g., there is a 95% chance the confidence interval around my θˆ contains the true θ (with α = .05)</a:t>
            </a:r>
            <a:endParaRPr lang="en-US" sz="2600" dirty="0"/>
          </a:p>
          <a:p>
            <a:pPr lvl="1"/>
            <a:r>
              <a:rPr lang="en-US" sz="2600" dirty="0"/>
              <a:t> Also see </a:t>
            </a:r>
            <a:r>
              <a:rPr lang="nl-NL" sz="2600" dirty="0">
                <a:hlinkClick r:id="rId1"/>
              </a:rPr>
              <a:t>https://en.wikipedia.org/wiki/Confidence_interval</a:t>
            </a:r>
            <a:endParaRPr lang="nl-NL" sz="2600" dirty="0"/>
          </a:p>
          <a:p>
            <a:pPr lvl="1"/>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Online resource</a:t>
            </a:r>
            <a:endParaRPr lang="nl-NL" sz="3100" b="1" dirty="0"/>
          </a:p>
        </p:txBody>
      </p:sp>
      <p:sp>
        <p:nvSpPr>
          <p:cNvPr id="3" name="Content Placeholder 2"/>
          <p:cNvSpPr>
            <a:spLocks noGrp="1"/>
          </p:cNvSpPr>
          <p:nvPr>
            <p:ph idx="1"/>
          </p:nvPr>
        </p:nvSpPr>
        <p:spPr>
          <a:xfrm>
            <a:off x="449451" y="1337388"/>
            <a:ext cx="11267267" cy="5069631"/>
          </a:xfrm>
        </p:spPr>
        <p:txBody>
          <a:bodyPr>
            <a:normAutofit fontScale="62500" lnSpcReduction="20000"/>
          </a:bodyPr>
          <a:lstStyle/>
          <a:p>
            <a:r>
              <a:rPr lang="en-US" sz="4500" dirty="0"/>
              <a:t>The Rice University Virtual Lab in Statistics is a valuable resource for further exploring various statistical concepts described throughout the course</a:t>
            </a:r>
            <a:endParaRPr lang="nl-NL" sz="4500" dirty="0"/>
          </a:p>
          <a:p>
            <a:pPr lvl="1"/>
            <a:r>
              <a:rPr lang="nl-NL" sz="3800" u="sng" dirty="0">
                <a:hlinkClick r:id="rId1"/>
              </a:rPr>
              <a:t>http://onlinestatbook.com/stat_sim/index.html</a:t>
            </a:r>
            <a:endParaRPr lang="nl-NL" sz="3800" u="sng" dirty="0"/>
          </a:p>
          <a:p>
            <a:pPr marL="457200" lvl="1" indent="0">
              <a:buNone/>
            </a:pPr>
            <a:endParaRPr lang="en-US" u="sng" dirty="0"/>
          </a:p>
          <a:p>
            <a:r>
              <a:rPr lang="en-US" b="1" dirty="0"/>
              <a:t>Sampling Distribution Simulation</a:t>
            </a:r>
            <a:br>
              <a:rPr lang="en-US" dirty="0"/>
            </a:br>
            <a:r>
              <a:rPr lang="en-US" dirty="0"/>
              <a:t>You specify the population distribution, sample size, and statistic. An animated sample from the population is shown and the statistic is plotted. This can be repeated to estimate the sampling distribution.</a:t>
            </a:r>
            <a:br>
              <a:rPr lang="en-US" dirty="0"/>
            </a:br>
            <a:r>
              <a:rPr lang="en-US" b="1" dirty="0">
                <a:solidFill>
                  <a:srgbClr val="FF0000"/>
                </a:solidFill>
              </a:rPr>
              <a:t>Concepts</a:t>
            </a:r>
            <a:r>
              <a:rPr lang="en-US" dirty="0">
                <a:solidFill>
                  <a:srgbClr val="FF0000"/>
                </a:solidFill>
              </a:rPr>
              <a:t>: sampling distribution, standard deviation, standard error, central limit theorem, mean, median, efficiency, fluctuation, skew, normal distribution.</a:t>
            </a:r>
            <a:endParaRPr lang="en-US" dirty="0">
              <a:solidFill>
                <a:srgbClr val="FF0000"/>
              </a:solidFill>
            </a:endParaRPr>
          </a:p>
          <a:p>
            <a:r>
              <a:rPr lang="en-US" b="1" dirty="0"/>
              <a:t>Confidence Intervals</a:t>
            </a:r>
            <a:br>
              <a:rPr lang="en-US" dirty="0"/>
            </a:br>
            <a:r>
              <a:rPr lang="en-US" dirty="0"/>
              <a:t>Confidence intervals of the mean are generated and the confidence level and sample size can be manipulated.</a:t>
            </a:r>
            <a:br>
              <a:rPr lang="en-US" dirty="0"/>
            </a:br>
            <a:r>
              <a:rPr lang="en-US" b="1" dirty="0">
                <a:solidFill>
                  <a:srgbClr val="FF0000"/>
                </a:solidFill>
              </a:rPr>
              <a:t>Concepts</a:t>
            </a:r>
            <a:r>
              <a:rPr lang="en-US" dirty="0">
                <a:solidFill>
                  <a:srgbClr val="FF0000"/>
                </a:solidFill>
              </a:rPr>
              <a:t>: confidence interval, mean, standard deviation.</a:t>
            </a:r>
            <a:endParaRPr lang="en-US" dirty="0">
              <a:solidFill>
                <a:srgbClr val="FF0000"/>
              </a:solidFill>
            </a:endParaRPr>
          </a:p>
          <a:p>
            <a:r>
              <a:rPr lang="en-US" b="1" dirty="0"/>
              <a:t>Normal Approximation to the Binomial Distribution</a:t>
            </a:r>
            <a:r>
              <a:rPr lang="en-US" dirty="0"/>
              <a:t> </a:t>
            </a:r>
            <a:br>
              <a:rPr lang="en-US" dirty="0"/>
            </a:br>
            <a:r>
              <a:rPr lang="en-US" dirty="0"/>
              <a:t>It can be used to compute binomial probabilities and normal approximations of those probabilities.</a:t>
            </a:r>
            <a:br>
              <a:rPr lang="en-US" dirty="0"/>
            </a:br>
            <a:r>
              <a:rPr lang="en-US" b="1" dirty="0">
                <a:solidFill>
                  <a:srgbClr val="FF0000"/>
                </a:solidFill>
              </a:rPr>
              <a:t>Concepts</a:t>
            </a:r>
            <a:r>
              <a:rPr lang="en-US" dirty="0">
                <a:solidFill>
                  <a:srgbClr val="FF0000"/>
                </a:solidFill>
              </a:rPr>
              <a:t>: binomial distribution, normal distribution, central limit theorem, correction for continuity.</a:t>
            </a:r>
            <a:endParaRPr lang="en-US" dirty="0">
              <a:solidFill>
                <a:srgbClr val="FF0000"/>
              </a:solidFill>
            </a:endParaRPr>
          </a:p>
          <a:p>
            <a:r>
              <a:rPr lang="en-US" b="1" dirty="0"/>
              <a:t>Confidence Interval on a Proportion</a:t>
            </a:r>
            <a:br>
              <a:rPr lang="en-US" dirty="0"/>
            </a:br>
            <a:r>
              <a:rPr lang="en-US" dirty="0"/>
              <a:t>The effect of violating the normality assumption of sampling distribution (p) can be investigated by varying N &amp; P.</a:t>
            </a:r>
            <a:br>
              <a:rPr lang="en-US" dirty="0"/>
            </a:br>
            <a:r>
              <a:rPr lang="en-US" b="1" dirty="0">
                <a:solidFill>
                  <a:srgbClr val="FF0000"/>
                </a:solidFill>
              </a:rPr>
              <a:t>Concepts:</a:t>
            </a:r>
            <a:r>
              <a:rPr lang="en-US" dirty="0">
                <a:solidFill>
                  <a:srgbClr val="FF0000"/>
                </a:solidFill>
              </a:rPr>
              <a:t> binomial distribution, normal distribution, central limit theorem, confidence interval.</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935"/>
            <a:ext cx="10515600" cy="1026367"/>
          </a:xfrm>
        </p:spPr>
        <p:txBody>
          <a:bodyPr/>
          <a:lstStyle/>
          <a:p>
            <a:pPr algn="ctr"/>
            <a:r>
              <a:rPr lang="nl-NL" b="1" dirty="0"/>
              <a:t>Summary</a:t>
            </a:r>
            <a:endParaRPr lang="nl-NL" b="1" dirty="0"/>
          </a:p>
        </p:txBody>
      </p:sp>
      <p:sp>
        <p:nvSpPr>
          <p:cNvPr id="3" name="Content Placeholder 2"/>
          <p:cNvSpPr>
            <a:spLocks noGrp="1"/>
          </p:cNvSpPr>
          <p:nvPr>
            <p:ph idx="1"/>
          </p:nvPr>
        </p:nvSpPr>
        <p:spPr>
          <a:xfrm>
            <a:off x="838200" y="1300066"/>
            <a:ext cx="10515600" cy="4876898"/>
          </a:xfrm>
        </p:spPr>
        <p:txBody>
          <a:bodyPr>
            <a:normAutofit lnSpcReduction="10000"/>
          </a:bodyPr>
          <a:lstStyle/>
          <a:p>
            <a:r>
              <a:rPr lang="nl-NL" b="1" dirty="0" err="1"/>
              <a:t>Terms</a:t>
            </a:r>
            <a:r>
              <a:rPr lang="nl-NL" b="1" dirty="0"/>
              <a:t> </a:t>
            </a:r>
            <a:r>
              <a:rPr lang="nl-NL" b="1" dirty="0" err="1"/>
              <a:t>and</a:t>
            </a:r>
            <a:r>
              <a:rPr lang="nl-NL" b="1" dirty="0"/>
              <a:t> </a:t>
            </a:r>
            <a:r>
              <a:rPr lang="nl-NL" b="1" dirty="0" err="1"/>
              <a:t>concepts</a:t>
            </a:r>
            <a:r>
              <a:rPr lang="nl-NL" b="1" dirty="0"/>
              <a:t>:</a:t>
            </a:r>
            <a:endParaRPr lang="nl-NL" b="1" dirty="0"/>
          </a:p>
          <a:p>
            <a:pPr lvl="1"/>
            <a:r>
              <a:rPr lang="nl-NL" dirty="0" err="1"/>
              <a:t>Margin</a:t>
            </a:r>
            <a:r>
              <a:rPr lang="nl-NL" dirty="0"/>
              <a:t> of Error (MOE)</a:t>
            </a:r>
            <a:endParaRPr lang="nl-NL" dirty="0"/>
          </a:p>
          <a:p>
            <a:pPr lvl="1"/>
            <a:r>
              <a:rPr lang="nl-NL" dirty="0"/>
              <a:t>Standard error (SE)</a:t>
            </a:r>
            <a:endParaRPr lang="nl-NL" dirty="0"/>
          </a:p>
          <a:p>
            <a:pPr lvl="1"/>
            <a:r>
              <a:rPr lang="nl-NL" dirty="0" err="1"/>
              <a:t>Degrees</a:t>
            </a:r>
            <a:r>
              <a:rPr lang="nl-NL" dirty="0"/>
              <a:t> of </a:t>
            </a:r>
            <a:r>
              <a:rPr lang="nl-NL" dirty="0" err="1"/>
              <a:t>freedom</a:t>
            </a:r>
            <a:r>
              <a:rPr lang="nl-NL" dirty="0"/>
              <a:t> (</a:t>
            </a:r>
            <a:r>
              <a:rPr lang="nl-NL" dirty="0" err="1"/>
              <a:t>df</a:t>
            </a:r>
            <a:r>
              <a:rPr lang="nl-NL" dirty="0"/>
              <a:t>)</a:t>
            </a:r>
            <a:endParaRPr lang="nl-NL" dirty="0"/>
          </a:p>
          <a:p>
            <a:pPr lvl="1"/>
            <a:endParaRPr lang="nl-NL" dirty="0"/>
          </a:p>
          <a:p>
            <a:r>
              <a:rPr lang="nl-NL" b="1" dirty="0"/>
              <a:t>Types of CIs:</a:t>
            </a:r>
            <a:endParaRPr lang="nl-NL" b="1" dirty="0"/>
          </a:p>
          <a:p>
            <a:pPr lvl="1"/>
            <a:r>
              <a:rPr lang="nl-NL" dirty="0"/>
              <a:t>Based on different </a:t>
            </a:r>
            <a:r>
              <a:rPr lang="nl-NL" dirty="0" err="1"/>
              <a:t>distributions</a:t>
            </a:r>
            <a:r>
              <a:rPr lang="nl-NL" dirty="0"/>
              <a:t> (</a:t>
            </a:r>
            <a:r>
              <a:rPr lang="nl-NL" dirty="0" err="1"/>
              <a:t>normal</a:t>
            </a:r>
            <a:r>
              <a:rPr lang="nl-NL" dirty="0"/>
              <a:t>, t-, </a:t>
            </a:r>
            <a:r>
              <a:rPr lang="nl-NL" dirty="0" err="1"/>
              <a:t>binomial</a:t>
            </a:r>
            <a:r>
              <a:rPr lang="nl-NL" dirty="0"/>
              <a:t>, </a:t>
            </a:r>
            <a:r>
              <a:rPr lang="nl-NL" dirty="0" err="1"/>
              <a:t>poisson</a:t>
            </a:r>
            <a:r>
              <a:rPr lang="nl-NL" dirty="0"/>
              <a:t>)</a:t>
            </a:r>
            <a:endParaRPr lang="nl-NL" dirty="0"/>
          </a:p>
          <a:p>
            <a:pPr lvl="1"/>
            <a:r>
              <a:rPr lang="nl-NL" dirty="0" err="1"/>
              <a:t>Individual</a:t>
            </a:r>
            <a:r>
              <a:rPr lang="nl-NL" dirty="0"/>
              <a:t> </a:t>
            </a:r>
            <a:r>
              <a:rPr lang="nl-NL" dirty="0" err="1"/>
              <a:t>statistics</a:t>
            </a:r>
            <a:r>
              <a:rPr lang="nl-NL" dirty="0"/>
              <a:t> </a:t>
            </a:r>
            <a:r>
              <a:rPr lang="nl-NL" dirty="0" err="1"/>
              <a:t>and</a:t>
            </a:r>
            <a:r>
              <a:rPr lang="nl-NL" dirty="0"/>
              <a:t> </a:t>
            </a:r>
            <a:r>
              <a:rPr lang="nl-NL" dirty="0" err="1"/>
              <a:t>difference</a:t>
            </a:r>
            <a:r>
              <a:rPr lang="nl-NL" dirty="0"/>
              <a:t> </a:t>
            </a:r>
            <a:r>
              <a:rPr lang="nl-NL" dirty="0" err="1"/>
              <a:t>between</a:t>
            </a:r>
            <a:r>
              <a:rPr lang="nl-NL" dirty="0"/>
              <a:t> two </a:t>
            </a:r>
            <a:r>
              <a:rPr lang="nl-NL" dirty="0" err="1"/>
              <a:t>statistics</a:t>
            </a:r>
            <a:endParaRPr lang="nl-NL" dirty="0"/>
          </a:p>
          <a:p>
            <a:pPr lvl="1"/>
            <a:r>
              <a:rPr lang="nl-NL" dirty="0"/>
              <a:t>Based on </a:t>
            </a:r>
            <a:r>
              <a:rPr lang="nl-NL" dirty="0" err="1"/>
              <a:t>total</a:t>
            </a:r>
            <a:r>
              <a:rPr lang="nl-NL" dirty="0"/>
              <a:t> sample or </a:t>
            </a:r>
            <a:r>
              <a:rPr lang="nl-NL" dirty="0" err="1"/>
              <a:t>bootstrapped</a:t>
            </a:r>
            <a:r>
              <a:rPr lang="nl-NL" dirty="0"/>
              <a:t> samples</a:t>
            </a:r>
            <a:endParaRPr lang="nl-NL" dirty="0"/>
          </a:p>
          <a:p>
            <a:pPr lvl="1"/>
            <a:endParaRPr lang="nl-NL" dirty="0"/>
          </a:p>
          <a:p>
            <a:r>
              <a:rPr lang="nl-NL" b="1" dirty="0" err="1"/>
              <a:t>Visualization</a:t>
            </a:r>
            <a:r>
              <a:rPr lang="nl-NL" b="1" dirty="0"/>
              <a:t> of CIs:</a:t>
            </a:r>
            <a:endParaRPr lang="nl-NL" b="1" dirty="0"/>
          </a:p>
          <a:p>
            <a:pPr lvl="1"/>
            <a:r>
              <a:rPr lang="nl-NL" dirty="0"/>
              <a:t>Reporting CIs for </a:t>
            </a:r>
            <a:r>
              <a:rPr lang="nl-NL" dirty="0" err="1"/>
              <a:t>individual</a:t>
            </a:r>
            <a:r>
              <a:rPr lang="nl-NL" dirty="0"/>
              <a:t> means </a:t>
            </a:r>
            <a:r>
              <a:rPr lang="nl-NL" dirty="0" err="1"/>
              <a:t>and</a:t>
            </a:r>
            <a:r>
              <a:rPr lang="nl-NL" dirty="0"/>
              <a:t>/or </a:t>
            </a:r>
            <a:r>
              <a:rPr lang="nl-NL" dirty="0" err="1"/>
              <a:t>difference</a:t>
            </a:r>
            <a:r>
              <a:rPr lang="nl-NL" dirty="0"/>
              <a:t> </a:t>
            </a:r>
            <a:r>
              <a:rPr lang="nl-NL" dirty="0" err="1"/>
              <a:t>between</a:t>
            </a:r>
            <a:r>
              <a:rPr lang="nl-NL" dirty="0"/>
              <a:t> means</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nl-NL" b="1" dirty="0" err="1"/>
              <a:t>Significance</a:t>
            </a:r>
            <a:r>
              <a:rPr lang="nl-NL" b="1" dirty="0"/>
              <a:t> Tests</a:t>
            </a:r>
            <a:endParaRPr lang="nl-NL" b="1" dirty="0"/>
          </a:p>
        </p:txBody>
      </p:sp>
      <p:sp>
        <p:nvSpPr>
          <p:cNvPr id="5" name="Subtitle 4"/>
          <p:cNvSpPr>
            <a:spLocks noGrp="1"/>
          </p:cNvSpPr>
          <p:nvPr>
            <p:ph type="subTitle" idx="1"/>
          </p:nvPr>
        </p:nvSpPr>
        <p:spPr/>
        <p:txBody>
          <a:bodyPr/>
          <a:lstStyle/>
          <a:p>
            <a:endParaRPr lang="nl-NL"/>
          </a:p>
        </p:txBody>
      </p:sp>
      <p:sp>
        <p:nvSpPr>
          <p:cNvPr id="2" name="Slide Number Placeholder 1"/>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err="1"/>
              <a:t>What</a:t>
            </a:r>
            <a:r>
              <a:rPr lang="nl-NL" b="1" dirty="0"/>
              <a:t> are </a:t>
            </a:r>
            <a:r>
              <a:rPr lang="nl-NL" b="1" dirty="0" err="1"/>
              <a:t>significance</a:t>
            </a:r>
            <a:r>
              <a:rPr lang="nl-NL" b="1" dirty="0"/>
              <a:t> tests?</a:t>
            </a:r>
            <a:endParaRPr lang="nl-NL" b="1" dirty="0"/>
          </a:p>
        </p:txBody>
      </p:sp>
      <p:sp>
        <p:nvSpPr>
          <p:cNvPr id="3" name="Content Placeholder 2"/>
          <p:cNvSpPr>
            <a:spLocks noGrp="1"/>
          </p:cNvSpPr>
          <p:nvPr>
            <p:ph idx="1"/>
          </p:nvPr>
        </p:nvSpPr>
        <p:spPr>
          <a:xfrm>
            <a:off x="703847" y="1393371"/>
            <a:ext cx="10756232" cy="4939006"/>
          </a:xfrm>
        </p:spPr>
        <p:txBody>
          <a:bodyPr>
            <a:normAutofit lnSpcReduction="10000"/>
          </a:bodyPr>
          <a:lstStyle/>
          <a:p>
            <a:r>
              <a:rPr lang="nl-NL" dirty="0" err="1"/>
              <a:t>Null</a:t>
            </a:r>
            <a:r>
              <a:rPr lang="nl-NL" dirty="0"/>
              <a:t> hypothesis </a:t>
            </a:r>
            <a:r>
              <a:rPr lang="nl-NL" dirty="0" err="1"/>
              <a:t>significance</a:t>
            </a:r>
            <a:r>
              <a:rPr lang="nl-NL" dirty="0"/>
              <a:t> tests (</a:t>
            </a:r>
            <a:r>
              <a:rPr lang="nl-NL" dirty="0" err="1"/>
              <a:t>NHSTs</a:t>
            </a:r>
            <a:r>
              <a:rPr lang="nl-NL" dirty="0"/>
              <a:t>) is </a:t>
            </a:r>
            <a:r>
              <a:rPr lang="nl-NL" dirty="0" err="1"/>
              <a:t>the</a:t>
            </a:r>
            <a:r>
              <a:rPr lang="nl-NL" dirty="0"/>
              <a:t> most prevalent </a:t>
            </a:r>
            <a:r>
              <a:rPr lang="nl-NL" dirty="0" err="1"/>
              <a:t>statistical</a:t>
            </a:r>
            <a:r>
              <a:rPr lang="nl-NL" dirty="0"/>
              <a:t> tool for </a:t>
            </a:r>
            <a:r>
              <a:rPr lang="nl-NL" dirty="0" err="1"/>
              <a:t>testing</a:t>
            </a:r>
            <a:r>
              <a:rPr lang="nl-NL" dirty="0"/>
              <a:t> </a:t>
            </a:r>
            <a:r>
              <a:rPr lang="nl-NL" dirty="0" err="1"/>
              <a:t>predictions</a:t>
            </a:r>
            <a:r>
              <a:rPr lang="nl-NL" dirty="0"/>
              <a:t> (hypotheses)</a:t>
            </a:r>
            <a:endParaRPr lang="nl-NL" dirty="0"/>
          </a:p>
          <a:p>
            <a:pPr lvl="1"/>
            <a:r>
              <a:rPr lang="nl-NL" b="1" dirty="0"/>
              <a:t>BUT, </a:t>
            </a:r>
            <a:r>
              <a:rPr lang="nl-NL" b="1" dirty="0" err="1"/>
              <a:t>just</a:t>
            </a:r>
            <a:r>
              <a:rPr lang="nl-NL" b="1" dirty="0"/>
              <a:t> </a:t>
            </a:r>
            <a:r>
              <a:rPr lang="nl-NL" b="1" dirty="0" err="1"/>
              <a:t>because</a:t>
            </a:r>
            <a:r>
              <a:rPr lang="nl-NL" b="1" dirty="0"/>
              <a:t> </a:t>
            </a:r>
            <a:r>
              <a:rPr lang="nl-NL" b="1" dirty="0" err="1"/>
              <a:t>everyone</a:t>
            </a:r>
            <a:r>
              <a:rPr lang="nl-NL" b="1" dirty="0"/>
              <a:t> </a:t>
            </a:r>
            <a:r>
              <a:rPr lang="nl-NL" b="1" dirty="0" err="1"/>
              <a:t>uses</a:t>
            </a:r>
            <a:r>
              <a:rPr lang="nl-NL" b="1" dirty="0"/>
              <a:t> NHST, </a:t>
            </a:r>
            <a:r>
              <a:rPr lang="nl-NL" b="1" dirty="0" err="1"/>
              <a:t>doesn’t</a:t>
            </a:r>
            <a:r>
              <a:rPr lang="nl-NL" b="1" dirty="0"/>
              <a:t> make </a:t>
            </a:r>
            <a:r>
              <a:rPr lang="nl-NL" b="1" dirty="0" err="1"/>
              <a:t>it</a:t>
            </a:r>
            <a:r>
              <a:rPr lang="nl-NL" b="1" dirty="0"/>
              <a:t> right!</a:t>
            </a:r>
            <a:endParaRPr lang="nl-NL" b="1" dirty="0"/>
          </a:p>
          <a:p>
            <a:pPr lvl="1"/>
            <a:endParaRPr lang="nl-NL" dirty="0"/>
          </a:p>
          <a:p>
            <a:r>
              <a:rPr lang="nl-NL" b="1" dirty="0"/>
              <a:t>The NHST approach </a:t>
            </a:r>
            <a:r>
              <a:rPr lang="nl-NL" b="1" dirty="0" err="1"/>
              <a:t>consists</a:t>
            </a:r>
            <a:r>
              <a:rPr lang="nl-NL" b="1" dirty="0"/>
              <a:t> of:</a:t>
            </a:r>
            <a:endParaRPr lang="nl-NL" b="1" dirty="0"/>
          </a:p>
          <a:p>
            <a:pPr lvl="1"/>
            <a:r>
              <a:rPr lang="nl-NL" dirty="0"/>
              <a:t>(a) </a:t>
            </a:r>
            <a:r>
              <a:rPr lang="nl-NL" dirty="0" err="1"/>
              <a:t>specifying</a:t>
            </a:r>
            <a:r>
              <a:rPr lang="nl-NL" dirty="0"/>
              <a:t> a </a:t>
            </a:r>
            <a:r>
              <a:rPr lang="nl-NL" dirty="0" err="1"/>
              <a:t>null</a:t>
            </a:r>
            <a:r>
              <a:rPr lang="nl-NL" dirty="0"/>
              <a:t> hypothesis (H</a:t>
            </a:r>
            <a:r>
              <a:rPr lang="nl-NL" baseline="-25000" dirty="0"/>
              <a:t>0</a:t>
            </a:r>
            <a:r>
              <a:rPr lang="nl-NL" dirty="0"/>
              <a:t>), i.e., </a:t>
            </a:r>
            <a:r>
              <a:rPr lang="nl-NL" dirty="0" err="1"/>
              <a:t>the</a:t>
            </a:r>
            <a:r>
              <a:rPr lang="nl-NL" dirty="0"/>
              <a:t> effect of interest is zero</a:t>
            </a:r>
            <a:endParaRPr lang="nl-NL" dirty="0"/>
          </a:p>
          <a:p>
            <a:pPr lvl="1"/>
            <a:r>
              <a:rPr lang="nl-NL" dirty="0"/>
              <a:t>(b) </a:t>
            </a:r>
            <a:r>
              <a:rPr lang="nl-NL" dirty="0" err="1"/>
              <a:t>calculating</a:t>
            </a:r>
            <a:r>
              <a:rPr lang="nl-NL" dirty="0"/>
              <a:t> </a:t>
            </a:r>
            <a:r>
              <a:rPr lang="nl-NL" dirty="0" err="1"/>
              <a:t>the</a:t>
            </a:r>
            <a:r>
              <a:rPr lang="nl-NL" dirty="0"/>
              <a:t> probability (</a:t>
            </a:r>
            <a:r>
              <a:rPr lang="nl-NL" i="1" dirty="0"/>
              <a:t>p</a:t>
            </a:r>
            <a:r>
              <a:rPr lang="nl-NL" dirty="0"/>
              <a:t>) of </a:t>
            </a:r>
            <a:r>
              <a:rPr lang="nl-NL" dirty="0" err="1"/>
              <a:t>obtaining</a:t>
            </a:r>
            <a:r>
              <a:rPr lang="nl-NL" dirty="0"/>
              <a:t> a </a:t>
            </a:r>
            <a:r>
              <a:rPr lang="nl-NL" dirty="0" err="1"/>
              <a:t>statistic</a:t>
            </a:r>
            <a:r>
              <a:rPr lang="nl-NL" dirty="0"/>
              <a:t> </a:t>
            </a:r>
            <a:r>
              <a:rPr lang="nl-NL" dirty="0" err="1"/>
              <a:t>if</a:t>
            </a:r>
            <a:r>
              <a:rPr lang="nl-NL" dirty="0"/>
              <a:t> H</a:t>
            </a:r>
            <a:r>
              <a:rPr lang="nl-NL" baseline="-25000" dirty="0"/>
              <a:t>0 </a:t>
            </a:r>
            <a:r>
              <a:rPr lang="nl-NL" dirty="0"/>
              <a:t>is </a:t>
            </a:r>
            <a:r>
              <a:rPr lang="nl-NL" dirty="0" err="1"/>
              <a:t>true</a:t>
            </a:r>
            <a:endParaRPr lang="nl-NL" dirty="0"/>
          </a:p>
          <a:p>
            <a:pPr lvl="1"/>
            <a:r>
              <a:rPr lang="nl-NL" dirty="0"/>
              <a:t>(c) </a:t>
            </a:r>
            <a:r>
              <a:rPr lang="nl-NL" dirty="0" err="1">
                <a:solidFill>
                  <a:srgbClr val="FF0000"/>
                </a:solidFill>
              </a:rPr>
              <a:t>rejecting</a:t>
            </a:r>
            <a:r>
              <a:rPr lang="nl-NL" dirty="0">
                <a:solidFill>
                  <a:srgbClr val="FF0000"/>
                </a:solidFill>
              </a:rPr>
              <a:t> H</a:t>
            </a:r>
            <a:r>
              <a:rPr lang="nl-NL" baseline="-25000" dirty="0">
                <a:solidFill>
                  <a:srgbClr val="FF0000"/>
                </a:solidFill>
              </a:rPr>
              <a:t>0 </a:t>
            </a:r>
            <a:r>
              <a:rPr lang="nl-NL" dirty="0" err="1"/>
              <a:t>if</a:t>
            </a:r>
            <a:r>
              <a:rPr lang="nl-NL" dirty="0"/>
              <a:t> </a:t>
            </a:r>
            <a:r>
              <a:rPr lang="nl-NL" i="1" dirty="0"/>
              <a:t>p</a:t>
            </a:r>
            <a:r>
              <a:rPr lang="nl-NL" dirty="0"/>
              <a:t>-</a:t>
            </a:r>
            <a:r>
              <a:rPr lang="nl-NL" dirty="0" err="1"/>
              <a:t>value</a:t>
            </a:r>
            <a:r>
              <a:rPr lang="nl-NL" dirty="0"/>
              <a:t> is small </a:t>
            </a:r>
            <a:r>
              <a:rPr lang="nl-NL" b="1" dirty="0"/>
              <a:t>OR</a:t>
            </a:r>
            <a:r>
              <a:rPr lang="nl-NL" dirty="0"/>
              <a:t> </a:t>
            </a:r>
            <a:r>
              <a:rPr lang="nl-NL" dirty="0" err="1">
                <a:solidFill>
                  <a:srgbClr val="FF0000"/>
                </a:solidFill>
              </a:rPr>
              <a:t>failing</a:t>
            </a:r>
            <a:r>
              <a:rPr lang="nl-NL" dirty="0">
                <a:solidFill>
                  <a:srgbClr val="FF0000"/>
                </a:solidFill>
              </a:rPr>
              <a:t> </a:t>
            </a:r>
            <a:r>
              <a:rPr lang="nl-NL" dirty="0" err="1">
                <a:solidFill>
                  <a:srgbClr val="FF0000"/>
                </a:solidFill>
              </a:rPr>
              <a:t>to</a:t>
            </a:r>
            <a:r>
              <a:rPr lang="nl-NL" dirty="0">
                <a:solidFill>
                  <a:srgbClr val="FF0000"/>
                </a:solidFill>
              </a:rPr>
              <a:t> reject H</a:t>
            </a:r>
            <a:r>
              <a:rPr lang="nl-NL" baseline="-25000" dirty="0">
                <a:solidFill>
                  <a:srgbClr val="FF0000"/>
                </a:solidFill>
              </a:rPr>
              <a:t>0 </a:t>
            </a:r>
            <a:r>
              <a:rPr lang="nl-NL" dirty="0" err="1"/>
              <a:t>if</a:t>
            </a:r>
            <a:r>
              <a:rPr lang="nl-NL" dirty="0"/>
              <a:t> </a:t>
            </a:r>
            <a:r>
              <a:rPr lang="nl-NL" i="1" dirty="0"/>
              <a:t>p</a:t>
            </a:r>
            <a:r>
              <a:rPr lang="nl-NL" dirty="0"/>
              <a:t>-</a:t>
            </a:r>
            <a:r>
              <a:rPr lang="nl-NL" dirty="0" err="1"/>
              <a:t>value</a:t>
            </a:r>
            <a:r>
              <a:rPr lang="nl-NL" dirty="0"/>
              <a:t> is large</a:t>
            </a:r>
            <a:endParaRPr lang="nl-NL" dirty="0"/>
          </a:p>
          <a:p>
            <a:endParaRPr lang="nl-NL" dirty="0"/>
          </a:p>
          <a:p>
            <a:r>
              <a:rPr lang="nl-NL" dirty="0" err="1"/>
              <a:t>So</a:t>
            </a:r>
            <a:r>
              <a:rPr lang="nl-NL" dirty="0"/>
              <a:t>, </a:t>
            </a:r>
            <a:r>
              <a:rPr lang="nl-NL" dirty="0" err="1"/>
              <a:t>based</a:t>
            </a:r>
            <a:r>
              <a:rPr lang="nl-NL" dirty="0"/>
              <a:t> on </a:t>
            </a:r>
            <a:r>
              <a:rPr lang="nl-NL" dirty="0" err="1"/>
              <a:t>the</a:t>
            </a:r>
            <a:r>
              <a:rPr lang="nl-NL" dirty="0"/>
              <a:t> </a:t>
            </a:r>
            <a:r>
              <a:rPr lang="nl-NL" i="1" dirty="0"/>
              <a:t>p</a:t>
            </a:r>
            <a:r>
              <a:rPr lang="nl-NL" dirty="0"/>
              <a:t>-</a:t>
            </a:r>
            <a:r>
              <a:rPr lang="nl-NL" dirty="0" err="1"/>
              <a:t>value</a:t>
            </a:r>
            <a:r>
              <a:rPr lang="nl-NL" dirty="0"/>
              <a:t> </a:t>
            </a:r>
            <a:r>
              <a:rPr lang="nl-NL" dirty="0" err="1"/>
              <a:t>one</a:t>
            </a:r>
            <a:r>
              <a:rPr lang="nl-NL" dirty="0"/>
              <a:t> </a:t>
            </a:r>
            <a:r>
              <a:rPr lang="nl-NL" dirty="0" err="1"/>
              <a:t>can</a:t>
            </a:r>
            <a:r>
              <a:rPr lang="nl-NL" dirty="0"/>
              <a:t> </a:t>
            </a:r>
            <a:r>
              <a:rPr lang="nl-NL" dirty="0" err="1"/>
              <a:t>either</a:t>
            </a:r>
            <a:r>
              <a:rPr lang="nl-NL" dirty="0"/>
              <a:t> </a:t>
            </a:r>
            <a:r>
              <a:rPr lang="nl-NL" dirty="0" err="1"/>
              <a:t>find</a:t>
            </a:r>
            <a:r>
              <a:rPr lang="nl-NL" dirty="0"/>
              <a:t> support for H</a:t>
            </a:r>
            <a:r>
              <a:rPr lang="nl-NL" baseline="-25000" dirty="0"/>
              <a:t>0</a:t>
            </a:r>
            <a:r>
              <a:rPr lang="nl-NL" dirty="0"/>
              <a:t> OR </a:t>
            </a:r>
            <a:r>
              <a:rPr lang="nl-NL" dirty="0" err="1"/>
              <a:t>not</a:t>
            </a:r>
            <a:r>
              <a:rPr lang="nl-NL" dirty="0"/>
              <a:t> </a:t>
            </a:r>
            <a:r>
              <a:rPr lang="nl-NL" dirty="0" err="1"/>
              <a:t>find</a:t>
            </a:r>
            <a:r>
              <a:rPr lang="nl-NL" dirty="0"/>
              <a:t> support for H</a:t>
            </a:r>
            <a:r>
              <a:rPr lang="nl-NL" baseline="-25000" dirty="0"/>
              <a:t>0</a:t>
            </a:r>
            <a:endParaRPr lang="nl-NL" baseline="-25000" dirty="0"/>
          </a:p>
          <a:p>
            <a:pPr lvl="1"/>
            <a:r>
              <a:rPr lang="nl-NL" b="1" dirty="0" err="1">
                <a:solidFill>
                  <a:srgbClr val="FF0000"/>
                </a:solidFill>
              </a:rPr>
              <a:t>One</a:t>
            </a:r>
            <a:r>
              <a:rPr lang="nl-NL" b="1" dirty="0">
                <a:solidFill>
                  <a:srgbClr val="FF0000"/>
                </a:solidFill>
              </a:rPr>
              <a:t> </a:t>
            </a:r>
            <a:r>
              <a:rPr lang="nl-NL" b="1" dirty="0" err="1">
                <a:solidFill>
                  <a:srgbClr val="FF0000"/>
                </a:solidFill>
              </a:rPr>
              <a:t>can</a:t>
            </a:r>
            <a:r>
              <a:rPr lang="nl-NL" b="1" dirty="0">
                <a:solidFill>
                  <a:srgbClr val="FF0000"/>
                </a:solidFill>
              </a:rPr>
              <a:t> never “prove” </a:t>
            </a:r>
            <a:r>
              <a:rPr lang="nl-NL" b="1" dirty="0" err="1">
                <a:solidFill>
                  <a:srgbClr val="FF0000"/>
                </a:solidFill>
              </a:rPr>
              <a:t>that</a:t>
            </a:r>
            <a:r>
              <a:rPr lang="nl-NL" b="1" dirty="0">
                <a:solidFill>
                  <a:srgbClr val="FF0000"/>
                </a:solidFill>
              </a:rPr>
              <a:t> </a:t>
            </a:r>
            <a:r>
              <a:rPr lang="nl-NL" b="1" dirty="0" err="1">
                <a:solidFill>
                  <a:srgbClr val="FF0000"/>
                </a:solidFill>
              </a:rPr>
              <a:t>the</a:t>
            </a:r>
            <a:r>
              <a:rPr lang="nl-NL" b="1" dirty="0">
                <a:solidFill>
                  <a:srgbClr val="FF0000"/>
                </a:solidFill>
              </a:rPr>
              <a:t> </a:t>
            </a:r>
            <a:r>
              <a:rPr lang="nl-NL" b="1" dirty="0" err="1">
                <a:solidFill>
                  <a:srgbClr val="FF0000"/>
                </a:solidFill>
              </a:rPr>
              <a:t>alternative</a:t>
            </a:r>
            <a:r>
              <a:rPr lang="nl-NL" b="1" dirty="0">
                <a:solidFill>
                  <a:srgbClr val="FF0000"/>
                </a:solidFill>
              </a:rPr>
              <a:t> hypothesis (H</a:t>
            </a:r>
            <a:r>
              <a:rPr lang="nl-NL" b="1" baseline="-25000" dirty="0">
                <a:solidFill>
                  <a:srgbClr val="FF0000"/>
                </a:solidFill>
              </a:rPr>
              <a:t>1</a:t>
            </a:r>
            <a:r>
              <a:rPr lang="nl-NL" b="1" dirty="0">
                <a:solidFill>
                  <a:srgbClr val="FF0000"/>
                </a:solidFill>
              </a:rPr>
              <a:t>) is </a:t>
            </a:r>
            <a:r>
              <a:rPr lang="nl-NL" b="1" dirty="0" err="1">
                <a:solidFill>
                  <a:srgbClr val="FF0000"/>
                </a:solidFill>
              </a:rPr>
              <a:t>true</a:t>
            </a:r>
            <a:r>
              <a:rPr lang="nl-NL" b="1" dirty="0">
                <a:solidFill>
                  <a:srgbClr val="FF0000"/>
                </a:solidFill>
              </a:rPr>
              <a:t>!</a:t>
            </a:r>
            <a:endParaRPr lang="nl-NL" b="1"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err="1"/>
              <a:t>Possible</a:t>
            </a:r>
            <a:r>
              <a:rPr lang="nl-NL" b="1" dirty="0"/>
              <a:t> </a:t>
            </a:r>
            <a:r>
              <a:rPr lang="nl-NL" b="1" dirty="0" err="1"/>
              <a:t>outcomes</a:t>
            </a:r>
            <a:r>
              <a:rPr lang="nl-NL" b="1" dirty="0"/>
              <a:t> of NHST?</a:t>
            </a:r>
            <a:endParaRPr lang="nl-NL" b="1"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pic>
        <p:nvPicPr>
          <p:cNvPr id="3074" name="Picture 2" descr="Gerelateerde afbeeld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16663" y="3198114"/>
            <a:ext cx="6069636" cy="271919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fbeeldingsresultaat voor type 1 vs type 2 err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765" y="1375475"/>
            <a:ext cx="6184931" cy="292530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erelateerde afbeeld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9356" y="4407293"/>
            <a:ext cx="4827386" cy="19490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597423" y="5907717"/>
            <a:ext cx="3491277" cy="400110"/>
          </a:xfrm>
          <a:prstGeom prst="rect">
            <a:avLst/>
          </a:prstGeom>
          <a:noFill/>
        </p:spPr>
        <p:txBody>
          <a:bodyPr wrap="none" rtlCol="0">
            <a:spAutoFit/>
          </a:bodyPr>
          <a:lstStyle/>
          <a:p>
            <a:r>
              <a:rPr lang="nl-NL" sz="2000" b="1" dirty="0"/>
              <a:t>H0: The </a:t>
            </a:r>
            <a:r>
              <a:rPr lang="nl-NL" sz="2000" b="1" dirty="0" err="1"/>
              <a:t>patient</a:t>
            </a:r>
            <a:r>
              <a:rPr lang="nl-NL" sz="2000" b="1" dirty="0"/>
              <a:t> is </a:t>
            </a:r>
            <a:r>
              <a:rPr lang="nl-NL" sz="2000" b="1" dirty="0" err="1"/>
              <a:t>not</a:t>
            </a:r>
            <a:r>
              <a:rPr lang="nl-NL" sz="2000" b="1" dirty="0"/>
              <a:t> pregnant</a:t>
            </a:r>
            <a:endParaRPr lang="nl-NL"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err="1"/>
              <a:t>What</a:t>
            </a:r>
            <a:r>
              <a:rPr lang="nl-NL" b="1" dirty="0"/>
              <a:t> are </a:t>
            </a:r>
            <a:r>
              <a:rPr lang="nl-NL" b="1" i="1" dirty="0"/>
              <a:t>p</a:t>
            </a:r>
            <a:r>
              <a:rPr lang="nl-NL" b="1" dirty="0"/>
              <a:t>-</a:t>
            </a:r>
            <a:r>
              <a:rPr lang="nl-NL" b="1" dirty="0" err="1"/>
              <a:t>values</a:t>
            </a:r>
            <a:r>
              <a:rPr lang="nl-NL" b="1" dirty="0"/>
              <a:t>?</a:t>
            </a:r>
            <a:endParaRPr lang="nl-NL" b="1" dirty="0"/>
          </a:p>
        </p:txBody>
      </p:sp>
      <p:sp>
        <p:nvSpPr>
          <p:cNvPr id="3" name="Content Placeholder 2"/>
          <p:cNvSpPr>
            <a:spLocks noGrp="1"/>
          </p:cNvSpPr>
          <p:nvPr>
            <p:ph idx="1"/>
          </p:nvPr>
        </p:nvSpPr>
        <p:spPr>
          <a:xfrm>
            <a:off x="703847" y="1393371"/>
            <a:ext cx="10756232" cy="4939006"/>
          </a:xfrm>
        </p:spPr>
        <p:txBody>
          <a:bodyPr>
            <a:normAutofit/>
          </a:bodyPr>
          <a:lstStyle/>
          <a:p>
            <a:r>
              <a:rPr lang="nl-NL" dirty="0"/>
              <a:t>A</a:t>
            </a:r>
            <a:r>
              <a:rPr lang="nl-NL" i="1" dirty="0"/>
              <a:t> p</a:t>
            </a:r>
            <a:r>
              <a:rPr lang="nl-NL" dirty="0"/>
              <a:t>-</a:t>
            </a:r>
            <a:r>
              <a:rPr lang="nl-NL" dirty="0" err="1"/>
              <a:t>value</a:t>
            </a:r>
            <a:r>
              <a:rPr lang="nl-NL" dirty="0"/>
              <a:t> is a </a:t>
            </a:r>
            <a:r>
              <a:rPr lang="nl-NL" dirty="0" err="1"/>
              <a:t>conditional</a:t>
            </a:r>
            <a:r>
              <a:rPr lang="nl-NL" dirty="0"/>
              <a:t> probability, </a:t>
            </a:r>
            <a:r>
              <a:rPr lang="en-US" dirty="0"/>
              <a:t>which gives the likelihood of the observation if </a:t>
            </a:r>
            <a:r>
              <a:rPr lang="nl-NL" dirty="0"/>
              <a:t>H</a:t>
            </a:r>
            <a:r>
              <a:rPr lang="nl-NL" baseline="-25000" dirty="0"/>
              <a:t>0 </a:t>
            </a:r>
            <a:r>
              <a:rPr lang="en-US" dirty="0"/>
              <a:t>is </a:t>
            </a:r>
            <a:r>
              <a:rPr lang="en-US" i="1" dirty="0"/>
              <a:t>assumed</a:t>
            </a:r>
            <a:r>
              <a:rPr lang="en-US" dirty="0"/>
              <a:t> to be correct. </a:t>
            </a:r>
            <a:endParaRPr lang="en-US" dirty="0"/>
          </a:p>
          <a:p>
            <a:pPr lvl="1"/>
            <a:endParaRPr lang="en-US" b="1" dirty="0"/>
          </a:p>
          <a:p>
            <a:r>
              <a:rPr lang="en-US" dirty="0"/>
              <a:t>The confidence level (aka significance level) should be identified prior to performing any analyses</a:t>
            </a:r>
            <a:endParaRPr lang="en-US" dirty="0"/>
          </a:p>
          <a:p>
            <a:pPr lvl="1"/>
            <a:r>
              <a:rPr lang="en-US" dirty="0"/>
              <a:t>An appropriate criterion should be determined for each NHST, but </a:t>
            </a:r>
            <a:r>
              <a:rPr lang="en-US" b="1" i="1" dirty="0"/>
              <a:t>p</a:t>
            </a:r>
            <a:r>
              <a:rPr lang="en-US" b="1" dirty="0"/>
              <a:t> &lt; .05 </a:t>
            </a:r>
            <a:r>
              <a:rPr lang="en-US" dirty="0"/>
              <a:t>has emerged as a standard criterion for detecting </a:t>
            </a:r>
            <a:r>
              <a:rPr lang="en-US" b="1" dirty="0"/>
              <a:t>statistical significance</a:t>
            </a:r>
            <a:r>
              <a:rPr lang="en-US" dirty="0"/>
              <a:t>.</a:t>
            </a:r>
            <a:endParaRPr lang="en-US" dirty="0"/>
          </a:p>
          <a:p>
            <a:pPr lvl="1"/>
            <a:r>
              <a:rPr lang="en-US" dirty="0"/>
              <a:t>The long-term rate of statistical significance under </a:t>
            </a:r>
            <a:r>
              <a:rPr lang="nl-NL" dirty="0"/>
              <a:t>H</a:t>
            </a:r>
            <a:r>
              <a:rPr lang="nl-NL" baseline="-25000" dirty="0"/>
              <a:t>0 </a:t>
            </a:r>
            <a:r>
              <a:rPr lang="nl-NL" dirty="0"/>
              <a:t>is </a:t>
            </a:r>
            <a:r>
              <a:rPr lang="nl-NL" b="1" dirty="0"/>
              <a:t>Type I error</a:t>
            </a:r>
            <a:endParaRPr lang="en-US" dirty="0"/>
          </a:p>
          <a:p>
            <a:pPr lvl="1"/>
            <a:endParaRPr lang="en-US" dirty="0"/>
          </a:p>
          <a:p>
            <a:r>
              <a:rPr lang="en-US" b="1" u="sng" dirty="0"/>
              <a:t>Interpretation: </a:t>
            </a:r>
            <a:r>
              <a:rPr lang="en-US" b="1" dirty="0"/>
              <a:t>a </a:t>
            </a:r>
            <a:r>
              <a:rPr lang="en-US" b="1" i="1" dirty="0"/>
              <a:t>p</a:t>
            </a:r>
            <a:r>
              <a:rPr lang="en-US" b="1" dirty="0"/>
              <a:t>-value of .05 indicates that support for </a:t>
            </a:r>
            <a:r>
              <a:rPr lang="nl-NL" b="1" dirty="0"/>
              <a:t>H</a:t>
            </a:r>
            <a:r>
              <a:rPr lang="nl-NL" b="1" baseline="-25000" dirty="0"/>
              <a:t>0 </a:t>
            </a:r>
            <a:r>
              <a:rPr lang="nl-NL" b="1" dirty="0" err="1"/>
              <a:t>would</a:t>
            </a:r>
            <a:r>
              <a:rPr lang="nl-NL" b="1" dirty="0"/>
              <a:t> </a:t>
            </a:r>
            <a:r>
              <a:rPr lang="nl-NL" b="1" dirty="0" err="1"/>
              <a:t>be</a:t>
            </a:r>
            <a:r>
              <a:rPr lang="nl-NL" b="1" baseline="-25000" dirty="0"/>
              <a:t> </a:t>
            </a:r>
            <a:r>
              <a:rPr lang="nl-NL" b="1" dirty="0" err="1"/>
              <a:t>observed</a:t>
            </a:r>
            <a:r>
              <a:rPr lang="nl-NL" b="1" dirty="0"/>
              <a:t> in 5% of </a:t>
            </a:r>
            <a:r>
              <a:rPr lang="nl-NL" b="1" dirty="0" err="1"/>
              <a:t>identical</a:t>
            </a:r>
            <a:r>
              <a:rPr lang="nl-NL" b="1" dirty="0"/>
              <a:t> </a:t>
            </a:r>
            <a:r>
              <a:rPr lang="nl-NL" b="1" dirty="0" err="1"/>
              <a:t>NHSTs</a:t>
            </a:r>
            <a:r>
              <a:rPr lang="nl-NL" b="1" dirty="0"/>
              <a:t> (</a:t>
            </a:r>
            <a:r>
              <a:rPr lang="en-US" b="1" dirty="0"/>
              <a:t>5 tests out of every 100)</a:t>
            </a:r>
            <a:endParaRPr lang="en-US" b="1" dirty="0"/>
          </a:p>
          <a:p>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a:t>How </a:t>
            </a:r>
            <a:r>
              <a:rPr lang="nl-NL" b="1" dirty="0" err="1"/>
              <a:t>to</a:t>
            </a:r>
            <a:r>
              <a:rPr lang="nl-NL" b="1" dirty="0"/>
              <a:t> </a:t>
            </a:r>
            <a:r>
              <a:rPr lang="nl-NL" b="1" dirty="0" err="1"/>
              <a:t>calculate</a:t>
            </a:r>
            <a:r>
              <a:rPr lang="nl-NL" b="1" dirty="0"/>
              <a:t> </a:t>
            </a:r>
            <a:r>
              <a:rPr lang="nl-NL" b="1" i="1" dirty="0"/>
              <a:t>p</a:t>
            </a:r>
            <a:r>
              <a:rPr lang="nl-NL" b="1" dirty="0"/>
              <a:t>-</a:t>
            </a:r>
            <a:r>
              <a:rPr lang="nl-NL" b="1" dirty="0" err="1"/>
              <a:t>values</a:t>
            </a:r>
            <a:r>
              <a:rPr lang="nl-NL" b="1" dirty="0"/>
              <a:t>?</a:t>
            </a:r>
            <a:endParaRPr lang="nl-NL" b="1" dirty="0"/>
          </a:p>
        </p:txBody>
      </p:sp>
      <p:sp>
        <p:nvSpPr>
          <p:cNvPr id="3" name="Content Placeholder 2"/>
          <p:cNvSpPr>
            <a:spLocks noGrp="1"/>
          </p:cNvSpPr>
          <p:nvPr>
            <p:ph idx="1"/>
          </p:nvPr>
        </p:nvSpPr>
        <p:spPr>
          <a:xfrm>
            <a:off x="703847" y="1393371"/>
            <a:ext cx="10756232" cy="4939006"/>
          </a:xfrm>
        </p:spPr>
        <p:txBody>
          <a:bodyPr>
            <a:normAutofit lnSpcReduction="10000"/>
          </a:bodyPr>
          <a:lstStyle/>
          <a:p>
            <a:r>
              <a:rPr lang="nl-NL" dirty="0"/>
              <a:t>A</a:t>
            </a:r>
            <a:r>
              <a:rPr lang="nl-NL" i="1" dirty="0"/>
              <a:t> p</a:t>
            </a:r>
            <a:r>
              <a:rPr lang="nl-NL" dirty="0"/>
              <a:t>-</a:t>
            </a:r>
            <a:r>
              <a:rPr lang="nl-NL" dirty="0" err="1"/>
              <a:t>value</a:t>
            </a:r>
            <a:r>
              <a:rPr lang="nl-NL" dirty="0"/>
              <a:t> is </a:t>
            </a:r>
            <a:r>
              <a:rPr lang="nl-NL" dirty="0" err="1"/>
              <a:t>defined</a:t>
            </a:r>
            <a:r>
              <a:rPr lang="nl-NL" dirty="0"/>
              <a:t> as </a:t>
            </a:r>
            <a:r>
              <a:rPr lang="nl-NL" dirty="0" err="1"/>
              <a:t>the</a:t>
            </a:r>
            <a:r>
              <a:rPr lang="nl-NL" dirty="0"/>
              <a:t> probability of </a:t>
            </a:r>
            <a:r>
              <a:rPr lang="nl-NL" dirty="0" err="1"/>
              <a:t>obtaining</a:t>
            </a:r>
            <a:r>
              <a:rPr lang="nl-NL" dirty="0"/>
              <a:t> a </a:t>
            </a:r>
            <a:r>
              <a:rPr lang="nl-NL" dirty="0" err="1"/>
              <a:t>statistic</a:t>
            </a:r>
            <a:r>
              <a:rPr lang="nl-NL" dirty="0"/>
              <a:t> as extreme or more extreme </a:t>
            </a:r>
            <a:r>
              <a:rPr lang="nl-NL" dirty="0" err="1"/>
              <a:t>than</a:t>
            </a:r>
            <a:r>
              <a:rPr lang="nl-NL" dirty="0"/>
              <a:t> </a:t>
            </a:r>
            <a:r>
              <a:rPr lang="nl-NL" dirty="0" err="1"/>
              <a:t>the</a:t>
            </a:r>
            <a:r>
              <a:rPr lang="nl-NL" dirty="0"/>
              <a:t> </a:t>
            </a:r>
            <a:r>
              <a:rPr lang="nl-NL" dirty="0" err="1"/>
              <a:t>one</a:t>
            </a:r>
            <a:r>
              <a:rPr lang="nl-NL" dirty="0"/>
              <a:t> </a:t>
            </a:r>
            <a:r>
              <a:rPr lang="nl-NL" dirty="0" err="1"/>
              <a:t>observed</a:t>
            </a:r>
            <a:endParaRPr lang="nl-NL" dirty="0"/>
          </a:p>
          <a:p>
            <a:pPr lvl="1"/>
            <a:r>
              <a:rPr lang="nl-NL" dirty="0" err="1"/>
              <a:t>So</a:t>
            </a:r>
            <a:r>
              <a:rPr lang="nl-NL" dirty="0"/>
              <a:t>, </a:t>
            </a:r>
            <a:r>
              <a:rPr lang="nl-NL" dirty="0" err="1"/>
              <a:t>it</a:t>
            </a:r>
            <a:r>
              <a:rPr lang="nl-NL" dirty="0"/>
              <a:t> is </a:t>
            </a:r>
            <a:r>
              <a:rPr lang="nl-NL" dirty="0" err="1"/>
              <a:t>the</a:t>
            </a:r>
            <a:r>
              <a:rPr lang="nl-NL" dirty="0"/>
              <a:t> </a:t>
            </a:r>
            <a:r>
              <a:rPr lang="nl-NL" dirty="0" err="1"/>
              <a:t>tail</a:t>
            </a:r>
            <a:r>
              <a:rPr lang="nl-NL" dirty="0"/>
              <a:t> probability of </a:t>
            </a:r>
            <a:r>
              <a:rPr lang="nl-NL" dirty="0" err="1"/>
              <a:t>the</a:t>
            </a:r>
            <a:r>
              <a:rPr lang="nl-NL" dirty="0"/>
              <a:t> </a:t>
            </a:r>
            <a:r>
              <a:rPr lang="nl-NL" dirty="0" err="1"/>
              <a:t>cumulative</a:t>
            </a:r>
            <a:r>
              <a:rPr lang="nl-NL" dirty="0"/>
              <a:t> </a:t>
            </a:r>
            <a:r>
              <a:rPr lang="nl-NL" dirty="0" err="1"/>
              <a:t>distribution</a:t>
            </a:r>
            <a:r>
              <a:rPr lang="nl-NL" dirty="0"/>
              <a:t> </a:t>
            </a:r>
            <a:r>
              <a:rPr lang="nl-NL" dirty="0" err="1"/>
              <a:t>function</a:t>
            </a:r>
            <a:r>
              <a:rPr lang="nl-NL" dirty="0"/>
              <a:t> (</a:t>
            </a:r>
            <a:r>
              <a:rPr lang="nl-NL" dirty="0" err="1"/>
              <a:t>cdf</a:t>
            </a:r>
            <a:r>
              <a:rPr lang="nl-NL" dirty="0"/>
              <a:t>)</a:t>
            </a:r>
            <a:endParaRPr lang="nl-NL" dirty="0"/>
          </a:p>
          <a:p>
            <a:pPr lvl="1"/>
            <a:endParaRPr lang="nl-NL" dirty="0"/>
          </a:p>
          <a:p>
            <a:r>
              <a:rPr lang="nl-NL" dirty="0"/>
              <a:t>For </a:t>
            </a:r>
            <a:r>
              <a:rPr lang="nl-NL" dirty="0" err="1"/>
              <a:t>symmetric</a:t>
            </a:r>
            <a:r>
              <a:rPr lang="nl-NL" dirty="0"/>
              <a:t> </a:t>
            </a:r>
            <a:r>
              <a:rPr lang="nl-NL" dirty="0" err="1"/>
              <a:t>distributions</a:t>
            </a:r>
            <a:r>
              <a:rPr lang="nl-NL" dirty="0"/>
              <a:t>, extreme </a:t>
            </a:r>
            <a:r>
              <a:rPr lang="nl-NL" dirty="0" err="1"/>
              <a:t>values</a:t>
            </a:r>
            <a:r>
              <a:rPr lang="nl-NL" dirty="0"/>
              <a:t> </a:t>
            </a:r>
            <a:r>
              <a:rPr lang="nl-NL" dirty="0" err="1"/>
              <a:t>can</a:t>
            </a:r>
            <a:r>
              <a:rPr lang="nl-NL" dirty="0"/>
              <a:t> </a:t>
            </a:r>
            <a:r>
              <a:rPr lang="nl-NL" dirty="0" err="1"/>
              <a:t>occur</a:t>
            </a:r>
            <a:r>
              <a:rPr lang="nl-NL" dirty="0"/>
              <a:t> in </a:t>
            </a:r>
            <a:r>
              <a:rPr lang="nl-NL" dirty="0" err="1"/>
              <a:t>either</a:t>
            </a:r>
            <a:r>
              <a:rPr lang="nl-NL" dirty="0"/>
              <a:t> </a:t>
            </a:r>
            <a:r>
              <a:rPr lang="nl-NL" dirty="0" err="1"/>
              <a:t>tail</a:t>
            </a:r>
            <a:r>
              <a:rPr lang="nl-NL" dirty="0"/>
              <a:t>, </a:t>
            </a:r>
            <a:r>
              <a:rPr lang="nl-NL" dirty="0" err="1"/>
              <a:t>so</a:t>
            </a:r>
            <a:r>
              <a:rPr lang="nl-NL" dirty="0"/>
              <a:t> </a:t>
            </a:r>
            <a:r>
              <a:rPr lang="nl-NL" dirty="0" err="1"/>
              <a:t>the</a:t>
            </a:r>
            <a:r>
              <a:rPr lang="nl-NL" dirty="0"/>
              <a:t> </a:t>
            </a:r>
            <a:r>
              <a:rPr lang="nl-NL" dirty="0" err="1"/>
              <a:t>summed</a:t>
            </a:r>
            <a:r>
              <a:rPr lang="nl-NL" dirty="0"/>
              <a:t> probability of extreme </a:t>
            </a:r>
            <a:r>
              <a:rPr lang="nl-NL" dirty="0" err="1"/>
              <a:t>values</a:t>
            </a:r>
            <a:r>
              <a:rPr lang="nl-NL" dirty="0"/>
              <a:t> in </a:t>
            </a:r>
            <a:r>
              <a:rPr lang="nl-NL" dirty="0" err="1"/>
              <a:t>both</a:t>
            </a:r>
            <a:r>
              <a:rPr lang="nl-NL" dirty="0"/>
              <a:t> </a:t>
            </a:r>
            <a:r>
              <a:rPr lang="nl-NL" dirty="0" err="1"/>
              <a:t>tails</a:t>
            </a:r>
            <a:r>
              <a:rPr lang="nl-NL" dirty="0"/>
              <a:t> leads </a:t>
            </a:r>
            <a:r>
              <a:rPr lang="nl-NL" dirty="0" err="1"/>
              <a:t>to</a:t>
            </a:r>
            <a:r>
              <a:rPr lang="nl-NL" dirty="0"/>
              <a:t> a </a:t>
            </a:r>
            <a:r>
              <a:rPr lang="nl-NL" b="1" dirty="0" err="1"/>
              <a:t>two-sided</a:t>
            </a:r>
            <a:r>
              <a:rPr lang="nl-NL" b="1" dirty="0"/>
              <a:t> non-</a:t>
            </a:r>
            <a:r>
              <a:rPr lang="nl-NL" b="1" dirty="0" err="1"/>
              <a:t>directional</a:t>
            </a:r>
            <a:r>
              <a:rPr lang="nl-NL" b="1" dirty="0"/>
              <a:t> test.</a:t>
            </a:r>
            <a:endParaRPr lang="nl-NL" b="1" dirty="0"/>
          </a:p>
          <a:p>
            <a:pPr lvl="1"/>
            <a:r>
              <a:rPr lang="nl-NL" dirty="0"/>
              <a:t>For </a:t>
            </a:r>
            <a:r>
              <a:rPr lang="nl-NL" dirty="0" err="1"/>
              <a:t>asymmetric</a:t>
            </a:r>
            <a:r>
              <a:rPr lang="nl-NL" dirty="0"/>
              <a:t> </a:t>
            </a:r>
            <a:r>
              <a:rPr lang="nl-NL" dirty="0" err="1"/>
              <a:t>distributions</a:t>
            </a:r>
            <a:r>
              <a:rPr lang="nl-NL" dirty="0"/>
              <a:t> extreme </a:t>
            </a:r>
            <a:r>
              <a:rPr lang="nl-NL" dirty="0" err="1"/>
              <a:t>values</a:t>
            </a:r>
            <a:r>
              <a:rPr lang="nl-NL" dirty="0"/>
              <a:t> </a:t>
            </a:r>
            <a:r>
              <a:rPr lang="nl-NL" dirty="0" err="1"/>
              <a:t>only</a:t>
            </a:r>
            <a:r>
              <a:rPr lang="nl-NL" dirty="0"/>
              <a:t> </a:t>
            </a:r>
            <a:r>
              <a:rPr lang="nl-NL" dirty="0" err="1"/>
              <a:t>occur</a:t>
            </a:r>
            <a:r>
              <a:rPr lang="nl-NL" dirty="0"/>
              <a:t> in </a:t>
            </a:r>
            <a:r>
              <a:rPr lang="nl-NL" dirty="0" err="1"/>
              <a:t>one</a:t>
            </a:r>
            <a:r>
              <a:rPr lang="nl-NL" dirty="0"/>
              <a:t> </a:t>
            </a:r>
            <a:r>
              <a:rPr lang="nl-NL" dirty="0" err="1"/>
              <a:t>tail</a:t>
            </a:r>
            <a:r>
              <a:rPr lang="nl-NL" dirty="0"/>
              <a:t>, but </a:t>
            </a:r>
            <a:r>
              <a:rPr lang="nl-NL" dirty="0" err="1"/>
              <a:t>the</a:t>
            </a:r>
            <a:r>
              <a:rPr lang="nl-NL" dirty="0"/>
              <a:t> </a:t>
            </a:r>
            <a:r>
              <a:rPr lang="nl-NL" dirty="0" err="1"/>
              <a:t>inference</a:t>
            </a:r>
            <a:r>
              <a:rPr lang="nl-NL" dirty="0"/>
              <a:t> is </a:t>
            </a:r>
            <a:r>
              <a:rPr lang="nl-NL" dirty="0" err="1"/>
              <a:t>also</a:t>
            </a:r>
            <a:r>
              <a:rPr lang="nl-NL" dirty="0"/>
              <a:t> non-</a:t>
            </a:r>
            <a:r>
              <a:rPr lang="nl-NL" dirty="0" err="1"/>
              <a:t>directional</a:t>
            </a:r>
            <a:r>
              <a:rPr lang="nl-NL" dirty="0"/>
              <a:t>, </a:t>
            </a:r>
            <a:r>
              <a:rPr lang="nl-NL" dirty="0" err="1"/>
              <a:t>so</a:t>
            </a:r>
            <a:r>
              <a:rPr lang="nl-NL" dirty="0"/>
              <a:t> </a:t>
            </a:r>
            <a:r>
              <a:rPr lang="nl-NL" dirty="0" err="1"/>
              <a:t>the</a:t>
            </a:r>
            <a:r>
              <a:rPr lang="nl-NL" dirty="0"/>
              <a:t> tests are </a:t>
            </a:r>
            <a:r>
              <a:rPr lang="nl-NL" dirty="0" err="1"/>
              <a:t>also</a:t>
            </a:r>
            <a:r>
              <a:rPr lang="nl-NL" dirty="0"/>
              <a:t> </a:t>
            </a:r>
            <a:r>
              <a:rPr lang="nl-NL" dirty="0" err="1"/>
              <a:t>two-sided</a:t>
            </a:r>
            <a:r>
              <a:rPr lang="nl-NL" dirty="0"/>
              <a:t>.</a:t>
            </a:r>
            <a:endParaRPr lang="nl-NL" dirty="0"/>
          </a:p>
          <a:p>
            <a:pPr lvl="1"/>
            <a:endParaRPr lang="nl-NL" dirty="0"/>
          </a:p>
          <a:p>
            <a:r>
              <a:rPr lang="nl-NL" b="1" dirty="0" err="1"/>
              <a:t>Directional</a:t>
            </a:r>
            <a:r>
              <a:rPr lang="nl-NL" b="1" dirty="0"/>
              <a:t>, </a:t>
            </a:r>
            <a:r>
              <a:rPr lang="nl-NL" b="1" dirty="0" err="1"/>
              <a:t>one-tailed</a:t>
            </a:r>
            <a:r>
              <a:rPr lang="nl-NL" b="1" dirty="0"/>
              <a:t> tests </a:t>
            </a:r>
            <a:r>
              <a:rPr lang="nl-NL" dirty="0" err="1"/>
              <a:t>can</a:t>
            </a:r>
            <a:r>
              <a:rPr lang="nl-NL" dirty="0"/>
              <a:t> </a:t>
            </a:r>
            <a:r>
              <a:rPr lang="nl-NL" dirty="0" err="1"/>
              <a:t>also</a:t>
            </a:r>
            <a:r>
              <a:rPr lang="nl-NL" dirty="0"/>
              <a:t> </a:t>
            </a:r>
            <a:r>
              <a:rPr lang="nl-NL" dirty="0" err="1"/>
              <a:t>be</a:t>
            </a:r>
            <a:r>
              <a:rPr lang="nl-NL" dirty="0"/>
              <a:t> </a:t>
            </a:r>
            <a:r>
              <a:rPr lang="nl-NL" dirty="0" err="1"/>
              <a:t>justified</a:t>
            </a:r>
            <a:r>
              <a:rPr lang="nl-NL" dirty="0"/>
              <a:t> a priori, but </a:t>
            </a:r>
            <a:r>
              <a:rPr lang="nl-NL" dirty="0" err="1"/>
              <a:t>also</a:t>
            </a:r>
            <a:r>
              <a:rPr lang="nl-NL" dirty="0"/>
              <a:t> present </a:t>
            </a:r>
            <a:r>
              <a:rPr lang="nl-NL" dirty="0" err="1"/>
              <a:t>disadvantages</a:t>
            </a:r>
            <a:r>
              <a:rPr lang="nl-NL" dirty="0"/>
              <a:t> (e.g., </a:t>
            </a:r>
            <a:r>
              <a:rPr lang="nl-NL" dirty="0" err="1"/>
              <a:t>effects</a:t>
            </a:r>
            <a:r>
              <a:rPr lang="nl-NL" dirty="0"/>
              <a:t> in </a:t>
            </a:r>
            <a:r>
              <a:rPr lang="nl-NL" dirty="0" err="1"/>
              <a:t>the</a:t>
            </a:r>
            <a:r>
              <a:rPr lang="nl-NL" dirty="0"/>
              <a:t> </a:t>
            </a:r>
            <a:r>
              <a:rPr lang="nl-NL" dirty="0" err="1"/>
              <a:t>opposite</a:t>
            </a:r>
            <a:r>
              <a:rPr lang="nl-NL" dirty="0"/>
              <a:t> </a:t>
            </a:r>
            <a:r>
              <a:rPr lang="nl-NL" dirty="0" err="1"/>
              <a:t>direction</a:t>
            </a:r>
            <a:r>
              <a:rPr lang="nl-NL" dirty="0"/>
              <a:t> must </a:t>
            </a:r>
            <a:r>
              <a:rPr lang="nl-NL" dirty="0" err="1"/>
              <a:t>be</a:t>
            </a:r>
            <a:r>
              <a:rPr lang="nl-NL" dirty="0"/>
              <a:t> </a:t>
            </a:r>
            <a:r>
              <a:rPr lang="nl-NL" dirty="0" err="1"/>
              <a:t>ignored</a:t>
            </a:r>
            <a:r>
              <a:rPr lang="nl-NL" dirty="0"/>
              <a:t>)</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lstStyle/>
          <a:p>
            <a:pPr algn="ctr"/>
            <a:r>
              <a:rPr lang="nl-NL" b="1" dirty="0"/>
              <a:t>How </a:t>
            </a:r>
            <a:r>
              <a:rPr lang="nl-NL" b="1" dirty="0" err="1"/>
              <a:t>to</a:t>
            </a:r>
            <a:r>
              <a:rPr lang="nl-NL" b="1" dirty="0"/>
              <a:t> </a:t>
            </a:r>
            <a:r>
              <a:rPr lang="nl-NL" b="1" dirty="0" err="1"/>
              <a:t>calculate</a:t>
            </a:r>
            <a:r>
              <a:rPr lang="nl-NL" b="1" dirty="0"/>
              <a:t> </a:t>
            </a:r>
            <a:r>
              <a:rPr lang="nl-NL" b="1" i="1" dirty="0"/>
              <a:t>p</a:t>
            </a:r>
            <a:r>
              <a:rPr lang="nl-NL" b="1" dirty="0"/>
              <a:t>-</a:t>
            </a:r>
            <a:r>
              <a:rPr lang="nl-NL" b="1" dirty="0" err="1"/>
              <a:t>values</a:t>
            </a:r>
            <a:r>
              <a:rPr lang="nl-NL" b="1" dirty="0"/>
              <a:t>?</a:t>
            </a:r>
            <a:endParaRPr lang="nl-NL" b="1" dirty="0"/>
          </a:p>
        </p:txBody>
      </p:sp>
      <p:sp>
        <p:nvSpPr>
          <p:cNvPr id="3" name="Content Placeholder 2"/>
          <p:cNvSpPr>
            <a:spLocks noGrp="1"/>
          </p:cNvSpPr>
          <p:nvPr>
            <p:ph idx="1"/>
          </p:nvPr>
        </p:nvSpPr>
        <p:spPr>
          <a:xfrm>
            <a:off x="585216" y="1393370"/>
            <a:ext cx="10997184" cy="5092774"/>
          </a:xfrm>
        </p:spPr>
        <p:txBody>
          <a:bodyPr>
            <a:normAutofit fontScale="92500" lnSpcReduction="10000"/>
          </a:bodyPr>
          <a:lstStyle/>
          <a:p>
            <a:r>
              <a:rPr lang="en-US" b="1" dirty="0"/>
              <a:t>For a test statistic with a normal distribution (e.g., z)</a:t>
            </a:r>
            <a:endParaRPr lang="en-US" b="1" dirty="0"/>
          </a:p>
          <a:p>
            <a:pPr lvl="1"/>
            <a:r>
              <a:rPr lang="en-US" dirty="0" err="1">
                <a:solidFill>
                  <a:srgbClr val="FF0000"/>
                </a:solidFill>
              </a:rPr>
              <a:t>pnorm</a:t>
            </a:r>
            <a:r>
              <a:rPr lang="en-US" dirty="0">
                <a:solidFill>
                  <a:srgbClr val="FF0000"/>
                </a:solidFill>
              </a:rPr>
              <a:t>() </a:t>
            </a:r>
            <a:r>
              <a:rPr lang="en-US" dirty="0"/>
              <a:t>uses cumulative distribution function (</a:t>
            </a:r>
            <a:r>
              <a:rPr lang="en-US" dirty="0" err="1"/>
              <a:t>cdf</a:t>
            </a:r>
            <a:r>
              <a:rPr lang="en-US" dirty="0"/>
              <a:t>) to obtain one of the tail probabilities of a normally distributed test statistic (it is the inverse of </a:t>
            </a:r>
            <a:r>
              <a:rPr lang="en-US" dirty="0" err="1"/>
              <a:t>qnorm</a:t>
            </a:r>
            <a:r>
              <a:rPr lang="en-US" dirty="0"/>
              <a:t>).</a:t>
            </a:r>
            <a:endParaRPr lang="en-US" dirty="0"/>
          </a:p>
          <a:p>
            <a:pPr lvl="1"/>
            <a:r>
              <a:rPr lang="en-US" dirty="0"/>
              <a:t>If z = 1.65, the associated </a:t>
            </a:r>
            <a:r>
              <a:rPr lang="en-US" i="1" dirty="0"/>
              <a:t>p</a:t>
            </a:r>
            <a:r>
              <a:rPr lang="en-US" dirty="0"/>
              <a:t>-value can be obtained with…</a:t>
            </a:r>
            <a:endParaRPr lang="en-US" dirty="0"/>
          </a:p>
          <a:p>
            <a:pPr lvl="2"/>
            <a:r>
              <a:rPr lang="en-US" sz="2400" dirty="0" err="1">
                <a:solidFill>
                  <a:srgbClr val="FF0000"/>
                </a:solidFill>
              </a:rPr>
              <a:t>pnorm</a:t>
            </a:r>
            <a:r>
              <a:rPr lang="en-US" sz="2400" dirty="0">
                <a:solidFill>
                  <a:srgbClr val="FF0000"/>
                </a:solidFill>
              </a:rPr>
              <a:t>(1.65, </a:t>
            </a:r>
            <a:r>
              <a:rPr lang="en-US" sz="2400" dirty="0" err="1">
                <a:solidFill>
                  <a:srgbClr val="FF0000"/>
                </a:solidFill>
              </a:rPr>
              <a:t>lower.tail</a:t>
            </a:r>
            <a:r>
              <a:rPr lang="en-US" sz="2400" dirty="0">
                <a:solidFill>
                  <a:srgbClr val="FF0000"/>
                </a:solidFill>
              </a:rPr>
              <a:t> = F) </a:t>
            </a:r>
            <a:endParaRPr lang="en-US" sz="2400" dirty="0">
              <a:solidFill>
                <a:srgbClr val="FF0000"/>
              </a:solidFill>
            </a:endParaRPr>
          </a:p>
          <a:p>
            <a:pPr lvl="2"/>
            <a:r>
              <a:rPr lang="en-US" sz="2400" dirty="0"/>
              <a:t>The lower tail is the default (one-sided), so when the z-score is positive you must obtain the inverse, so </a:t>
            </a:r>
            <a:r>
              <a:rPr lang="en-US" sz="2400" dirty="0">
                <a:solidFill>
                  <a:srgbClr val="FF0000"/>
                </a:solidFill>
              </a:rPr>
              <a:t>1- </a:t>
            </a:r>
            <a:r>
              <a:rPr lang="en-US" sz="2400" dirty="0" err="1">
                <a:solidFill>
                  <a:srgbClr val="FF0000"/>
                </a:solidFill>
              </a:rPr>
              <a:t>pnorm</a:t>
            </a:r>
            <a:r>
              <a:rPr lang="en-US" sz="2400" dirty="0">
                <a:solidFill>
                  <a:srgbClr val="FF0000"/>
                </a:solidFill>
              </a:rPr>
              <a:t>(1.65)</a:t>
            </a:r>
            <a:endParaRPr lang="en-US" sz="2400" dirty="0">
              <a:solidFill>
                <a:srgbClr val="FF0000"/>
              </a:solidFill>
            </a:endParaRPr>
          </a:p>
          <a:p>
            <a:pPr lvl="2"/>
            <a:r>
              <a:rPr lang="en-US" sz="2400" dirty="0"/>
              <a:t>For a two-sided test you need to double this…</a:t>
            </a:r>
            <a:r>
              <a:rPr lang="en-US" sz="2400" dirty="0">
                <a:solidFill>
                  <a:srgbClr val="FF0000"/>
                </a:solidFill>
              </a:rPr>
              <a:t>2 * </a:t>
            </a:r>
            <a:r>
              <a:rPr lang="en-US" sz="2400" dirty="0" err="1">
                <a:solidFill>
                  <a:srgbClr val="FF0000"/>
                </a:solidFill>
              </a:rPr>
              <a:t>pnorm</a:t>
            </a:r>
            <a:r>
              <a:rPr lang="en-US" sz="2400" dirty="0">
                <a:solidFill>
                  <a:srgbClr val="FF0000"/>
                </a:solidFill>
              </a:rPr>
              <a:t>(1.65, </a:t>
            </a:r>
            <a:r>
              <a:rPr lang="en-US" sz="2400" dirty="0" err="1">
                <a:solidFill>
                  <a:srgbClr val="FF0000"/>
                </a:solidFill>
              </a:rPr>
              <a:t>lower.tail</a:t>
            </a:r>
            <a:r>
              <a:rPr lang="en-US" sz="2400" dirty="0">
                <a:solidFill>
                  <a:srgbClr val="FF0000"/>
                </a:solidFill>
              </a:rPr>
              <a:t> = F)</a:t>
            </a:r>
            <a:endParaRPr lang="en-US" sz="2400" dirty="0">
              <a:solidFill>
                <a:srgbClr val="FF0000"/>
              </a:solidFill>
            </a:endParaRPr>
          </a:p>
          <a:p>
            <a:endParaRPr lang="en-US" sz="1100" b="1" dirty="0"/>
          </a:p>
          <a:p>
            <a:r>
              <a:rPr lang="en-US" b="1" dirty="0"/>
              <a:t>For a test statistic with a t-distribution</a:t>
            </a:r>
            <a:endParaRPr lang="en-US" b="1" dirty="0"/>
          </a:p>
          <a:p>
            <a:pPr lvl="1"/>
            <a:r>
              <a:rPr lang="en-US" dirty="0"/>
              <a:t>The exact same logic applies for obtain </a:t>
            </a:r>
            <a:r>
              <a:rPr lang="en-US" i="1" dirty="0"/>
              <a:t>p</a:t>
            </a:r>
            <a:r>
              <a:rPr lang="en-US" dirty="0"/>
              <a:t>-values for a t-statistic, except you also need to include the degrees of freedom.</a:t>
            </a:r>
            <a:endParaRPr lang="en-US" dirty="0"/>
          </a:p>
          <a:p>
            <a:pPr lvl="2"/>
            <a:r>
              <a:rPr lang="en-US" sz="2400" dirty="0" err="1">
                <a:solidFill>
                  <a:srgbClr val="FF0000"/>
                </a:solidFill>
              </a:rPr>
              <a:t>pt</a:t>
            </a:r>
            <a:r>
              <a:rPr lang="en-US" sz="2400" dirty="0">
                <a:solidFill>
                  <a:srgbClr val="FF0000"/>
                </a:solidFill>
              </a:rPr>
              <a:t>(1.95, 49, </a:t>
            </a:r>
            <a:r>
              <a:rPr lang="en-US" sz="2400" dirty="0" err="1">
                <a:solidFill>
                  <a:srgbClr val="FF0000"/>
                </a:solidFill>
              </a:rPr>
              <a:t>lower.tail</a:t>
            </a:r>
            <a:r>
              <a:rPr lang="en-US" sz="2400" dirty="0">
                <a:solidFill>
                  <a:srgbClr val="FF0000"/>
                </a:solidFill>
              </a:rPr>
              <a:t> = F) </a:t>
            </a:r>
            <a:r>
              <a:rPr lang="en-US" sz="2400" dirty="0"/>
              <a:t>for one-sided test </a:t>
            </a:r>
            <a:endParaRPr lang="en-US" sz="2400" dirty="0"/>
          </a:p>
          <a:p>
            <a:pPr lvl="2"/>
            <a:r>
              <a:rPr lang="en-US" sz="2400" dirty="0">
                <a:solidFill>
                  <a:srgbClr val="FF0000"/>
                </a:solidFill>
              </a:rPr>
              <a:t>2 * </a:t>
            </a:r>
            <a:r>
              <a:rPr lang="en-US" sz="2400" dirty="0" err="1">
                <a:solidFill>
                  <a:srgbClr val="FF0000"/>
                </a:solidFill>
              </a:rPr>
              <a:t>pt</a:t>
            </a:r>
            <a:r>
              <a:rPr lang="en-US" sz="2400" dirty="0">
                <a:solidFill>
                  <a:srgbClr val="FF0000"/>
                </a:solidFill>
              </a:rPr>
              <a:t>(1.95, 49, </a:t>
            </a:r>
            <a:r>
              <a:rPr lang="en-US" sz="2400" dirty="0" err="1">
                <a:solidFill>
                  <a:srgbClr val="FF0000"/>
                </a:solidFill>
              </a:rPr>
              <a:t>lower.tail</a:t>
            </a:r>
            <a:r>
              <a:rPr lang="en-US" sz="2400" dirty="0">
                <a:solidFill>
                  <a:srgbClr val="FF0000"/>
                </a:solidFill>
              </a:rPr>
              <a:t> = F) </a:t>
            </a:r>
            <a:r>
              <a:rPr lang="en-US" sz="2400" dirty="0"/>
              <a:t>for two-sided test</a:t>
            </a:r>
            <a:endParaRPr lang="en-US" sz="2400" dirty="0"/>
          </a:p>
          <a:p>
            <a:pPr lvl="2"/>
            <a:r>
              <a:rPr lang="en-US" sz="2400" dirty="0">
                <a:solidFill>
                  <a:srgbClr val="FF0000"/>
                </a:solidFill>
              </a:rPr>
              <a:t>2 * </a:t>
            </a:r>
            <a:r>
              <a:rPr lang="en-US" sz="2400" dirty="0" err="1">
                <a:solidFill>
                  <a:srgbClr val="FF0000"/>
                </a:solidFill>
              </a:rPr>
              <a:t>pt</a:t>
            </a:r>
            <a:r>
              <a:rPr lang="en-US" sz="2400" dirty="0">
                <a:solidFill>
                  <a:srgbClr val="FF0000"/>
                </a:solidFill>
              </a:rPr>
              <a:t>(-abs(1.95), 49) </a:t>
            </a:r>
            <a:r>
              <a:rPr lang="en-US" sz="2400" dirty="0"/>
              <a:t>for two-sided test (w/o knowing if t-statistic is + or -)</a:t>
            </a:r>
            <a:endParaRPr lang="nl-NL" sz="2400"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fontScale="90000"/>
          </a:bodyPr>
          <a:lstStyle/>
          <a:p>
            <a:pPr algn="ctr"/>
            <a:r>
              <a:rPr lang="nl-NL" b="1" dirty="0"/>
              <a:t>How </a:t>
            </a:r>
            <a:r>
              <a:rPr lang="nl-NL" b="1" dirty="0" err="1"/>
              <a:t>to</a:t>
            </a:r>
            <a:r>
              <a:rPr lang="nl-NL" b="1" dirty="0"/>
              <a:t> test </a:t>
            </a:r>
            <a:r>
              <a:rPr lang="nl-NL" b="1" dirty="0" err="1"/>
              <a:t>mean</a:t>
            </a:r>
            <a:r>
              <a:rPr lang="nl-NL" b="1" dirty="0"/>
              <a:t> </a:t>
            </a:r>
            <a:r>
              <a:rPr lang="nl-NL" b="1" dirty="0" err="1"/>
              <a:t>differences</a:t>
            </a:r>
            <a:r>
              <a:rPr lang="nl-NL" b="1" dirty="0"/>
              <a:t>?</a:t>
            </a:r>
            <a:br>
              <a:rPr lang="nl-NL" b="1" dirty="0"/>
            </a:br>
            <a:r>
              <a:rPr lang="nl-NL" sz="3100" b="1" i="1" dirty="0"/>
              <a:t>t</a:t>
            </a:r>
            <a:r>
              <a:rPr lang="nl-NL" sz="3100" b="1" dirty="0"/>
              <a:t>-tests</a:t>
            </a:r>
            <a:endParaRPr lang="nl-NL" sz="3100" b="1" dirty="0"/>
          </a:p>
        </p:txBody>
      </p:sp>
      <p:sp>
        <p:nvSpPr>
          <p:cNvPr id="3" name="Content Placeholder 2"/>
          <p:cNvSpPr>
            <a:spLocks noGrp="1"/>
          </p:cNvSpPr>
          <p:nvPr>
            <p:ph idx="1"/>
          </p:nvPr>
        </p:nvSpPr>
        <p:spPr>
          <a:xfrm>
            <a:off x="615820" y="1449354"/>
            <a:ext cx="10910596" cy="4957665"/>
          </a:xfrm>
        </p:spPr>
        <p:txBody>
          <a:bodyPr>
            <a:normAutofit fontScale="92500" lnSpcReduction="20000"/>
          </a:bodyPr>
          <a:lstStyle/>
          <a:p>
            <a:r>
              <a:rPr lang="nl-NL" dirty="0"/>
              <a:t>The</a:t>
            </a:r>
            <a:r>
              <a:rPr lang="nl-NL" i="1" dirty="0"/>
              <a:t> </a:t>
            </a:r>
            <a:r>
              <a:rPr lang="nl-NL" i="1" dirty="0" err="1"/>
              <a:t>z</a:t>
            </a:r>
            <a:r>
              <a:rPr lang="nl-NL" dirty="0" err="1"/>
              <a:t>-distribution</a:t>
            </a:r>
            <a:r>
              <a:rPr lang="nl-NL" dirty="0"/>
              <a:t> </a:t>
            </a:r>
            <a:r>
              <a:rPr lang="nl-NL" dirty="0" err="1"/>
              <a:t>assumes</a:t>
            </a:r>
            <a:r>
              <a:rPr lang="nl-NL" dirty="0"/>
              <a:t> </a:t>
            </a:r>
            <a:r>
              <a:rPr lang="nl-NL" dirty="0" err="1"/>
              <a:t>known</a:t>
            </a:r>
            <a:r>
              <a:rPr lang="nl-NL" dirty="0"/>
              <a:t> </a:t>
            </a:r>
            <a:r>
              <a:rPr lang="nl-NL" dirty="0" err="1"/>
              <a:t>variance</a:t>
            </a:r>
            <a:r>
              <a:rPr lang="nl-NL" dirty="0"/>
              <a:t>, but a </a:t>
            </a:r>
            <a:r>
              <a:rPr lang="nl-NL" i="1" dirty="0"/>
              <a:t>t</a:t>
            </a:r>
            <a:r>
              <a:rPr lang="nl-NL" dirty="0"/>
              <a:t> </a:t>
            </a:r>
            <a:r>
              <a:rPr lang="nl-NL" dirty="0" err="1"/>
              <a:t>distribution</a:t>
            </a:r>
            <a:r>
              <a:rPr lang="nl-NL" dirty="0"/>
              <a:t> </a:t>
            </a:r>
            <a:r>
              <a:rPr lang="nl-NL" dirty="0" err="1"/>
              <a:t>relaxes</a:t>
            </a:r>
            <a:r>
              <a:rPr lang="nl-NL" dirty="0"/>
              <a:t> </a:t>
            </a:r>
            <a:r>
              <a:rPr lang="nl-NL" dirty="0" err="1"/>
              <a:t>this</a:t>
            </a:r>
            <a:r>
              <a:rPr lang="nl-NL" dirty="0"/>
              <a:t> </a:t>
            </a:r>
            <a:r>
              <a:rPr lang="nl-NL" dirty="0" err="1"/>
              <a:t>assumption</a:t>
            </a:r>
            <a:r>
              <a:rPr lang="nl-NL" dirty="0"/>
              <a:t>, </a:t>
            </a:r>
            <a:r>
              <a:rPr lang="nl-NL" dirty="0" err="1"/>
              <a:t>producing</a:t>
            </a:r>
            <a:r>
              <a:rPr lang="nl-NL" dirty="0"/>
              <a:t> more accurate </a:t>
            </a:r>
            <a:r>
              <a:rPr lang="nl-NL" dirty="0" err="1"/>
              <a:t>results</a:t>
            </a:r>
            <a:r>
              <a:rPr lang="nl-NL" dirty="0"/>
              <a:t> </a:t>
            </a:r>
            <a:r>
              <a:rPr lang="nl-NL" dirty="0" err="1"/>
              <a:t>when</a:t>
            </a:r>
            <a:r>
              <a:rPr lang="nl-NL" dirty="0"/>
              <a:t> </a:t>
            </a:r>
            <a:r>
              <a:rPr lang="nl-NL" i="1" dirty="0"/>
              <a:t>n</a:t>
            </a:r>
            <a:r>
              <a:rPr lang="nl-NL" dirty="0"/>
              <a:t> is small</a:t>
            </a:r>
            <a:endParaRPr lang="nl-NL" dirty="0"/>
          </a:p>
          <a:p>
            <a:pPr lvl="1"/>
            <a:r>
              <a:rPr lang="nl-NL" dirty="0"/>
              <a:t>z </a:t>
            </a:r>
            <a:r>
              <a:rPr lang="nl-NL" dirty="0" err="1"/>
              <a:t>and</a:t>
            </a:r>
            <a:r>
              <a:rPr lang="nl-NL" dirty="0"/>
              <a:t> t </a:t>
            </a:r>
            <a:r>
              <a:rPr lang="nl-NL" dirty="0" err="1"/>
              <a:t>distributions</a:t>
            </a:r>
            <a:r>
              <a:rPr lang="nl-NL" dirty="0"/>
              <a:t> are </a:t>
            </a:r>
            <a:r>
              <a:rPr lang="nl-NL" dirty="0" err="1"/>
              <a:t>identical</a:t>
            </a:r>
            <a:r>
              <a:rPr lang="nl-NL" dirty="0"/>
              <a:t> </a:t>
            </a:r>
            <a:r>
              <a:rPr lang="nl-NL" dirty="0" err="1"/>
              <a:t>when</a:t>
            </a:r>
            <a:r>
              <a:rPr lang="nl-NL" dirty="0"/>
              <a:t> </a:t>
            </a:r>
            <a:r>
              <a:rPr lang="nl-NL" i="1" dirty="0"/>
              <a:t>n</a:t>
            </a:r>
            <a:r>
              <a:rPr lang="nl-NL" dirty="0"/>
              <a:t> is </a:t>
            </a:r>
            <a:r>
              <a:rPr lang="nl-NL" dirty="0" err="1"/>
              <a:t>extremely</a:t>
            </a:r>
            <a:r>
              <a:rPr lang="nl-NL" dirty="0"/>
              <a:t> large</a:t>
            </a:r>
            <a:endParaRPr lang="nl-NL" dirty="0"/>
          </a:p>
          <a:p>
            <a:pPr lvl="1"/>
            <a:endParaRPr lang="nl-NL" dirty="0"/>
          </a:p>
          <a:p>
            <a:r>
              <a:rPr lang="nl-NL" b="1" dirty="0" err="1"/>
              <a:t>One</a:t>
            </a:r>
            <a:r>
              <a:rPr lang="nl-NL" b="1" dirty="0"/>
              <a:t> sample </a:t>
            </a:r>
            <a:r>
              <a:rPr lang="nl-NL" b="1" i="1" dirty="0"/>
              <a:t>t</a:t>
            </a:r>
            <a:r>
              <a:rPr lang="nl-NL" b="1" dirty="0"/>
              <a:t>-test: </a:t>
            </a:r>
            <a:r>
              <a:rPr lang="nl-NL" dirty="0"/>
              <a:t>The </a:t>
            </a:r>
            <a:r>
              <a:rPr lang="nl-NL" dirty="0" err="1"/>
              <a:t>statistic</a:t>
            </a:r>
            <a:r>
              <a:rPr lang="nl-NL" dirty="0"/>
              <a:t> </a:t>
            </a:r>
            <a:r>
              <a:rPr lang="nl-NL" dirty="0" err="1"/>
              <a:t>from</a:t>
            </a:r>
            <a:r>
              <a:rPr lang="nl-NL" dirty="0"/>
              <a:t> a single sample is </a:t>
            </a:r>
            <a:r>
              <a:rPr lang="nl-NL" dirty="0" err="1"/>
              <a:t>tested</a:t>
            </a:r>
            <a:r>
              <a:rPr lang="nl-NL" dirty="0"/>
              <a:t> </a:t>
            </a:r>
            <a:r>
              <a:rPr lang="nl-NL" dirty="0" err="1"/>
              <a:t>against</a:t>
            </a:r>
            <a:r>
              <a:rPr lang="nl-NL" dirty="0"/>
              <a:t> a </a:t>
            </a:r>
            <a:r>
              <a:rPr lang="nl-NL" dirty="0" err="1"/>
              <a:t>known</a:t>
            </a:r>
            <a:r>
              <a:rPr lang="nl-NL" dirty="0"/>
              <a:t> </a:t>
            </a:r>
            <a:r>
              <a:rPr lang="nl-NL" dirty="0" err="1"/>
              <a:t>population</a:t>
            </a:r>
            <a:r>
              <a:rPr lang="nl-NL" dirty="0"/>
              <a:t> </a:t>
            </a:r>
            <a:r>
              <a:rPr lang="nl-NL" dirty="0" err="1"/>
              <a:t>value</a:t>
            </a:r>
            <a:endParaRPr lang="nl-NL" dirty="0"/>
          </a:p>
          <a:p>
            <a:pPr lvl="1"/>
            <a:r>
              <a:rPr lang="nl-NL" dirty="0">
                <a:solidFill>
                  <a:srgbClr val="FF0000"/>
                </a:solidFill>
              </a:rPr>
              <a:t>H</a:t>
            </a:r>
            <a:r>
              <a:rPr lang="nl-NL" baseline="-25000" dirty="0">
                <a:solidFill>
                  <a:srgbClr val="FF0000"/>
                </a:solidFill>
              </a:rPr>
              <a:t>0</a:t>
            </a:r>
            <a:r>
              <a:rPr lang="nl-NL" dirty="0">
                <a:solidFill>
                  <a:srgbClr val="FF0000"/>
                </a:solidFill>
              </a:rPr>
              <a:t>: The sample </a:t>
            </a:r>
            <a:r>
              <a:rPr lang="nl-NL" dirty="0" err="1">
                <a:solidFill>
                  <a:srgbClr val="FF0000"/>
                </a:solidFill>
              </a:rPr>
              <a:t>mean</a:t>
            </a:r>
            <a:r>
              <a:rPr lang="nl-NL" dirty="0">
                <a:solidFill>
                  <a:srgbClr val="FF0000"/>
                </a:solidFill>
              </a:rPr>
              <a:t> of IQ does </a:t>
            </a:r>
            <a:r>
              <a:rPr lang="nl-NL" dirty="0" err="1">
                <a:solidFill>
                  <a:srgbClr val="FF0000"/>
                </a:solidFill>
              </a:rPr>
              <a:t>not</a:t>
            </a:r>
            <a:r>
              <a:rPr lang="nl-NL" dirty="0">
                <a:solidFill>
                  <a:srgbClr val="FF0000"/>
                </a:solidFill>
              </a:rPr>
              <a:t> </a:t>
            </a:r>
            <a:r>
              <a:rPr lang="nl-NL" dirty="0" err="1">
                <a:solidFill>
                  <a:srgbClr val="FF0000"/>
                </a:solidFill>
              </a:rPr>
              <a:t>differ</a:t>
            </a:r>
            <a:r>
              <a:rPr lang="nl-NL" dirty="0">
                <a:solidFill>
                  <a:srgbClr val="FF0000"/>
                </a:solidFill>
              </a:rPr>
              <a:t> </a:t>
            </a:r>
            <a:r>
              <a:rPr lang="nl-NL" dirty="0" err="1">
                <a:solidFill>
                  <a:srgbClr val="FF0000"/>
                </a:solidFill>
              </a:rPr>
              <a:t>from</a:t>
            </a:r>
            <a:r>
              <a:rPr lang="nl-NL" dirty="0">
                <a:solidFill>
                  <a:srgbClr val="FF0000"/>
                </a:solidFill>
              </a:rPr>
              <a:t> 100</a:t>
            </a:r>
            <a:endParaRPr lang="nl-NL" dirty="0">
              <a:solidFill>
                <a:srgbClr val="FF0000"/>
              </a:solidFill>
            </a:endParaRPr>
          </a:p>
          <a:p>
            <a:pPr lvl="2"/>
            <a:endParaRPr lang="nl-NL" dirty="0"/>
          </a:p>
          <a:p>
            <a:r>
              <a:rPr lang="nl-NL" b="1" dirty="0"/>
              <a:t>Independent samples </a:t>
            </a:r>
            <a:r>
              <a:rPr lang="nl-NL" b="1" i="1" dirty="0"/>
              <a:t>t</a:t>
            </a:r>
            <a:r>
              <a:rPr lang="nl-NL" b="1" dirty="0"/>
              <a:t>-test: </a:t>
            </a:r>
            <a:r>
              <a:rPr lang="nl-NL" dirty="0"/>
              <a:t>The </a:t>
            </a:r>
            <a:r>
              <a:rPr lang="nl-NL" dirty="0" err="1"/>
              <a:t>statistic</a:t>
            </a:r>
            <a:r>
              <a:rPr lang="nl-NL" dirty="0"/>
              <a:t> </a:t>
            </a:r>
            <a:r>
              <a:rPr lang="nl-NL" dirty="0" err="1"/>
              <a:t>from</a:t>
            </a:r>
            <a:r>
              <a:rPr lang="nl-NL" dirty="0"/>
              <a:t> two independent </a:t>
            </a:r>
            <a:r>
              <a:rPr lang="nl-NL" dirty="0" err="1"/>
              <a:t>groups</a:t>
            </a:r>
            <a:r>
              <a:rPr lang="nl-NL" dirty="0"/>
              <a:t> are </a:t>
            </a:r>
            <a:r>
              <a:rPr lang="nl-NL" dirty="0" err="1"/>
              <a:t>tested</a:t>
            </a:r>
            <a:r>
              <a:rPr lang="nl-NL" dirty="0"/>
              <a:t> </a:t>
            </a:r>
            <a:r>
              <a:rPr lang="nl-NL" dirty="0" err="1"/>
              <a:t>against</a:t>
            </a:r>
            <a:r>
              <a:rPr lang="nl-NL" dirty="0"/>
              <a:t> </a:t>
            </a:r>
            <a:r>
              <a:rPr lang="nl-NL" dirty="0" err="1"/>
              <a:t>one</a:t>
            </a:r>
            <a:r>
              <a:rPr lang="nl-NL" dirty="0"/>
              <a:t> </a:t>
            </a:r>
            <a:r>
              <a:rPr lang="nl-NL" dirty="0" err="1"/>
              <a:t>another</a:t>
            </a:r>
            <a:endParaRPr lang="nl-NL" dirty="0"/>
          </a:p>
          <a:p>
            <a:pPr lvl="1"/>
            <a:r>
              <a:rPr lang="nl-NL" dirty="0">
                <a:solidFill>
                  <a:srgbClr val="FF0000"/>
                </a:solidFill>
              </a:rPr>
              <a:t>H</a:t>
            </a:r>
            <a:r>
              <a:rPr lang="nl-NL" baseline="-25000" dirty="0">
                <a:solidFill>
                  <a:srgbClr val="FF0000"/>
                </a:solidFill>
              </a:rPr>
              <a:t>0</a:t>
            </a:r>
            <a:r>
              <a:rPr lang="nl-NL" dirty="0">
                <a:solidFill>
                  <a:srgbClr val="FF0000"/>
                </a:solidFill>
              </a:rPr>
              <a:t>: The sample </a:t>
            </a:r>
            <a:r>
              <a:rPr lang="nl-NL" dirty="0" err="1">
                <a:solidFill>
                  <a:srgbClr val="FF0000"/>
                </a:solidFill>
              </a:rPr>
              <a:t>mean</a:t>
            </a:r>
            <a:r>
              <a:rPr lang="nl-NL" dirty="0">
                <a:solidFill>
                  <a:srgbClr val="FF0000"/>
                </a:solidFill>
              </a:rPr>
              <a:t> of IQ does </a:t>
            </a:r>
            <a:r>
              <a:rPr lang="nl-NL" dirty="0" err="1">
                <a:solidFill>
                  <a:srgbClr val="FF0000"/>
                </a:solidFill>
              </a:rPr>
              <a:t>not</a:t>
            </a:r>
            <a:r>
              <a:rPr lang="nl-NL" dirty="0">
                <a:solidFill>
                  <a:srgbClr val="FF0000"/>
                </a:solidFill>
              </a:rPr>
              <a:t> </a:t>
            </a:r>
            <a:r>
              <a:rPr lang="nl-NL" dirty="0" err="1">
                <a:solidFill>
                  <a:srgbClr val="FF0000"/>
                </a:solidFill>
              </a:rPr>
              <a:t>differ</a:t>
            </a:r>
            <a:r>
              <a:rPr lang="nl-NL" dirty="0">
                <a:solidFill>
                  <a:srgbClr val="FF0000"/>
                </a:solidFill>
              </a:rPr>
              <a:t> for male </a:t>
            </a:r>
            <a:r>
              <a:rPr lang="nl-NL" dirty="0" err="1">
                <a:solidFill>
                  <a:srgbClr val="FF0000"/>
                </a:solidFill>
              </a:rPr>
              <a:t>and</a:t>
            </a:r>
            <a:r>
              <a:rPr lang="nl-NL" dirty="0">
                <a:solidFill>
                  <a:srgbClr val="FF0000"/>
                </a:solidFill>
              </a:rPr>
              <a:t> </a:t>
            </a:r>
            <a:r>
              <a:rPr lang="nl-NL" dirty="0" err="1">
                <a:solidFill>
                  <a:srgbClr val="FF0000"/>
                </a:solidFill>
              </a:rPr>
              <a:t>female</a:t>
            </a:r>
            <a:r>
              <a:rPr lang="nl-NL" dirty="0">
                <a:solidFill>
                  <a:srgbClr val="FF0000"/>
                </a:solidFill>
              </a:rPr>
              <a:t> </a:t>
            </a:r>
            <a:r>
              <a:rPr lang="nl-NL" dirty="0" err="1">
                <a:solidFill>
                  <a:srgbClr val="FF0000"/>
                </a:solidFill>
              </a:rPr>
              <a:t>participants</a:t>
            </a:r>
            <a:endParaRPr lang="nl-NL" dirty="0">
              <a:solidFill>
                <a:srgbClr val="FF0000"/>
              </a:solidFill>
            </a:endParaRPr>
          </a:p>
          <a:p>
            <a:pPr lvl="2"/>
            <a:endParaRPr lang="nl-NL" dirty="0"/>
          </a:p>
          <a:p>
            <a:r>
              <a:rPr lang="nl-NL" b="1" dirty="0" err="1"/>
              <a:t>Paired</a:t>
            </a:r>
            <a:r>
              <a:rPr lang="nl-NL" b="1" dirty="0"/>
              <a:t> samples </a:t>
            </a:r>
            <a:r>
              <a:rPr lang="nl-NL" b="1" i="1" dirty="0"/>
              <a:t>t</a:t>
            </a:r>
            <a:r>
              <a:rPr lang="nl-NL" b="1" dirty="0"/>
              <a:t>-test: </a:t>
            </a:r>
            <a:r>
              <a:rPr lang="nl-NL" dirty="0"/>
              <a:t>The </a:t>
            </a:r>
            <a:r>
              <a:rPr lang="nl-NL" dirty="0" err="1"/>
              <a:t>statistic</a:t>
            </a:r>
            <a:r>
              <a:rPr lang="nl-NL" dirty="0"/>
              <a:t> </a:t>
            </a:r>
            <a:r>
              <a:rPr lang="nl-NL" dirty="0" err="1"/>
              <a:t>from</a:t>
            </a:r>
            <a:r>
              <a:rPr lang="nl-NL" dirty="0"/>
              <a:t> two </a:t>
            </a:r>
            <a:r>
              <a:rPr lang="nl-NL" dirty="0" err="1"/>
              <a:t>dependent</a:t>
            </a:r>
            <a:r>
              <a:rPr lang="nl-NL" dirty="0"/>
              <a:t> samples are </a:t>
            </a:r>
            <a:r>
              <a:rPr lang="nl-NL" dirty="0" err="1"/>
              <a:t>tested</a:t>
            </a:r>
            <a:r>
              <a:rPr lang="nl-NL" dirty="0"/>
              <a:t> </a:t>
            </a:r>
            <a:r>
              <a:rPr lang="nl-NL" dirty="0" err="1"/>
              <a:t>against</a:t>
            </a:r>
            <a:r>
              <a:rPr lang="nl-NL" dirty="0"/>
              <a:t> </a:t>
            </a:r>
            <a:r>
              <a:rPr lang="nl-NL" dirty="0" err="1"/>
              <a:t>one</a:t>
            </a:r>
            <a:r>
              <a:rPr lang="nl-NL" dirty="0"/>
              <a:t> </a:t>
            </a:r>
            <a:r>
              <a:rPr lang="nl-NL" dirty="0" err="1"/>
              <a:t>another</a:t>
            </a:r>
            <a:r>
              <a:rPr lang="nl-NL" dirty="0"/>
              <a:t> (special case of </a:t>
            </a:r>
            <a:r>
              <a:rPr lang="nl-NL" dirty="0" err="1"/>
              <a:t>one</a:t>
            </a:r>
            <a:r>
              <a:rPr lang="nl-NL" dirty="0"/>
              <a:t> sample </a:t>
            </a:r>
            <a:r>
              <a:rPr lang="nl-NL" i="1" dirty="0"/>
              <a:t>t</a:t>
            </a:r>
            <a:r>
              <a:rPr lang="nl-NL" dirty="0"/>
              <a:t>-test…</a:t>
            </a:r>
            <a:r>
              <a:rPr lang="nl-NL" dirty="0" err="1"/>
              <a:t>difference</a:t>
            </a:r>
            <a:r>
              <a:rPr lang="nl-NL" dirty="0"/>
              <a:t> = 0?)</a:t>
            </a:r>
            <a:endParaRPr lang="nl-NL" dirty="0"/>
          </a:p>
          <a:p>
            <a:pPr lvl="1"/>
            <a:r>
              <a:rPr lang="nl-NL" dirty="0">
                <a:solidFill>
                  <a:srgbClr val="FF0000"/>
                </a:solidFill>
              </a:rPr>
              <a:t>H</a:t>
            </a:r>
            <a:r>
              <a:rPr lang="nl-NL" baseline="-25000" dirty="0">
                <a:solidFill>
                  <a:srgbClr val="FF0000"/>
                </a:solidFill>
              </a:rPr>
              <a:t>0</a:t>
            </a:r>
            <a:r>
              <a:rPr lang="nl-NL" dirty="0">
                <a:solidFill>
                  <a:srgbClr val="FF0000"/>
                </a:solidFill>
              </a:rPr>
              <a:t>: The </a:t>
            </a:r>
            <a:r>
              <a:rPr lang="nl-NL" dirty="0" err="1">
                <a:solidFill>
                  <a:srgbClr val="FF0000"/>
                </a:solidFill>
              </a:rPr>
              <a:t>difference</a:t>
            </a:r>
            <a:r>
              <a:rPr lang="nl-NL" dirty="0">
                <a:solidFill>
                  <a:srgbClr val="FF0000"/>
                </a:solidFill>
              </a:rPr>
              <a:t> in IQ </a:t>
            </a:r>
            <a:r>
              <a:rPr lang="nl-NL" dirty="0" err="1">
                <a:solidFill>
                  <a:srgbClr val="FF0000"/>
                </a:solidFill>
              </a:rPr>
              <a:t>before</a:t>
            </a:r>
            <a:r>
              <a:rPr lang="nl-NL" dirty="0">
                <a:solidFill>
                  <a:srgbClr val="FF0000"/>
                </a:solidFill>
              </a:rPr>
              <a:t> </a:t>
            </a:r>
            <a:r>
              <a:rPr lang="nl-NL" dirty="0" err="1">
                <a:solidFill>
                  <a:srgbClr val="FF0000"/>
                </a:solidFill>
              </a:rPr>
              <a:t>and</a:t>
            </a:r>
            <a:r>
              <a:rPr lang="nl-NL" dirty="0">
                <a:solidFill>
                  <a:srgbClr val="FF0000"/>
                </a:solidFill>
              </a:rPr>
              <a:t> </a:t>
            </a:r>
            <a:r>
              <a:rPr lang="nl-NL" dirty="0" err="1">
                <a:solidFill>
                  <a:srgbClr val="FF0000"/>
                </a:solidFill>
              </a:rPr>
              <a:t>after</a:t>
            </a:r>
            <a:r>
              <a:rPr lang="nl-NL" dirty="0">
                <a:solidFill>
                  <a:srgbClr val="FF0000"/>
                </a:solidFill>
              </a:rPr>
              <a:t> sleep </a:t>
            </a:r>
            <a:r>
              <a:rPr lang="nl-NL" dirty="0" err="1">
                <a:solidFill>
                  <a:srgbClr val="FF0000"/>
                </a:solidFill>
              </a:rPr>
              <a:t>deprivation</a:t>
            </a:r>
            <a:r>
              <a:rPr lang="nl-NL" dirty="0">
                <a:solidFill>
                  <a:srgbClr val="FF0000"/>
                </a:solidFill>
              </a:rPr>
              <a:t> </a:t>
            </a:r>
            <a:r>
              <a:rPr lang="nl-NL" dirty="0" err="1">
                <a:solidFill>
                  <a:srgbClr val="FF0000"/>
                </a:solidFill>
              </a:rPr>
              <a:t>equals</a:t>
            </a:r>
            <a:r>
              <a:rPr lang="nl-NL" dirty="0">
                <a:solidFill>
                  <a:srgbClr val="FF0000"/>
                </a:solidFill>
              </a:rPr>
              <a:t> zero</a:t>
            </a:r>
            <a:endParaRPr lang="nl-NL"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How </a:t>
            </a:r>
            <a:r>
              <a:rPr lang="nl-NL" b="1" dirty="0" err="1"/>
              <a:t>to</a:t>
            </a:r>
            <a:r>
              <a:rPr lang="nl-NL" b="1" dirty="0"/>
              <a:t> </a:t>
            </a:r>
            <a:r>
              <a:rPr lang="nl-NL" b="1" dirty="0" err="1"/>
              <a:t>perform</a:t>
            </a:r>
            <a:r>
              <a:rPr lang="nl-NL" b="1" dirty="0"/>
              <a:t> a </a:t>
            </a:r>
            <a:r>
              <a:rPr lang="nl-NL" b="1" dirty="0" err="1"/>
              <a:t>one</a:t>
            </a:r>
            <a:r>
              <a:rPr lang="nl-NL" b="1" dirty="0"/>
              <a:t> sample </a:t>
            </a:r>
            <a:r>
              <a:rPr lang="nl-NL" b="1" i="1" dirty="0"/>
              <a:t>t</a:t>
            </a:r>
            <a:r>
              <a:rPr lang="nl-NL" b="1" dirty="0"/>
              <a:t>-test?</a:t>
            </a:r>
            <a:endParaRPr lang="nl-NL" sz="3100" b="1" dirty="0"/>
          </a:p>
        </p:txBody>
      </p:sp>
      <p:sp>
        <p:nvSpPr>
          <p:cNvPr id="3" name="Content Placeholder 2"/>
          <p:cNvSpPr>
            <a:spLocks noGrp="1"/>
          </p:cNvSpPr>
          <p:nvPr>
            <p:ph idx="1"/>
          </p:nvPr>
        </p:nvSpPr>
        <p:spPr>
          <a:xfrm>
            <a:off x="615820" y="1449354"/>
            <a:ext cx="10910596" cy="4957665"/>
          </a:xfrm>
        </p:spPr>
        <p:txBody>
          <a:bodyPr>
            <a:normAutofit fontScale="92500" lnSpcReduction="20000"/>
          </a:bodyPr>
          <a:lstStyle/>
          <a:p>
            <a:pPr marL="0" indent="0" latinLnBrk="1">
              <a:buNone/>
            </a:pPr>
            <a:r>
              <a:rPr lang="en-US" dirty="0">
                <a:solidFill>
                  <a:srgbClr val="FF0000"/>
                </a:solidFill>
              </a:rPr>
              <a:t>t.test(</a:t>
            </a:r>
            <a:r>
              <a:rPr lang="en-US" dirty="0" err="1">
                <a:solidFill>
                  <a:srgbClr val="FF0000"/>
                </a:solidFill>
              </a:rPr>
              <a:t>mpg$cty</a:t>
            </a:r>
            <a:r>
              <a:rPr lang="en-US" dirty="0">
                <a:solidFill>
                  <a:srgbClr val="FF0000"/>
                </a:solidFill>
              </a:rPr>
              <a:t>, mu = 20) </a:t>
            </a:r>
            <a:r>
              <a:rPr lang="en-US" dirty="0"/>
              <a:t># mu = population mean</a:t>
            </a:r>
            <a:endParaRPr lang="en-US" dirty="0"/>
          </a:p>
          <a:p>
            <a:pPr marL="0" indent="0" latinLnBrk="1">
              <a:buNone/>
            </a:pPr>
            <a:endParaRPr lang="en-US" dirty="0">
              <a:solidFill>
                <a:srgbClr val="FF0000"/>
              </a:solidFill>
            </a:endParaRPr>
          </a:p>
          <a:p>
            <a:pPr marL="0" indent="0" latinLnBrk="1">
              <a:buNone/>
            </a:pPr>
            <a:r>
              <a:rPr lang="en-US" dirty="0"/>
              <a:t>	One Sample t-test</a:t>
            </a:r>
            <a:endParaRPr lang="en-US" dirty="0"/>
          </a:p>
          <a:p>
            <a:pPr marL="0" indent="0" latinLnBrk="1">
              <a:buNone/>
            </a:pPr>
            <a:endParaRPr lang="en-US" dirty="0"/>
          </a:p>
          <a:p>
            <a:pPr marL="0" indent="0" latinLnBrk="1">
              <a:buNone/>
            </a:pPr>
            <a:r>
              <a:rPr lang="en-US" dirty="0"/>
              <a:t>data:  </a:t>
            </a:r>
            <a:r>
              <a:rPr lang="en-US" dirty="0" err="1"/>
              <a:t>mpg$cty</a:t>
            </a:r>
            <a:endParaRPr lang="en-US" dirty="0"/>
          </a:p>
          <a:p>
            <a:pPr marL="0" indent="0" latinLnBrk="1">
              <a:buNone/>
            </a:pPr>
            <a:r>
              <a:rPr lang="en-US" dirty="0"/>
              <a:t>t = -11.29, </a:t>
            </a:r>
            <a:r>
              <a:rPr lang="en-US" dirty="0" err="1"/>
              <a:t>df</a:t>
            </a:r>
            <a:r>
              <a:rPr lang="en-US" dirty="0"/>
              <a:t> = 233, p-value &lt; 2.2e-16</a:t>
            </a:r>
            <a:endParaRPr lang="en-US" dirty="0"/>
          </a:p>
          <a:p>
            <a:pPr marL="0" indent="0" latinLnBrk="1">
              <a:buNone/>
            </a:pPr>
            <a:r>
              <a:rPr lang="en-US" dirty="0"/>
              <a:t>alternative hypothesis: true mean is not equal to 20</a:t>
            </a:r>
            <a:endParaRPr lang="en-US" dirty="0"/>
          </a:p>
          <a:p>
            <a:pPr marL="0" indent="0" latinLnBrk="1">
              <a:buNone/>
            </a:pPr>
            <a:r>
              <a:rPr lang="en-US" dirty="0"/>
              <a:t>95 percent confidence interval:</a:t>
            </a:r>
            <a:endParaRPr lang="en-US" dirty="0"/>
          </a:p>
          <a:p>
            <a:pPr marL="0" indent="0" latinLnBrk="1">
              <a:buNone/>
            </a:pPr>
            <a:r>
              <a:rPr lang="en-US" dirty="0"/>
              <a:t> 16.31083 17.40712</a:t>
            </a:r>
            <a:endParaRPr lang="en-US" dirty="0"/>
          </a:p>
          <a:p>
            <a:pPr marL="0" indent="0" latinLnBrk="1">
              <a:buNone/>
            </a:pPr>
            <a:r>
              <a:rPr lang="en-US" dirty="0"/>
              <a:t>sample estimates:</a:t>
            </a:r>
            <a:endParaRPr lang="en-US" dirty="0"/>
          </a:p>
          <a:p>
            <a:pPr marL="0" indent="0" latinLnBrk="1">
              <a:buNone/>
            </a:pPr>
            <a:r>
              <a:rPr lang="en-US" dirty="0"/>
              <a:t>mean of x </a:t>
            </a:r>
            <a:endParaRPr lang="en-US" dirty="0"/>
          </a:p>
          <a:p>
            <a:pPr marL="0" indent="0" latinLnBrk="1">
              <a:buNone/>
            </a:pPr>
            <a:r>
              <a:rPr lang="en-US" dirty="0"/>
              <a:t> 16.85897 </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How </a:t>
            </a:r>
            <a:r>
              <a:rPr lang="nl-NL" b="1" dirty="0" err="1"/>
              <a:t>to</a:t>
            </a:r>
            <a:r>
              <a:rPr lang="nl-NL" b="1" dirty="0"/>
              <a:t> </a:t>
            </a:r>
            <a:r>
              <a:rPr lang="nl-NL" b="1" dirty="0" err="1"/>
              <a:t>perform</a:t>
            </a:r>
            <a:r>
              <a:rPr lang="nl-NL" b="1" dirty="0"/>
              <a:t> </a:t>
            </a:r>
            <a:r>
              <a:rPr lang="nl-NL" b="1" dirty="0" err="1"/>
              <a:t>an</a:t>
            </a:r>
            <a:r>
              <a:rPr lang="nl-NL" b="1" dirty="0"/>
              <a:t> independent </a:t>
            </a:r>
            <a:r>
              <a:rPr lang="nl-NL" b="1" i="1" dirty="0"/>
              <a:t>t</a:t>
            </a:r>
            <a:r>
              <a:rPr lang="nl-NL" b="1" dirty="0"/>
              <a:t>-test?</a:t>
            </a:r>
            <a:endParaRPr lang="nl-NL" sz="3100" b="1" dirty="0"/>
          </a:p>
        </p:txBody>
      </p:sp>
      <p:sp>
        <p:nvSpPr>
          <p:cNvPr id="3" name="Content Placeholder 2"/>
          <p:cNvSpPr>
            <a:spLocks noGrp="1"/>
          </p:cNvSpPr>
          <p:nvPr>
            <p:ph idx="1"/>
          </p:nvPr>
        </p:nvSpPr>
        <p:spPr>
          <a:xfrm>
            <a:off x="615820" y="1449354"/>
            <a:ext cx="10910596" cy="4957665"/>
          </a:xfrm>
        </p:spPr>
        <p:txBody>
          <a:bodyPr>
            <a:normAutofit fontScale="92500" lnSpcReduction="20000"/>
          </a:bodyPr>
          <a:lstStyle/>
          <a:p>
            <a:pPr marL="0" indent="0" latinLnBrk="1">
              <a:buNone/>
            </a:pPr>
            <a:r>
              <a:rPr lang="en-US" dirty="0">
                <a:solidFill>
                  <a:srgbClr val="FF0000"/>
                </a:solidFill>
              </a:rPr>
              <a:t>t.test(</a:t>
            </a:r>
            <a:r>
              <a:rPr lang="en-US" dirty="0" err="1">
                <a:solidFill>
                  <a:srgbClr val="FF0000"/>
                </a:solidFill>
              </a:rPr>
              <a:t>mpg_small$cty</a:t>
            </a:r>
            <a:r>
              <a:rPr lang="en-US" dirty="0">
                <a:solidFill>
                  <a:srgbClr val="FF0000"/>
                </a:solidFill>
              </a:rPr>
              <a:t> ~ </a:t>
            </a:r>
            <a:r>
              <a:rPr lang="en-US" dirty="0" err="1">
                <a:solidFill>
                  <a:srgbClr val="FF0000"/>
                </a:solidFill>
              </a:rPr>
              <a:t>mpg_small$drv</a:t>
            </a:r>
            <a:r>
              <a:rPr lang="en-US" dirty="0">
                <a:solidFill>
                  <a:srgbClr val="FF0000"/>
                </a:solidFill>
              </a:rPr>
              <a:t>)  </a:t>
            </a:r>
            <a:r>
              <a:rPr lang="en-US" dirty="0"/>
              <a:t># t.test(DV~IV)</a:t>
            </a:r>
            <a:endParaRPr lang="en-US" dirty="0"/>
          </a:p>
          <a:p>
            <a:pPr marL="0" indent="0" latinLnBrk="1">
              <a:buNone/>
            </a:pPr>
            <a:endParaRPr lang="en-US" dirty="0">
              <a:solidFill>
                <a:srgbClr val="FF0000"/>
              </a:solidFill>
            </a:endParaRPr>
          </a:p>
          <a:p>
            <a:pPr marL="0" indent="0" latinLnBrk="1">
              <a:buNone/>
            </a:pPr>
            <a:r>
              <a:rPr lang="en-US" dirty="0"/>
              <a:t>	Welch Two Sample t-test</a:t>
            </a:r>
            <a:endParaRPr lang="en-US" dirty="0"/>
          </a:p>
          <a:p>
            <a:pPr marL="0" indent="0" latinLnBrk="1">
              <a:buNone/>
            </a:pPr>
            <a:endParaRPr lang="en-US" dirty="0"/>
          </a:p>
          <a:p>
            <a:pPr marL="0" indent="0" latinLnBrk="1">
              <a:buNone/>
            </a:pPr>
            <a:r>
              <a:rPr lang="en-US" dirty="0"/>
              <a:t>data:  </a:t>
            </a:r>
            <a:r>
              <a:rPr lang="en-US" dirty="0" err="1"/>
              <a:t>mpg_small$cty</a:t>
            </a:r>
            <a:r>
              <a:rPr lang="en-US" dirty="0"/>
              <a:t> by </a:t>
            </a:r>
            <a:r>
              <a:rPr lang="en-US" dirty="0" err="1"/>
              <a:t>mpg_small$drv</a:t>
            </a:r>
            <a:endParaRPr lang="en-US" dirty="0"/>
          </a:p>
          <a:p>
            <a:pPr marL="0" indent="0" latinLnBrk="1">
              <a:buNone/>
            </a:pPr>
            <a:r>
              <a:rPr lang="en-US" dirty="0"/>
              <a:t>t = 10.407, </a:t>
            </a:r>
            <a:r>
              <a:rPr lang="en-US" dirty="0" err="1"/>
              <a:t>df</a:t>
            </a:r>
            <a:r>
              <a:rPr lang="en-US" dirty="0"/>
              <a:t> = 58.559, p-value = 6.167e-15</a:t>
            </a:r>
            <a:endParaRPr lang="en-US" dirty="0"/>
          </a:p>
          <a:p>
            <a:pPr marL="0" indent="0" latinLnBrk="1">
              <a:buNone/>
            </a:pPr>
            <a:r>
              <a:rPr lang="en-US" dirty="0"/>
              <a:t>alternative hypothesis: true difference in means is not equal to 0</a:t>
            </a:r>
            <a:endParaRPr lang="en-US" dirty="0"/>
          </a:p>
          <a:p>
            <a:pPr marL="0" indent="0" latinLnBrk="1">
              <a:buNone/>
            </a:pPr>
            <a:r>
              <a:rPr lang="en-US" dirty="0">
                <a:solidFill>
                  <a:srgbClr val="FF0000"/>
                </a:solidFill>
              </a:rPr>
              <a:t>95 percent confidence interval:</a:t>
            </a:r>
            <a:endParaRPr lang="en-US" dirty="0">
              <a:solidFill>
                <a:srgbClr val="FF0000"/>
              </a:solidFill>
            </a:endParaRPr>
          </a:p>
          <a:p>
            <a:pPr marL="0" indent="0" latinLnBrk="1">
              <a:buNone/>
            </a:pPr>
            <a:r>
              <a:rPr lang="en-US" dirty="0">
                <a:solidFill>
                  <a:srgbClr val="FF0000"/>
                </a:solidFill>
              </a:rPr>
              <a:t> 4.758752 7.024644</a:t>
            </a:r>
            <a:endParaRPr lang="en-US" dirty="0">
              <a:solidFill>
                <a:srgbClr val="FF0000"/>
              </a:solidFill>
            </a:endParaRPr>
          </a:p>
          <a:p>
            <a:pPr marL="0" indent="0" latinLnBrk="1">
              <a:buNone/>
            </a:pPr>
            <a:r>
              <a:rPr lang="en-US" dirty="0"/>
              <a:t>sample estimates:</a:t>
            </a:r>
            <a:endParaRPr lang="en-US" dirty="0"/>
          </a:p>
          <a:p>
            <a:pPr marL="0" indent="0" latinLnBrk="1">
              <a:buNone/>
            </a:pPr>
            <a:r>
              <a:rPr lang="en-US" dirty="0"/>
              <a:t>mean in group f mean in group r </a:t>
            </a:r>
            <a:endParaRPr lang="en-US" dirty="0"/>
          </a:p>
          <a:p>
            <a:pPr marL="0" indent="0" latinLnBrk="1">
              <a:buNone/>
            </a:pPr>
            <a:r>
              <a:rPr lang="en-US" dirty="0"/>
              <a:t>        19.9717         14.0800 </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How </a:t>
            </a:r>
            <a:r>
              <a:rPr lang="nl-NL" b="1" dirty="0" err="1"/>
              <a:t>to</a:t>
            </a:r>
            <a:r>
              <a:rPr lang="nl-NL" b="1" dirty="0"/>
              <a:t> </a:t>
            </a:r>
            <a:r>
              <a:rPr lang="nl-NL" b="1" dirty="0" err="1"/>
              <a:t>perform</a:t>
            </a:r>
            <a:r>
              <a:rPr lang="nl-NL" b="1" dirty="0"/>
              <a:t> a </a:t>
            </a:r>
            <a:r>
              <a:rPr lang="nl-NL" b="1" dirty="0" err="1"/>
              <a:t>paired</a:t>
            </a:r>
            <a:r>
              <a:rPr lang="nl-NL" b="1" dirty="0"/>
              <a:t> </a:t>
            </a:r>
            <a:r>
              <a:rPr lang="nl-NL" b="1" i="1" dirty="0"/>
              <a:t>t</a:t>
            </a:r>
            <a:r>
              <a:rPr lang="nl-NL" b="1" dirty="0"/>
              <a:t>-test?</a:t>
            </a:r>
            <a:endParaRPr lang="nl-NL" sz="3100" b="1" dirty="0"/>
          </a:p>
        </p:txBody>
      </p:sp>
      <p:sp>
        <p:nvSpPr>
          <p:cNvPr id="3" name="Content Placeholder 2"/>
          <p:cNvSpPr>
            <a:spLocks noGrp="1"/>
          </p:cNvSpPr>
          <p:nvPr>
            <p:ph idx="1"/>
          </p:nvPr>
        </p:nvSpPr>
        <p:spPr>
          <a:xfrm>
            <a:off x="615820" y="1449354"/>
            <a:ext cx="10910596" cy="4957665"/>
          </a:xfrm>
        </p:spPr>
        <p:txBody>
          <a:bodyPr>
            <a:normAutofit fontScale="92500" lnSpcReduction="20000"/>
          </a:bodyPr>
          <a:lstStyle/>
          <a:p>
            <a:pPr marL="0" indent="0" latinLnBrk="1">
              <a:buNone/>
            </a:pPr>
            <a:r>
              <a:rPr lang="en-US" dirty="0">
                <a:solidFill>
                  <a:srgbClr val="FF0000"/>
                </a:solidFill>
              </a:rPr>
              <a:t>t.test(</a:t>
            </a:r>
            <a:r>
              <a:rPr lang="en-US" dirty="0" err="1">
                <a:solidFill>
                  <a:srgbClr val="FF0000"/>
                </a:solidFill>
              </a:rPr>
              <a:t>mpg$cty</a:t>
            </a:r>
            <a:r>
              <a:rPr lang="en-US" dirty="0">
                <a:solidFill>
                  <a:srgbClr val="FF0000"/>
                </a:solidFill>
              </a:rPr>
              <a:t>, </a:t>
            </a:r>
            <a:r>
              <a:rPr lang="en-US" dirty="0" err="1">
                <a:solidFill>
                  <a:srgbClr val="FF0000"/>
                </a:solidFill>
              </a:rPr>
              <a:t>mpg$hwy</a:t>
            </a:r>
            <a:r>
              <a:rPr lang="en-US" dirty="0">
                <a:solidFill>
                  <a:srgbClr val="FF0000"/>
                </a:solidFill>
              </a:rPr>
              <a:t>, paired = T)</a:t>
            </a:r>
            <a:endParaRPr lang="en-US" dirty="0">
              <a:solidFill>
                <a:srgbClr val="FF0000"/>
              </a:solidFill>
            </a:endParaRPr>
          </a:p>
          <a:p>
            <a:pPr marL="0" indent="0" latinLnBrk="1">
              <a:buNone/>
            </a:pPr>
            <a:endParaRPr lang="en-US" dirty="0">
              <a:solidFill>
                <a:srgbClr val="FF0000"/>
              </a:solidFill>
            </a:endParaRPr>
          </a:p>
          <a:p>
            <a:pPr marL="0" indent="0" latinLnBrk="1">
              <a:buNone/>
            </a:pPr>
            <a:r>
              <a:rPr lang="en-US" dirty="0"/>
              <a:t>	Paired t-test</a:t>
            </a:r>
            <a:endParaRPr lang="en-US" dirty="0"/>
          </a:p>
          <a:p>
            <a:pPr marL="0" indent="0" latinLnBrk="1">
              <a:buNone/>
            </a:pPr>
            <a:endParaRPr lang="en-US" dirty="0"/>
          </a:p>
          <a:p>
            <a:pPr marL="0" indent="0" latinLnBrk="1">
              <a:buNone/>
            </a:pPr>
            <a:r>
              <a:rPr lang="en-US" dirty="0"/>
              <a:t>data:  </a:t>
            </a:r>
            <a:r>
              <a:rPr lang="en-US" dirty="0" err="1"/>
              <a:t>mpg$cty</a:t>
            </a:r>
            <a:r>
              <a:rPr lang="en-US" dirty="0"/>
              <a:t> and </a:t>
            </a:r>
            <a:r>
              <a:rPr lang="en-US" dirty="0" err="1"/>
              <a:t>mpg$hwy</a:t>
            </a:r>
            <a:endParaRPr lang="en-US" dirty="0"/>
          </a:p>
          <a:p>
            <a:pPr marL="0" indent="0" latinLnBrk="1">
              <a:buNone/>
            </a:pPr>
            <a:r>
              <a:rPr lang="en-US" dirty="0"/>
              <a:t>t = -44.492, </a:t>
            </a:r>
            <a:r>
              <a:rPr lang="en-US" dirty="0" err="1"/>
              <a:t>df</a:t>
            </a:r>
            <a:r>
              <a:rPr lang="en-US" dirty="0"/>
              <a:t> = 233, p-value &lt; 2.2e-16</a:t>
            </a:r>
            <a:endParaRPr lang="en-US" dirty="0"/>
          </a:p>
          <a:p>
            <a:pPr marL="0" indent="0" latinLnBrk="1">
              <a:buNone/>
            </a:pPr>
            <a:r>
              <a:rPr lang="en-US" dirty="0"/>
              <a:t>alternative hypothesis: true difference in means is not equal to 0</a:t>
            </a:r>
            <a:endParaRPr lang="en-US" dirty="0"/>
          </a:p>
          <a:p>
            <a:pPr marL="0" indent="0" latinLnBrk="1">
              <a:buNone/>
            </a:pPr>
            <a:r>
              <a:rPr lang="en-US" dirty="0"/>
              <a:t>95 percent confidence interval:</a:t>
            </a:r>
            <a:endParaRPr lang="en-US" dirty="0"/>
          </a:p>
          <a:p>
            <a:pPr marL="0" indent="0" latinLnBrk="1">
              <a:buNone/>
            </a:pPr>
            <a:r>
              <a:rPr lang="en-US" dirty="0"/>
              <a:t> -6.872628 -6.289765</a:t>
            </a:r>
            <a:endParaRPr lang="en-US" dirty="0"/>
          </a:p>
          <a:p>
            <a:pPr marL="0" indent="0" latinLnBrk="1">
              <a:buNone/>
            </a:pPr>
            <a:r>
              <a:rPr lang="en-US" dirty="0"/>
              <a:t>sample estimates:</a:t>
            </a:r>
            <a:endParaRPr lang="en-US" dirty="0"/>
          </a:p>
          <a:p>
            <a:pPr marL="0" indent="0" latinLnBrk="1">
              <a:buNone/>
            </a:pPr>
            <a:r>
              <a:rPr lang="en-US" dirty="0"/>
              <a:t>mean of the differences </a:t>
            </a:r>
            <a:endParaRPr lang="en-US" dirty="0"/>
          </a:p>
          <a:p>
            <a:pPr marL="0" indent="0" latinLnBrk="1">
              <a:buNone/>
            </a:pPr>
            <a:r>
              <a:rPr lang="en-US" dirty="0"/>
              <a:t>              -6.581197 </a:t>
            </a:r>
            <a:endParaRPr lang="en-US" dirty="0"/>
          </a:p>
          <a:p>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How </a:t>
            </a:r>
            <a:r>
              <a:rPr lang="nl-NL" b="1" dirty="0" err="1"/>
              <a:t>to</a:t>
            </a:r>
            <a:r>
              <a:rPr lang="nl-NL" b="1" dirty="0"/>
              <a:t> report </a:t>
            </a:r>
            <a:r>
              <a:rPr lang="nl-NL" b="1" i="1" dirty="0"/>
              <a:t>t</a:t>
            </a:r>
            <a:r>
              <a:rPr lang="nl-NL" b="1" dirty="0"/>
              <a:t>-tests?</a:t>
            </a:r>
            <a:endParaRPr lang="nl-NL" sz="3100" b="1" dirty="0"/>
          </a:p>
        </p:txBody>
      </p:sp>
      <p:sp>
        <p:nvSpPr>
          <p:cNvPr id="3" name="Content Placeholder 2"/>
          <p:cNvSpPr>
            <a:spLocks noGrp="1"/>
          </p:cNvSpPr>
          <p:nvPr>
            <p:ph idx="1"/>
          </p:nvPr>
        </p:nvSpPr>
        <p:spPr>
          <a:xfrm>
            <a:off x="615820" y="1337388"/>
            <a:ext cx="10910596" cy="5069631"/>
          </a:xfrm>
        </p:spPr>
        <p:txBody>
          <a:bodyPr>
            <a:normAutofit/>
          </a:bodyPr>
          <a:lstStyle/>
          <a:p>
            <a:r>
              <a:rPr lang="nl-NL" b="1" dirty="0"/>
              <a:t>Independent sample </a:t>
            </a:r>
            <a:r>
              <a:rPr lang="nl-NL" b="1" i="1" dirty="0"/>
              <a:t>t</a:t>
            </a:r>
            <a:r>
              <a:rPr lang="nl-NL" b="1" dirty="0"/>
              <a:t>-test </a:t>
            </a:r>
            <a:endParaRPr lang="nl-NL" b="1" dirty="0"/>
          </a:p>
          <a:p>
            <a:pPr lvl="1"/>
            <a:r>
              <a:rPr lang="nl-NL" dirty="0"/>
              <a:t>An independent samples </a:t>
            </a:r>
            <a:r>
              <a:rPr lang="nl-NL" i="1" dirty="0"/>
              <a:t>t</a:t>
            </a:r>
            <a:r>
              <a:rPr lang="nl-NL" dirty="0"/>
              <a:t>-test </a:t>
            </a:r>
            <a:r>
              <a:rPr lang="nl-NL" dirty="0" err="1"/>
              <a:t>examined</a:t>
            </a:r>
            <a:r>
              <a:rPr lang="nl-NL" dirty="0"/>
              <a:t> </a:t>
            </a:r>
            <a:r>
              <a:rPr lang="nl-NL" dirty="0" err="1"/>
              <a:t>differences</a:t>
            </a:r>
            <a:r>
              <a:rPr lang="nl-NL" dirty="0"/>
              <a:t> in </a:t>
            </a:r>
            <a:r>
              <a:rPr lang="nl-NL" dirty="0" err="1"/>
              <a:t>city</a:t>
            </a:r>
            <a:r>
              <a:rPr lang="nl-NL" dirty="0"/>
              <a:t> </a:t>
            </a:r>
            <a:r>
              <a:rPr lang="nl-NL" dirty="0" err="1"/>
              <a:t>mileage</a:t>
            </a:r>
            <a:r>
              <a:rPr lang="nl-NL" dirty="0"/>
              <a:t> </a:t>
            </a:r>
            <a:r>
              <a:rPr lang="nl-NL" dirty="0" err="1"/>
              <a:t>between</a:t>
            </a:r>
            <a:r>
              <a:rPr lang="nl-NL" dirty="0"/>
              <a:t> </a:t>
            </a:r>
            <a:r>
              <a:rPr lang="nl-NL" dirty="0" err="1"/>
              <a:t>cars</a:t>
            </a:r>
            <a:r>
              <a:rPr lang="nl-NL" dirty="0"/>
              <a:t> </a:t>
            </a:r>
            <a:r>
              <a:rPr lang="nl-NL" dirty="0" err="1"/>
              <a:t>with</a:t>
            </a:r>
            <a:r>
              <a:rPr lang="nl-NL" dirty="0"/>
              <a:t> front- </a:t>
            </a:r>
            <a:r>
              <a:rPr lang="nl-NL" dirty="0" err="1"/>
              <a:t>and</a:t>
            </a:r>
            <a:r>
              <a:rPr lang="nl-NL" dirty="0"/>
              <a:t> </a:t>
            </a:r>
            <a:r>
              <a:rPr lang="nl-NL" dirty="0" err="1"/>
              <a:t>rear-wheel</a:t>
            </a:r>
            <a:r>
              <a:rPr lang="nl-NL" dirty="0"/>
              <a:t> drive.</a:t>
            </a:r>
            <a:endParaRPr lang="nl-NL" dirty="0"/>
          </a:p>
          <a:p>
            <a:pPr lvl="1"/>
            <a:r>
              <a:rPr lang="nl-NL" dirty="0"/>
              <a:t>Front- and </a:t>
            </a:r>
            <a:r>
              <a:rPr lang="nl-NL" dirty="0" err="1"/>
              <a:t>rear-wheel</a:t>
            </a:r>
            <a:r>
              <a:rPr lang="nl-NL" dirty="0"/>
              <a:t> drive </a:t>
            </a:r>
            <a:r>
              <a:rPr lang="nl-NL" dirty="0" err="1"/>
              <a:t>cars</a:t>
            </a:r>
            <a:r>
              <a:rPr lang="nl-NL" dirty="0"/>
              <a:t> </a:t>
            </a:r>
            <a:r>
              <a:rPr lang="nl-NL" dirty="0" err="1"/>
              <a:t>differed</a:t>
            </a:r>
            <a:r>
              <a:rPr lang="nl-NL" dirty="0"/>
              <a:t> in </a:t>
            </a:r>
            <a:r>
              <a:rPr lang="nl-NL" dirty="0" err="1"/>
              <a:t>their</a:t>
            </a:r>
            <a:r>
              <a:rPr lang="nl-NL" dirty="0"/>
              <a:t> </a:t>
            </a:r>
            <a:r>
              <a:rPr lang="nl-NL" dirty="0" err="1"/>
              <a:t>city</a:t>
            </a:r>
            <a:r>
              <a:rPr lang="nl-NL" dirty="0"/>
              <a:t> </a:t>
            </a:r>
            <a:r>
              <a:rPr lang="nl-NL" dirty="0" err="1"/>
              <a:t>mileage</a:t>
            </a:r>
            <a:r>
              <a:rPr lang="nl-NL" dirty="0"/>
              <a:t>, </a:t>
            </a:r>
            <a:r>
              <a:rPr lang="nl-NL" i="1" dirty="0"/>
              <a:t>t</a:t>
            </a:r>
            <a:r>
              <a:rPr lang="nl-NL" dirty="0"/>
              <a:t>(58.56) = 10.41, </a:t>
            </a:r>
            <a:r>
              <a:rPr lang="nl-NL" i="1" dirty="0"/>
              <a:t>p</a:t>
            </a:r>
            <a:r>
              <a:rPr lang="nl-NL" dirty="0"/>
              <a:t> &lt; .001, </a:t>
            </a:r>
            <a:r>
              <a:rPr lang="nl-NL" dirty="0" err="1"/>
              <a:t>with</a:t>
            </a:r>
            <a:r>
              <a:rPr lang="nl-NL" dirty="0"/>
              <a:t> front-</a:t>
            </a:r>
            <a:r>
              <a:rPr lang="nl-NL" dirty="0" err="1"/>
              <a:t>wheel</a:t>
            </a:r>
            <a:r>
              <a:rPr lang="nl-NL" dirty="0"/>
              <a:t> drive </a:t>
            </a:r>
            <a:r>
              <a:rPr lang="nl-NL" dirty="0" err="1"/>
              <a:t>cars</a:t>
            </a:r>
            <a:r>
              <a:rPr lang="nl-NL" dirty="0"/>
              <a:t> </a:t>
            </a:r>
            <a:r>
              <a:rPr lang="nl-NL" dirty="0" err="1"/>
              <a:t>having</a:t>
            </a:r>
            <a:r>
              <a:rPr lang="nl-NL" dirty="0"/>
              <a:t> </a:t>
            </a:r>
            <a:r>
              <a:rPr lang="nl-NL" dirty="0" err="1"/>
              <a:t>higher</a:t>
            </a:r>
            <a:r>
              <a:rPr lang="nl-NL" dirty="0"/>
              <a:t> </a:t>
            </a:r>
            <a:r>
              <a:rPr lang="nl-NL" dirty="0" err="1"/>
              <a:t>city</a:t>
            </a:r>
            <a:r>
              <a:rPr lang="nl-NL" dirty="0"/>
              <a:t> </a:t>
            </a:r>
            <a:r>
              <a:rPr lang="nl-NL" dirty="0" err="1"/>
              <a:t>mileage</a:t>
            </a:r>
            <a:r>
              <a:rPr lang="nl-NL" dirty="0"/>
              <a:t> (</a:t>
            </a:r>
            <a:r>
              <a:rPr lang="nl-NL" i="1" dirty="0"/>
              <a:t>M</a:t>
            </a:r>
            <a:r>
              <a:rPr lang="nl-NL" dirty="0"/>
              <a:t> = 19.97, 95% </a:t>
            </a:r>
            <a:r>
              <a:rPr lang="nl-NL" dirty="0" err="1"/>
              <a:t>CIs</a:t>
            </a:r>
            <a:r>
              <a:rPr lang="nl-NL" dirty="0"/>
              <a:t> [19.27, 20.67]) </a:t>
            </a:r>
            <a:r>
              <a:rPr lang="nl-NL" dirty="0" err="1"/>
              <a:t>than</a:t>
            </a:r>
            <a:r>
              <a:rPr lang="nl-NL" dirty="0"/>
              <a:t> </a:t>
            </a:r>
            <a:r>
              <a:rPr lang="nl-NL" dirty="0" err="1"/>
              <a:t>rear-wheel</a:t>
            </a:r>
            <a:r>
              <a:rPr lang="nl-NL" dirty="0"/>
              <a:t> </a:t>
            </a:r>
            <a:r>
              <a:rPr lang="nl-NL" dirty="0" err="1"/>
              <a:t>cars</a:t>
            </a:r>
            <a:r>
              <a:rPr lang="nl-NL" dirty="0"/>
              <a:t> (</a:t>
            </a:r>
            <a:r>
              <a:rPr lang="nl-NL" i="1" dirty="0"/>
              <a:t>M</a:t>
            </a:r>
            <a:r>
              <a:rPr lang="nl-NL" dirty="0"/>
              <a:t> = 14.08, 95% </a:t>
            </a:r>
            <a:r>
              <a:rPr lang="nl-NL" dirty="0" err="1"/>
              <a:t>CIs</a:t>
            </a:r>
            <a:r>
              <a:rPr lang="nl-NL" dirty="0"/>
              <a:t> [13.17, 14.99]).</a:t>
            </a:r>
            <a:endParaRPr lang="nl-NL" dirty="0"/>
          </a:p>
          <a:p>
            <a:pPr lvl="1"/>
            <a:endParaRPr lang="nl-NL" dirty="0"/>
          </a:p>
          <a:p>
            <a:r>
              <a:rPr lang="nl-NL" b="1" dirty="0" err="1"/>
              <a:t>Dependent</a:t>
            </a:r>
            <a:r>
              <a:rPr lang="nl-NL" b="1" dirty="0"/>
              <a:t> sample </a:t>
            </a:r>
            <a:r>
              <a:rPr lang="nl-NL" b="1" i="1" dirty="0"/>
              <a:t>t</a:t>
            </a:r>
            <a:r>
              <a:rPr lang="nl-NL" b="1" dirty="0"/>
              <a:t>-test </a:t>
            </a:r>
            <a:endParaRPr lang="nl-NL" b="1" dirty="0"/>
          </a:p>
          <a:p>
            <a:pPr lvl="1"/>
            <a:r>
              <a:rPr lang="nl-NL" dirty="0"/>
              <a:t>A </a:t>
            </a:r>
            <a:r>
              <a:rPr lang="nl-NL" dirty="0" err="1"/>
              <a:t>dependent</a:t>
            </a:r>
            <a:r>
              <a:rPr lang="nl-NL" dirty="0"/>
              <a:t> samples </a:t>
            </a:r>
            <a:r>
              <a:rPr lang="nl-NL" i="1" dirty="0"/>
              <a:t>t</a:t>
            </a:r>
            <a:r>
              <a:rPr lang="nl-NL" dirty="0"/>
              <a:t>-test </a:t>
            </a:r>
            <a:r>
              <a:rPr lang="nl-NL" dirty="0" err="1"/>
              <a:t>compared</a:t>
            </a:r>
            <a:r>
              <a:rPr lang="nl-NL" dirty="0"/>
              <a:t> </a:t>
            </a:r>
            <a:r>
              <a:rPr lang="nl-NL" dirty="0" err="1"/>
              <a:t>the</a:t>
            </a:r>
            <a:r>
              <a:rPr lang="nl-NL" dirty="0"/>
              <a:t> </a:t>
            </a:r>
            <a:r>
              <a:rPr lang="nl-NL" dirty="0" err="1"/>
              <a:t>city</a:t>
            </a:r>
            <a:r>
              <a:rPr lang="nl-NL" dirty="0"/>
              <a:t> </a:t>
            </a:r>
            <a:r>
              <a:rPr lang="nl-NL" dirty="0" err="1"/>
              <a:t>and</a:t>
            </a:r>
            <a:r>
              <a:rPr lang="nl-NL" dirty="0"/>
              <a:t> highway </a:t>
            </a:r>
            <a:r>
              <a:rPr lang="nl-NL" dirty="0" err="1"/>
              <a:t>miles</a:t>
            </a:r>
            <a:r>
              <a:rPr lang="nl-NL" dirty="0"/>
              <a:t> of 38 </a:t>
            </a:r>
            <a:r>
              <a:rPr lang="nl-NL" dirty="0" err="1"/>
              <a:t>popular</a:t>
            </a:r>
            <a:r>
              <a:rPr lang="nl-NL" dirty="0"/>
              <a:t> </a:t>
            </a:r>
            <a:r>
              <a:rPr lang="nl-NL" dirty="0" err="1"/>
              <a:t>cars</a:t>
            </a:r>
            <a:r>
              <a:rPr lang="nl-NL" dirty="0"/>
              <a:t> </a:t>
            </a:r>
            <a:r>
              <a:rPr lang="nl-NL" dirty="0" err="1"/>
              <a:t>manufactured</a:t>
            </a:r>
            <a:r>
              <a:rPr lang="nl-NL" dirty="0"/>
              <a:t> </a:t>
            </a:r>
            <a:r>
              <a:rPr lang="nl-NL" dirty="0" err="1"/>
              <a:t>between</a:t>
            </a:r>
            <a:r>
              <a:rPr lang="nl-NL" dirty="0"/>
              <a:t> 1999 </a:t>
            </a:r>
            <a:r>
              <a:rPr lang="nl-NL" dirty="0" err="1"/>
              <a:t>and</a:t>
            </a:r>
            <a:r>
              <a:rPr lang="nl-NL" dirty="0"/>
              <a:t> 2008. </a:t>
            </a:r>
            <a:endParaRPr lang="nl-NL" dirty="0"/>
          </a:p>
          <a:p>
            <a:pPr lvl="1"/>
            <a:r>
              <a:rPr lang="nl-NL" dirty="0"/>
              <a:t>The </a:t>
            </a:r>
            <a:r>
              <a:rPr lang="nl-NL" dirty="0" err="1"/>
              <a:t>cars</a:t>
            </a:r>
            <a:r>
              <a:rPr lang="nl-NL" dirty="0"/>
              <a:t> </a:t>
            </a:r>
            <a:r>
              <a:rPr lang="nl-NL" dirty="0" err="1"/>
              <a:t>differed</a:t>
            </a:r>
            <a:r>
              <a:rPr lang="nl-NL" dirty="0"/>
              <a:t> in </a:t>
            </a:r>
            <a:r>
              <a:rPr lang="nl-NL" dirty="0" err="1"/>
              <a:t>city</a:t>
            </a:r>
            <a:r>
              <a:rPr lang="nl-NL" dirty="0"/>
              <a:t> </a:t>
            </a:r>
            <a:r>
              <a:rPr lang="nl-NL" dirty="0" err="1"/>
              <a:t>and</a:t>
            </a:r>
            <a:r>
              <a:rPr lang="nl-NL" dirty="0"/>
              <a:t> highway </a:t>
            </a:r>
            <a:r>
              <a:rPr lang="nl-NL" dirty="0" err="1"/>
              <a:t>mileage</a:t>
            </a:r>
            <a:r>
              <a:rPr lang="nl-NL" dirty="0"/>
              <a:t>, </a:t>
            </a:r>
            <a:r>
              <a:rPr lang="nl-NL" i="1" dirty="0"/>
              <a:t>t</a:t>
            </a:r>
            <a:r>
              <a:rPr lang="nl-NL" dirty="0"/>
              <a:t>(233) = -.44.49, </a:t>
            </a:r>
            <a:r>
              <a:rPr lang="nl-NL" i="1" dirty="0"/>
              <a:t>p</a:t>
            </a:r>
            <a:r>
              <a:rPr lang="nl-NL" dirty="0"/>
              <a:t> &lt; .001, </a:t>
            </a:r>
            <a:r>
              <a:rPr lang="nl-NL" dirty="0" err="1"/>
              <a:t>with</a:t>
            </a:r>
            <a:r>
              <a:rPr lang="nl-NL" dirty="0"/>
              <a:t> a </a:t>
            </a:r>
            <a:r>
              <a:rPr lang="nl-NL" dirty="0" err="1"/>
              <a:t>higher</a:t>
            </a:r>
            <a:r>
              <a:rPr lang="nl-NL" dirty="0"/>
              <a:t> </a:t>
            </a:r>
            <a:r>
              <a:rPr lang="nl-NL" dirty="0" err="1"/>
              <a:t>average</a:t>
            </a:r>
            <a:r>
              <a:rPr lang="nl-NL" dirty="0"/>
              <a:t> highway </a:t>
            </a:r>
            <a:r>
              <a:rPr lang="nl-NL" dirty="0" err="1"/>
              <a:t>mileage</a:t>
            </a:r>
            <a:r>
              <a:rPr lang="nl-NL" dirty="0"/>
              <a:t> (</a:t>
            </a:r>
            <a:r>
              <a:rPr lang="nl-NL" i="1" dirty="0"/>
              <a:t>M</a:t>
            </a:r>
            <a:r>
              <a:rPr lang="nl-NL" dirty="0"/>
              <a:t> = 23.44, </a:t>
            </a:r>
            <a:r>
              <a:rPr lang="nl-NL" i="1" dirty="0"/>
              <a:t>SD</a:t>
            </a:r>
            <a:r>
              <a:rPr lang="nl-NL" dirty="0"/>
              <a:t> = 5.95) </a:t>
            </a:r>
            <a:r>
              <a:rPr lang="nl-NL" dirty="0" err="1"/>
              <a:t>than</a:t>
            </a:r>
            <a:r>
              <a:rPr lang="nl-NL" dirty="0"/>
              <a:t> </a:t>
            </a:r>
            <a:r>
              <a:rPr lang="nl-NL" dirty="0" err="1"/>
              <a:t>city</a:t>
            </a:r>
            <a:r>
              <a:rPr lang="nl-NL" dirty="0"/>
              <a:t> </a:t>
            </a:r>
            <a:r>
              <a:rPr lang="nl-NL" dirty="0" err="1"/>
              <a:t>mileage</a:t>
            </a:r>
            <a:r>
              <a:rPr lang="nl-NL" dirty="0"/>
              <a:t> (</a:t>
            </a:r>
            <a:r>
              <a:rPr lang="nl-NL" i="1" dirty="0"/>
              <a:t>M</a:t>
            </a:r>
            <a:r>
              <a:rPr lang="nl-NL" dirty="0"/>
              <a:t> = 16.86, </a:t>
            </a:r>
            <a:r>
              <a:rPr lang="nl-NL" i="1" dirty="0"/>
              <a:t>SD</a:t>
            </a:r>
            <a:r>
              <a:rPr lang="nl-NL" dirty="0"/>
              <a:t> = 4.26). </a:t>
            </a:r>
            <a:endParaRPr lang="nl-NL" dirty="0"/>
          </a:p>
        </p:txBody>
      </p:sp>
      <p:sp>
        <p:nvSpPr>
          <p:cNvPr id="4" name="Rounded Rectangle 3"/>
          <p:cNvSpPr/>
          <p:nvPr/>
        </p:nvSpPr>
        <p:spPr>
          <a:xfrm>
            <a:off x="7479224" y="3569452"/>
            <a:ext cx="3874576" cy="914400"/>
          </a:xfrm>
          <a:prstGeom prst="roundRect">
            <a:avLst/>
          </a:prstGeom>
          <a:solidFill>
            <a:srgbClr val="E7BBAF"/>
          </a:solid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000" b="1" dirty="0" err="1">
                <a:solidFill>
                  <a:schemeClr val="tx1"/>
                </a:solidFill>
              </a:rPr>
              <a:t>SDs</a:t>
            </a:r>
            <a:r>
              <a:rPr lang="nl-NL" sz="2000" b="1" dirty="0">
                <a:solidFill>
                  <a:schemeClr val="tx1"/>
                </a:solidFill>
              </a:rPr>
              <a:t> </a:t>
            </a:r>
            <a:r>
              <a:rPr lang="nl-NL" sz="2000" b="1" dirty="0" err="1">
                <a:solidFill>
                  <a:schemeClr val="tx1"/>
                </a:solidFill>
              </a:rPr>
              <a:t>could</a:t>
            </a:r>
            <a:r>
              <a:rPr lang="nl-NL" sz="2000" b="1" dirty="0">
                <a:solidFill>
                  <a:schemeClr val="tx1"/>
                </a:solidFill>
              </a:rPr>
              <a:t> </a:t>
            </a:r>
            <a:r>
              <a:rPr lang="nl-NL" sz="2000" b="1" dirty="0" err="1">
                <a:solidFill>
                  <a:schemeClr val="tx1"/>
                </a:solidFill>
              </a:rPr>
              <a:t>be</a:t>
            </a:r>
            <a:r>
              <a:rPr lang="nl-NL" sz="2000" b="1" dirty="0">
                <a:solidFill>
                  <a:schemeClr val="tx1"/>
                </a:solidFill>
              </a:rPr>
              <a:t> </a:t>
            </a:r>
            <a:r>
              <a:rPr lang="nl-NL" sz="2000" b="1" dirty="0" err="1">
                <a:solidFill>
                  <a:schemeClr val="tx1"/>
                </a:solidFill>
              </a:rPr>
              <a:t>reported</a:t>
            </a:r>
            <a:r>
              <a:rPr lang="nl-NL" sz="2000" b="1" dirty="0">
                <a:solidFill>
                  <a:schemeClr val="tx1"/>
                </a:solidFill>
              </a:rPr>
              <a:t> </a:t>
            </a:r>
            <a:r>
              <a:rPr lang="nl-NL" sz="2000" b="1" dirty="0" err="1">
                <a:solidFill>
                  <a:schemeClr val="tx1"/>
                </a:solidFill>
              </a:rPr>
              <a:t>instead</a:t>
            </a:r>
            <a:r>
              <a:rPr lang="nl-NL" sz="2000" b="1" dirty="0">
                <a:solidFill>
                  <a:schemeClr val="tx1"/>
                </a:solidFill>
              </a:rPr>
              <a:t> of Cis (</a:t>
            </a:r>
            <a:r>
              <a:rPr lang="nl-NL" sz="2000" b="1" dirty="0" err="1">
                <a:solidFill>
                  <a:schemeClr val="tx1"/>
                </a:solidFill>
              </a:rPr>
              <a:t>see</a:t>
            </a:r>
            <a:r>
              <a:rPr lang="nl-NL" sz="2000" b="1" dirty="0">
                <a:solidFill>
                  <a:schemeClr val="tx1"/>
                </a:solidFill>
              </a:rPr>
              <a:t> below)</a:t>
            </a:r>
            <a:endParaRPr lang="nl-NL" sz="2000" b="1" dirty="0">
              <a:solidFill>
                <a:schemeClr val="tx1"/>
              </a:solidFill>
            </a:endParaRPr>
          </a:p>
        </p:txBody>
      </p:sp>
      <p:sp>
        <p:nvSpPr>
          <p:cNvPr id="5" name="Slide Number Placeholder 4"/>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a:bodyPr>
          <a:lstStyle/>
          <a:p>
            <a:pPr algn="ctr"/>
            <a:r>
              <a:rPr lang="nl-NL" b="1" dirty="0"/>
              <a:t>How </a:t>
            </a:r>
            <a:r>
              <a:rPr lang="nl-NL" b="1" dirty="0" err="1"/>
              <a:t>to</a:t>
            </a:r>
            <a:r>
              <a:rPr lang="nl-NL" b="1" dirty="0"/>
              <a:t> test discrete data?</a:t>
            </a:r>
            <a:endParaRPr lang="nl-NL" sz="3100" b="1" dirty="0"/>
          </a:p>
        </p:txBody>
      </p:sp>
      <p:sp>
        <p:nvSpPr>
          <p:cNvPr id="3" name="Content Placeholder 2"/>
          <p:cNvSpPr>
            <a:spLocks noGrp="1"/>
          </p:cNvSpPr>
          <p:nvPr>
            <p:ph idx="1"/>
          </p:nvPr>
        </p:nvSpPr>
        <p:spPr>
          <a:xfrm>
            <a:off x="615820" y="1337388"/>
            <a:ext cx="10910596" cy="5069631"/>
          </a:xfrm>
        </p:spPr>
        <p:txBody>
          <a:bodyPr>
            <a:normAutofit fontScale="92500" lnSpcReduction="20000"/>
          </a:bodyPr>
          <a:lstStyle/>
          <a:p>
            <a:pPr marL="0" indent="0">
              <a:buNone/>
            </a:pPr>
            <a:r>
              <a:rPr lang="nl-NL" dirty="0" err="1"/>
              <a:t>Several</a:t>
            </a:r>
            <a:r>
              <a:rPr lang="nl-NL" dirty="0"/>
              <a:t> approaches for </a:t>
            </a:r>
            <a:r>
              <a:rPr lang="nl-NL" dirty="0" err="1"/>
              <a:t>constructing</a:t>
            </a:r>
            <a:r>
              <a:rPr lang="nl-NL" dirty="0"/>
              <a:t> </a:t>
            </a:r>
            <a:r>
              <a:rPr lang="nl-NL" dirty="0" err="1"/>
              <a:t>significance</a:t>
            </a:r>
            <a:r>
              <a:rPr lang="nl-NL" dirty="0"/>
              <a:t> tests for discrete data.</a:t>
            </a:r>
            <a:endParaRPr lang="nl-NL" dirty="0"/>
          </a:p>
          <a:p>
            <a:pPr marL="0" indent="0">
              <a:buNone/>
            </a:pPr>
            <a:endParaRPr lang="nl-NL" sz="1600" dirty="0"/>
          </a:p>
          <a:p>
            <a:r>
              <a:rPr lang="nl-NL" b="1" dirty="0" err="1"/>
              <a:t>Binomial</a:t>
            </a:r>
            <a:r>
              <a:rPr lang="nl-NL" b="1" dirty="0"/>
              <a:t> test</a:t>
            </a:r>
            <a:endParaRPr lang="nl-NL" b="1" dirty="0"/>
          </a:p>
          <a:p>
            <a:pPr lvl="1"/>
            <a:r>
              <a:rPr lang="nl-NL" dirty="0" err="1"/>
              <a:t>One</a:t>
            </a:r>
            <a:r>
              <a:rPr lang="nl-NL" dirty="0"/>
              <a:t> sample test of </a:t>
            </a:r>
            <a:r>
              <a:rPr lang="nl-NL" dirty="0" err="1"/>
              <a:t>proportion</a:t>
            </a:r>
            <a:r>
              <a:rPr lang="nl-NL" dirty="0"/>
              <a:t> of </a:t>
            </a:r>
            <a:r>
              <a:rPr lang="nl-NL" dirty="0" err="1"/>
              <a:t>successes</a:t>
            </a:r>
            <a:r>
              <a:rPr lang="nl-NL" dirty="0"/>
              <a:t> </a:t>
            </a:r>
            <a:endParaRPr lang="nl-NL" dirty="0"/>
          </a:p>
          <a:p>
            <a:pPr lvl="2"/>
            <a:endParaRPr lang="nl-NL" sz="1400" dirty="0"/>
          </a:p>
          <a:p>
            <a:r>
              <a:rPr lang="nl-NL" b="1" dirty="0"/>
              <a:t>Pearson </a:t>
            </a:r>
            <a:r>
              <a:rPr lang="el-GR" b="1" dirty="0"/>
              <a:t>χ</a:t>
            </a:r>
            <a:r>
              <a:rPr lang="nl-NL" b="1" baseline="30000" dirty="0"/>
              <a:t>2</a:t>
            </a:r>
            <a:r>
              <a:rPr lang="nl-NL" b="1" dirty="0"/>
              <a:t> </a:t>
            </a:r>
            <a:r>
              <a:rPr lang="nl-NL" b="1" dirty="0" err="1"/>
              <a:t>goodness</a:t>
            </a:r>
            <a:r>
              <a:rPr lang="nl-NL" b="1" dirty="0"/>
              <a:t>-of-fit test</a:t>
            </a:r>
            <a:endParaRPr lang="nl-NL" b="1" dirty="0"/>
          </a:p>
          <a:p>
            <a:pPr lvl="1"/>
            <a:r>
              <a:rPr lang="nl-NL" dirty="0" err="1"/>
              <a:t>One</a:t>
            </a:r>
            <a:r>
              <a:rPr lang="nl-NL" dirty="0"/>
              <a:t> sample test of </a:t>
            </a:r>
            <a:r>
              <a:rPr lang="nl-NL" dirty="0" err="1"/>
              <a:t>whether</a:t>
            </a:r>
            <a:r>
              <a:rPr lang="nl-NL" dirty="0"/>
              <a:t> </a:t>
            </a:r>
            <a:r>
              <a:rPr lang="nl-NL" dirty="0" err="1"/>
              <a:t>observed</a:t>
            </a:r>
            <a:r>
              <a:rPr lang="nl-NL" dirty="0"/>
              <a:t> </a:t>
            </a:r>
            <a:r>
              <a:rPr lang="nl-NL" dirty="0" err="1"/>
              <a:t>frequencies</a:t>
            </a:r>
            <a:r>
              <a:rPr lang="nl-NL" dirty="0"/>
              <a:t> “fit” </a:t>
            </a:r>
            <a:r>
              <a:rPr lang="nl-NL" dirty="0" err="1"/>
              <a:t>expected</a:t>
            </a:r>
            <a:r>
              <a:rPr lang="nl-NL" dirty="0"/>
              <a:t> </a:t>
            </a:r>
            <a:r>
              <a:rPr lang="nl-NL" dirty="0" err="1"/>
              <a:t>frequencies</a:t>
            </a:r>
            <a:endParaRPr lang="nl-NL" dirty="0"/>
          </a:p>
          <a:p>
            <a:pPr lvl="1"/>
            <a:endParaRPr lang="nl-NL" sz="1400" dirty="0"/>
          </a:p>
          <a:p>
            <a:r>
              <a:rPr lang="nl-NL" b="1" dirty="0"/>
              <a:t>Pearson </a:t>
            </a:r>
            <a:r>
              <a:rPr lang="el-GR" b="1" dirty="0"/>
              <a:t>χ</a:t>
            </a:r>
            <a:r>
              <a:rPr lang="nl-NL" b="1" baseline="30000" dirty="0"/>
              <a:t>2</a:t>
            </a:r>
            <a:r>
              <a:rPr lang="nl-NL" b="1" dirty="0"/>
              <a:t> test of </a:t>
            </a:r>
            <a:r>
              <a:rPr lang="nl-NL" b="1" dirty="0" err="1"/>
              <a:t>independence</a:t>
            </a:r>
            <a:endParaRPr lang="nl-NL" b="1" dirty="0"/>
          </a:p>
          <a:p>
            <a:pPr lvl="1"/>
            <a:r>
              <a:rPr lang="nl-NL" dirty="0"/>
              <a:t>Two sample test of </a:t>
            </a:r>
            <a:r>
              <a:rPr lang="nl-NL" dirty="0" err="1"/>
              <a:t>association</a:t>
            </a:r>
            <a:r>
              <a:rPr lang="nl-NL" dirty="0"/>
              <a:t> </a:t>
            </a:r>
            <a:r>
              <a:rPr lang="nl-NL" dirty="0" err="1"/>
              <a:t>between</a:t>
            </a:r>
            <a:r>
              <a:rPr lang="nl-NL" dirty="0"/>
              <a:t> two </a:t>
            </a:r>
            <a:r>
              <a:rPr lang="nl-NL" dirty="0" err="1"/>
              <a:t>categorical</a:t>
            </a:r>
            <a:r>
              <a:rPr lang="nl-NL" dirty="0"/>
              <a:t> </a:t>
            </a:r>
            <a:r>
              <a:rPr lang="nl-NL" dirty="0" err="1"/>
              <a:t>measures</a:t>
            </a:r>
            <a:endParaRPr lang="nl-NL" dirty="0"/>
          </a:p>
          <a:p>
            <a:endParaRPr lang="nl-NL" sz="1300" dirty="0"/>
          </a:p>
          <a:p>
            <a:r>
              <a:rPr lang="nl-NL" b="1" dirty="0" err="1"/>
              <a:t>Sign</a:t>
            </a:r>
            <a:r>
              <a:rPr lang="nl-NL" b="1" dirty="0"/>
              <a:t> test</a:t>
            </a:r>
            <a:endParaRPr lang="nl-NL" b="1" dirty="0"/>
          </a:p>
          <a:p>
            <a:pPr lvl="1"/>
            <a:r>
              <a:rPr lang="nl-NL" dirty="0"/>
              <a:t>Test for </a:t>
            </a:r>
            <a:r>
              <a:rPr lang="nl-NL" dirty="0" err="1"/>
              <a:t>paired</a:t>
            </a:r>
            <a:r>
              <a:rPr lang="nl-NL" dirty="0"/>
              <a:t> data </a:t>
            </a:r>
            <a:r>
              <a:rPr lang="nl-NL" dirty="0" err="1"/>
              <a:t>that</a:t>
            </a:r>
            <a:r>
              <a:rPr lang="nl-NL" dirty="0"/>
              <a:t> tests </a:t>
            </a:r>
            <a:r>
              <a:rPr lang="nl-NL" dirty="0" err="1"/>
              <a:t>frequency</a:t>
            </a:r>
            <a:r>
              <a:rPr lang="nl-NL" dirty="0"/>
              <a:t> of </a:t>
            </a:r>
            <a:r>
              <a:rPr lang="nl-NL" dirty="0" err="1"/>
              <a:t>positive</a:t>
            </a:r>
            <a:r>
              <a:rPr lang="nl-NL" dirty="0"/>
              <a:t> &amp; </a:t>
            </a:r>
            <a:r>
              <a:rPr lang="nl-NL" dirty="0" err="1"/>
              <a:t>negative</a:t>
            </a:r>
            <a:r>
              <a:rPr lang="nl-NL" dirty="0"/>
              <a:t> </a:t>
            </a:r>
            <a:r>
              <a:rPr lang="nl-NL" dirty="0" err="1"/>
              <a:t>difference</a:t>
            </a:r>
            <a:r>
              <a:rPr lang="nl-NL" dirty="0"/>
              <a:t> scores</a:t>
            </a:r>
            <a:endParaRPr lang="nl-NL" dirty="0"/>
          </a:p>
          <a:p>
            <a:pPr lvl="2"/>
            <a:endParaRPr lang="nl-NL" sz="1400" dirty="0"/>
          </a:p>
          <a:p>
            <a:r>
              <a:rPr lang="nl-NL" b="1" dirty="0" err="1"/>
              <a:t>McNemar</a:t>
            </a:r>
            <a:r>
              <a:rPr lang="nl-NL" b="1" dirty="0"/>
              <a:t> test of </a:t>
            </a:r>
            <a:r>
              <a:rPr lang="nl-NL" b="1" dirty="0" err="1"/>
              <a:t>correlated</a:t>
            </a:r>
            <a:r>
              <a:rPr lang="nl-NL" b="1" dirty="0"/>
              <a:t> </a:t>
            </a:r>
            <a:r>
              <a:rPr lang="nl-NL" b="1" dirty="0" err="1"/>
              <a:t>proportions</a:t>
            </a:r>
            <a:endParaRPr lang="nl-NL" b="1" dirty="0"/>
          </a:p>
          <a:p>
            <a:pPr lvl="1"/>
            <a:r>
              <a:rPr lang="nl-NL" dirty="0"/>
              <a:t>Test of </a:t>
            </a:r>
            <a:r>
              <a:rPr lang="nl-NL" dirty="0" err="1"/>
              <a:t>paired</a:t>
            </a:r>
            <a:r>
              <a:rPr lang="nl-NL" dirty="0"/>
              <a:t> </a:t>
            </a:r>
            <a:r>
              <a:rPr lang="nl-NL" dirty="0" err="1"/>
              <a:t>dichotomous</a:t>
            </a:r>
            <a:r>
              <a:rPr lang="nl-NL" dirty="0"/>
              <a:t> data </a:t>
            </a:r>
            <a:r>
              <a:rPr lang="nl-NL" dirty="0" err="1"/>
              <a:t>to</a:t>
            </a:r>
            <a:r>
              <a:rPr lang="nl-NL" dirty="0"/>
              <a:t> </a:t>
            </a:r>
            <a:r>
              <a:rPr lang="nl-NL" dirty="0" err="1"/>
              <a:t>identify</a:t>
            </a:r>
            <a:r>
              <a:rPr lang="nl-NL" dirty="0"/>
              <a:t> </a:t>
            </a:r>
            <a:r>
              <a:rPr lang="nl-NL" dirty="0" err="1"/>
              <a:t>likelihood</a:t>
            </a:r>
            <a:r>
              <a:rPr lang="nl-NL" dirty="0"/>
              <a:t> of changes in </a:t>
            </a:r>
            <a:r>
              <a:rPr lang="nl-NL" dirty="0" err="1"/>
              <a:t>categories</a:t>
            </a:r>
            <a:endParaRPr lang="nl-NL" dirty="0"/>
          </a:p>
          <a:p>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fontScale="90000"/>
          </a:bodyPr>
          <a:lstStyle/>
          <a:p>
            <a:pPr algn="ctr"/>
            <a:r>
              <a:rPr lang="nl-NL" b="1" dirty="0"/>
              <a:t>How </a:t>
            </a:r>
            <a:r>
              <a:rPr lang="nl-NL" b="1" dirty="0" err="1"/>
              <a:t>to</a:t>
            </a:r>
            <a:r>
              <a:rPr lang="nl-NL" b="1" dirty="0"/>
              <a:t> </a:t>
            </a:r>
            <a:r>
              <a:rPr lang="nl-NL" b="1" dirty="0" err="1"/>
              <a:t>perform</a:t>
            </a:r>
            <a:r>
              <a:rPr lang="nl-NL" b="1" dirty="0"/>
              <a:t> a Pearson </a:t>
            </a:r>
            <a:r>
              <a:rPr lang="nl-NL" b="1" dirty="0" err="1"/>
              <a:t>chi</a:t>
            </a:r>
            <a:r>
              <a:rPr lang="nl-NL" b="1" dirty="0"/>
              <a:t>-square test?</a:t>
            </a:r>
            <a:br>
              <a:rPr lang="nl-NL" b="1" dirty="0"/>
            </a:br>
            <a:r>
              <a:rPr lang="nl-NL" sz="3100" b="1" dirty="0"/>
              <a:t>Using </a:t>
            </a:r>
            <a:r>
              <a:rPr lang="nl-NL" sz="3100" b="1" dirty="0" err="1"/>
              <a:t>frequencies</a:t>
            </a:r>
            <a:r>
              <a:rPr lang="nl-NL" sz="3100" b="1" dirty="0"/>
              <a:t> (summary data)</a:t>
            </a:r>
            <a:endParaRPr lang="nl-NL" sz="3100" b="1" dirty="0"/>
          </a:p>
        </p:txBody>
      </p:sp>
      <p:sp>
        <p:nvSpPr>
          <p:cNvPr id="3" name="Content Placeholder 2"/>
          <p:cNvSpPr>
            <a:spLocks noGrp="1"/>
          </p:cNvSpPr>
          <p:nvPr>
            <p:ph idx="1"/>
          </p:nvPr>
        </p:nvSpPr>
        <p:spPr>
          <a:xfrm>
            <a:off x="523415" y="1449354"/>
            <a:ext cx="11003001" cy="4957665"/>
          </a:xfrm>
        </p:spPr>
        <p:txBody>
          <a:bodyPr>
            <a:normAutofit/>
          </a:bodyPr>
          <a:lstStyle/>
          <a:p>
            <a:r>
              <a:rPr lang="nl-NL" b="1" dirty="0" err="1"/>
              <a:t>Create</a:t>
            </a:r>
            <a:r>
              <a:rPr lang="nl-NL" b="1" dirty="0"/>
              <a:t> (</a:t>
            </a:r>
            <a:r>
              <a:rPr lang="nl-NL" b="1" dirty="0" err="1"/>
              <a:t>observed</a:t>
            </a:r>
            <a:r>
              <a:rPr lang="nl-NL" b="1" dirty="0"/>
              <a:t>) matrix</a:t>
            </a:r>
            <a:endParaRPr lang="nl-NL" b="1" dirty="0"/>
          </a:p>
          <a:p>
            <a:pPr marL="0" indent="0">
              <a:buNone/>
            </a:pPr>
            <a:endParaRPr lang="nl-NL" dirty="0"/>
          </a:p>
          <a:p>
            <a:r>
              <a:rPr lang="nl-NL" b="1" dirty="0" err="1"/>
              <a:t>Perform</a:t>
            </a:r>
            <a:r>
              <a:rPr lang="nl-NL" b="1" dirty="0"/>
              <a:t> </a:t>
            </a:r>
            <a:r>
              <a:rPr lang="nl-NL" b="1" dirty="0" err="1"/>
              <a:t>chi</a:t>
            </a:r>
            <a:r>
              <a:rPr lang="nl-NL" b="1" dirty="0"/>
              <a:t>-square test</a:t>
            </a:r>
            <a:endParaRPr lang="nl-NL" b="1" dirty="0"/>
          </a:p>
          <a:p>
            <a:pPr marL="0" indent="0">
              <a:buNone/>
            </a:pPr>
            <a:r>
              <a:rPr lang="en-US" dirty="0">
                <a:solidFill>
                  <a:srgbClr val="FF0000"/>
                </a:solidFill>
              </a:rPr>
              <a:t>	</a:t>
            </a:r>
            <a:r>
              <a:rPr lang="en-US" sz="2400" dirty="0">
                <a:solidFill>
                  <a:srgbClr val="FF0000"/>
                </a:solidFill>
              </a:rPr>
              <a:t>chisq.test(observed)</a:t>
            </a:r>
            <a:endParaRPr lang="nl-NL" sz="2400" dirty="0"/>
          </a:p>
          <a:p>
            <a:pPr marL="0" indent="0" latinLnBrk="1">
              <a:buNone/>
            </a:pPr>
            <a:r>
              <a:rPr lang="en-US" sz="2400" dirty="0"/>
              <a:t>	Pearson's Chi-squared test </a:t>
            </a:r>
            <a:endParaRPr lang="nl-NL" sz="2400" dirty="0"/>
          </a:p>
          <a:p>
            <a:pPr marL="0" indent="0" latinLnBrk="1">
              <a:buNone/>
            </a:pPr>
            <a:r>
              <a:rPr lang="en-US" sz="2400" dirty="0"/>
              <a:t>	data:  observed</a:t>
            </a:r>
            <a:endParaRPr lang="nl-NL" sz="2400" dirty="0"/>
          </a:p>
          <a:p>
            <a:pPr marL="0" indent="0" latinLnBrk="1">
              <a:buNone/>
            </a:pPr>
            <a:r>
              <a:rPr lang="en-US" sz="2400" dirty="0"/>
              <a:t>	X-squared = 1807.1, </a:t>
            </a:r>
            <a:r>
              <a:rPr lang="en-US" sz="2400" dirty="0" err="1"/>
              <a:t>df</a:t>
            </a:r>
            <a:r>
              <a:rPr lang="en-US" sz="2400" dirty="0"/>
              <a:t> = 3, p-value &lt; 2.2e-16</a:t>
            </a:r>
            <a:endParaRPr lang="en-US" sz="2400" dirty="0"/>
          </a:p>
          <a:p>
            <a:pPr latinLnBrk="1"/>
            <a:r>
              <a:rPr lang="en-US" b="1" dirty="0"/>
              <a:t>Examine </a:t>
            </a:r>
            <a:r>
              <a:rPr lang="en-US" b="1" dirty="0" err="1"/>
              <a:t>cellwise</a:t>
            </a:r>
            <a:r>
              <a:rPr lang="en-US" b="1" dirty="0"/>
              <a:t> residuals</a:t>
            </a:r>
            <a:endParaRPr lang="en-US" b="1" dirty="0"/>
          </a:p>
          <a:p>
            <a:pPr marL="0" indent="0" latinLnBrk="1">
              <a:buNone/>
            </a:pPr>
            <a:r>
              <a:rPr lang="en-US" dirty="0">
                <a:solidFill>
                  <a:srgbClr val="FF0000"/>
                </a:solidFill>
              </a:rPr>
              <a:t>	chisq.test(observed)$</a:t>
            </a:r>
            <a:r>
              <a:rPr lang="en-US" dirty="0" err="1">
                <a:solidFill>
                  <a:srgbClr val="FF0000"/>
                </a:solidFill>
              </a:rPr>
              <a:t>stdres</a:t>
            </a:r>
            <a:endParaRPr lang="en-US" dirty="0">
              <a:solidFill>
                <a:srgbClr val="FF0000"/>
              </a:solidFill>
            </a:endParaRPr>
          </a:p>
          <a:p>
            <a:pPr latinLnBrk="1"/>
            <a:r>
              <a:rPr lang="en-US" b="1" dirty="0"/>
              <a:t>Plot frequencies or proportions</a:t>
            </a:r>
            <a:endParaRPr lang="nl-NL" b="1" dirty="0"/>
          </a:p>
          <a:p>
            <a:endParaRPr lang="nl-NL" dirty="0"/>
          </a:p>
          <a:p>
            <a:endParaRPr lang="nl-NL" dirty="0"/>
          </a:p>
        </p:txBody>
      </p:sp>
      <p:sp>
        <p:nvSpPr>
          <p:cNvPr id="6" name="Rectangle 5"/>
          <p:cNvSpPr>
            <a:spLocks noChangeArrowheads="1"/>
          </p:cNvSpPr>
          <p:nvPr/>
        </p:nvSpPr>
        <p:spPr bwMode="auto">
          <a:xfrm>
            <a:off x="4775423" y="1614347"/>
            <a:ext cx="4857652"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indent="449580" eaLnBrk="0" fontAlgn="base" hangingPunct="0">
              <a:spcAft>
                <a:spcPts val="0"/>
              </a:spcAft>
            </a:pPr>
            <a:r>
              <a:rPr lang="en-US" sz="2000" kern="1200" dirty="0">
                <a:solidFill>
                  <a:srgbClr val="000000"/>
                </a:solidFill>
                <a:effectLst/>
                <a:latin typeface="Lucida Console" panose="020B0609040504020204" pitchFamily="49" charset="0"/>
                <a:ea typeface="Times New Roman" panose="02020503050405090304" pitchFamily="18" charset="0"/>
                <a:cs typeface="Times New Roman" panose="02020503050405090304" pitchFamily="18" charset="0"/>
              </a:rPr>
              <a:t>     1st   2:1  2:2 3rd/pass </a:t>
            </a:r>
            <a:endParaRPr lang="nl-NL" sz="2000" dirty="0">
              <a:effectLst/>
              <a:latin typeface="Times New Roman" panose="02020503050405090304" pitchFamily="18" charset="0"/>
              <a:ea typeface="Times New Roman" panose="02020503050405090304" pitchFamily="18" charset="0"/>
            </a:endParaRPr>
          </a:p>
          <a:p>
            <a:pPr eaLnBrk="0" fontAlgn="base" hangingPunct="0">
              <a:spcAft>
                <a:spcPts val="0"/>
              </a:spcAft>
            </a:pPr>
            <a:r>
              <a:rPr lang="en-US" sz="2000" kern="1200" dirty="0">
                <a:solidFill>
                  <a:srgbClr val="000000"/>
                </a:solidFill>
                <a:effectLst/>
                <a:latin typeface="Lucida Console" panose="020B0609040504020204" pitchFamily="49" charset="0"/>
                <a:ea typeface="Times New Roman" panose="02020503050405090304" pitchFamily="18" charset="0"/>
                <a:cs typeface="Times New Roman" panose="02020503050405090304" pitchFamily="18" charset="0"/>
              </a:rPr>
              <a:t>male   17975 55710 38175 10400 </a:t>
            </a:r>
            <a:endParaRPr lang="nl-NL" sz="2000" dirty="0">
              <a:effectLst/>
              <a:latin typeface="Times New Roman" panose="02020503050405090304" pitchFamily="18" charset="0"/>
              <a:ea typeface="Times New Roman" panose="02020503050405090304" pitchFamily="18" charset="0"/>
            </a:endParaRPr>
          </a:p>
          <a:p>
            <a:pPr eaLnBrk="0" fontAlgn="base" hangingPunct="0">
              <a:spcAft>
                <a:spcPts val="0"/>
              </a:spcAft>
            </a:pPr>
            <a:r>
              <a:rPr lang="en-US" sz="2000" kern="1200" dirty="0">
                <a:solidFill>
                  <a:srgbClr val="000000"/>
                </a:solidFill>
                <a:effectLst/>
                <a:latin typeface="Lucida Console" panose="020B0609040504020204" pitchFamily="49" charset="0"/>
                <a:ea typeface="Times New Roman" panose="02020503050405090304" pitchFamily="18" charset="0"/>
                <a:cs typeface="Times New Roman" panose="02020503050405090304" pitchFamily="18" charset="0"/>
              </a:rPr>
              <a:t>female 21370 81590 44485 8465</a:t>
            </a:r>
            <a:endParaRPr lang="nl-NL" sz="2000" dirty="0">
              <a:effectLst/>
              <a:latin typeface="Times New Roman" panose="02020503050405090304" pitchFamily="18" charset="0"/>
              <a:ea typeface="Times New Roman" panose="02020503050405090304" pitchFamily="18"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70184" y="2703651"/>
            <a:ext cx="3605070" cy="3941076"/>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0184" y="2627873"/>
            <a:ext cx="3674387" cy="4016854"/>
          </a:xfrm>
          <a:prstGeom prst="rect">
            <a:avLst/>
          </a:prstGeom>
        </p:spPr>
      </p:pic>
      <p:sp>
        <p:nvSpPr>
          <p:cNvPr id="7" name="Slide Number Placeholder 6"/>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805"/>
            <a:ext cx="10515600" cy="1024157"/>
          </a:xfrm>
        </p:spPr>
        <p:txBody>
          <a:bodyPr>
            <a:normAutofit fontScale="90000"/>
          </a:bodyPr>
          <a:lstStyle/>
          <a:p>
            <a:pPr algn="ctr"/>
            <a:r>
              <a:rPr lang="nl-NL" b="1" dirty="0"/>
              <a:t>How </a:t>
            </a:r>
            <a:r>
              <a:rPr lang="nl-NL" b="1" dirty="0" err="1"/>
              <a:t>to</a:t>
            </a:r>
            <a:r>
              <a:rPr lang="nl-NL" b="1" dirty="0"/>
              <a:t> </a:t>
            </a:r>
            <a:r>
              <a:rPr lang="nl-NL" b="1" dirty="0" err="1"/>
              <a:t>perform</a:t>
            </a:r>
            <a:r>
              <a:rPr lang="nl-NL" b="1" dirty="0"/>
              <a:t> a Pearson </a:t>
            </a:r>
            <a:r>
              <a:rPr lang="nl-NL" b="1" dirty="0" err="1"/>
              <a:t>chi</a:t>
            </a:r>
            <a:r>
              <a:rPr lang="nl-NL" b="1" dirty="0"/>
              <a:t>-square test?</a:t>
            </a:r>
            <a:br>
              <a:rPr lang="nl-NL" b="1" dirty="0"/>
            </a:br>
            <a:r>
              <a:rPr lang="nl-NL" sz="3100" b="1" dirty="0"/>
              <a:t>Using </a:t>
            </a:r>
            <a:r>
              <a:rPr lang="nl-NL" sz="3100" b="1" dirty="0" err="1"/>
              <a:t>raw</a:t>
            </a:r>
            <a:r>
              <a:rPr lang="nl-NL" sz="3100" b="1" dirty="0"/>
              <a:t> data</a:t>
            </a:r>
            <a:endParaRPr lang="nl-NL" sz="3100" b="1" dirty="0"/>
          </a:p>
        </p:txBody>
      </p:sp>
      <p:sp>
        <p:nvSpPr>
          <p:cNvPr id="3" name="Content Placeholder 2"/>
          <p:cNvSpPr>
            <a:spLocks noGrp="1"/>
          </p:cNvSpPr>
          <p:nvPr>
            <p:ph idx="1"/>
          </p:nvPr>
        </p:nvSpPr>
        <p:spPr>
          <a:xfrm>
            <a:off x="5754624" y="1268962"/>
            <a:ext cx="5794248" cy="5452513"/>
          </a:xfrm>
        </p:spPr>
        <p:txBody>
          <a:bodyPr>
            <a:noAutofit/>
          </a:bodyPr>
          <a:lstStyle/>
          <a:p>
            <a:pPr marL="0" indent="0">
              <a:lnSpc>
                <a:spcPct val="120000"/>
              </a:lnSpc>
              <a:spcBef>
                <a:spcPts val="0"/>
              </a:spcBef>
              <a:buNone/>
            </a:pPr>
            <a:r>
              <a:rPr lang="nl-NL" sz="800" dirty="0">
                <a:latin typeface="Lucida Console" panose="020B0609040504020204" pitchFamily="49" charset="0"/>
              </a:rPr>
              <a:t>|-------------------------|</a:t>
            </a:r>
            <a:endParaRPr lang="nl-NL" sz="800" dirty="0">
              <a:latin typeface="Lucida Console" panose="020B0609040504020204" pitchFamily="49" charset="0"/>
            </a:endParaRPr>
          </a:p>
          <a:p>
            <a:pPr marL="0" indent="0">
              <a:lnSpc>
                <a:spcPct val="120000"/>
              </a:lnSpc>
              <a:spcBef>
                <a:spcPts val="0"/>
              </a:spcBef>
              <a:buNone/>
            </a:pPr>
            <a:r>
              <a:rPr lang="nl-NL" sz="800" dirty="0">
                <a:latin typeface="Lucida Console" panose="020B0609040504020204" pitchFamily="49" charset="0"/>
              </a:rPr>
              <a:t>|                   </a:t>
            </a:r>
            <a:r>
              <a:rPr lang="nl-NL" sz="800" dirty="0" err="1">
                <a:latin typeface="Lucida Console" panose="020B0609040504020204" pitchFamily="49" charset="0"/>
              </a:rPr>
              <a:t>Count</a:t>
            </a:r>
            <a:r>
              <a:rPr lang="nl-NL" sz="800" dirty="0">
                <a:latin typeface="Lucida Console" panose="020B0609040504020204" pitchFamily="49" charset="0"/>
              </a:rPr>
              <a:t> |</a:t>
            </a:r>
            <a:endParaRPr lang="nl-NL" sz="800" dirty="0">
              <a:latin typeface="Lucida Console" panose="020B0609040504020204" pitchFamily="49" charset="0"/>
            </a:endParaRPr>
          </a:p>
          <a:p>
            <a:pPr marL="0" indent="0">
              <a:lnSpc>
                <a:spcPct val="120000"/>
              </a:lnSpc>
              <a:spcBef>
                <a:spcPts val="0"/>
              </a:spcBef>
              <a:buNone/>
            </a:pPr>
            <a:r>
              <a:rPr lang="nl-NL" sz="800" dirty="0">
                <a:latin typeface="Lucida Console" panose="020B0609040504020204" pitchFamily="49" charset="0"/>
              </a:rPr>
              <a:t>|         </a:t>
            </a:r>
            <a:r>
              <a:rPr lang="nl-NL" sz="800" dirty="0" err="1">
                <a:latin typeface="Lucida Console" panose="020B0609040504020204" pitchFamily="49" charset="0"/>
              </a:rPr>
              <a:t>Expected</a:t>
            </a:r>
            <a:r>
              <a:rPr lang="nl-NL" sz="800" dirty="0">
                <a:latin typeface="Lucida Console" panose="020B0609040504020204" pitchFamily="49" charset="0"/>
              </a:rPr>
              <a:t> </a:t>
            </a:r>
            <a:r>
              <a:rPr lang="nl-NL" sz="800" dirty="0" err="1">
                <a:latin typeface="Lucida Console" panose="020B0609040504020204" pitchFamily="49" charset="0"/>
              </a:rPr>
              <a:t>Values</a:t>
            </a:r>
            <a:r>
              <a:rPr lang="nl-NL" sz="800" dirty="0">
                <a:latin typeface="Lucida Console" panose="020B0609040504020204" pitchFamily="49" charset="0"/>
              </a:rPr>
              <a:t> |</a:t>
            </a:r>
            <a:endParaRPr lang="nl-NL" sz="800" dirty="0">
              <a:latin typeface="Lucida Console" panose="020B0609040504020204" pitchFamily="49" charset="0"/>
            </a:endParaRPr>
          </a:p>
          <a:p>
            <a:pPr marL="0" indent="0">
              <a:lnSpc>
                <a:spcPct val="120000"/>
              </a:lnSpc>
              <a:spcBef>
                <a:spcPts val="0"/>
              </a:spcBef>
              <a:buNone/>
            </a:pPr>
            <a:r>
              <a:rPr lang="nl-NL" sz="800" dirty="0">
                <a:latin typeface="Lucida Console" panose="020B0609040504020204" pitchFamily="49" charset="0"/>
              </a:rPr>
              <a:t>|           </a:t>
            </a:r>
            <a:r>
              <a:rPr lang="nl-NL" sz="800" dirty="0" err="1">
                <a:latin typeface="Lucida Console" panose="020B0609040504020204" pitchFamily="49" charset="0"/>
              </a:rPr>
              <a:t>Adj</a:t>
            </a:r>
            <a:r>
              <a:rPr lang="nl-NL" sz="800" dirty="0">
                <a:latin typeface="Lucida Console" panose="020B0609040504020204" pitchFamily="49" charset="0"/>
              </a:rPr>
              <a:t> </a:t>
            </a:r>
            <a:r>
              <a:rPr lang="nl-NL" sz="800" dirty="0" err="1">
                <a:latin typeface="Lucida Console" panose="020B0609040504020204" pitchFamily="49" charset="0"/>
              </a:rPr>
              <a:t>Std</a:t>
            </a:r>
            <a:r>
              <a:rPr lang="nl-NL" sz="800" dirty="0">
                <a:latin typeface="Lucida Console" panose="020B0609040504020204" pitchFamily="49" charset="0"/>
              </a:rPr>
              <a:t> </a:t>
            </a:r>
            <a:r>
              <a:rPr lang="nl-NL" sz="800" dirty="0" err="1">
                <a:latin typeface="Lucida Console" panose="020B0609040504020204" pitchFamily="49" charset="0"/>
              </a:rPr>
              <a:t>Resid</a:t>
            </a:r>
            <a:r>
              <a:rPr lang="nl-NL" sz="800" dirty="0">
                <a:latin typeface="Lucida Console" panose="020B0609040504020204" pitchFamily="49" charset="0"/>
              </a:rPr>
              <a:t> |</a:t>
            </a:r>
            <a:endParaRPr lang="nl-NL" sz="800" dirty="0">
              <a:latin typeface="Lucida Console" panose="020B0609040504020204" pitchFamily="49" charset="0"/>
            </a:endParaRPr>
          </a:p>
          <a:p>
            <a:pPr marL="0" indent="0">
              <a:lnSpc>
                <a:spcPct val="120000"/>
              </a:lnSpc>
              <a:spcBef>
                <a:spcPts val="0"/>
              </a:spcBef>
              <a:buNone/>
            </a:pPr>
            <a:r>
              <a:rPr lang="nl-NL" sz="800" dirty="0">
                <a:latin typeface="Lucida Console" panose="020B0609040504020204" pitchFamily="49" charset="0"/>
              </a:rPr>
              <a:t>|-------------------------|</a:t>
            </a:r>
            <a:endParaRPr lang="nl-NL" sz="8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mpg_2$fl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mpg_2$drv      |        p  |        r  | </a:t>
            </a:r>
            <a:r>
              <a:rPr lang="nl-NL" sz="1200" dirty="0" err="1">
                <a:latin typeface="Lucida Console" panose="020B0609040504020204" pitchFamily="49" charset="0"/>
              </a:rPr>
              <a:t>Row</a:t>
            </a:r>
            <a:r>
              <a:rPr lang="nl-NL" sz="1200" dirty="0">
                <a:latin typeface="Lucida Console" panose="020B0609040504020204" pitchFamily="49" charset="0"/>
              </a:rPr>
              <a:t> Total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4 |       20  |       75  |       95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22.455  |   72.545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-0.786  |    0.786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f |       25  |       76  |      101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23.873  |   77.127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0.359  |   -0.359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r |        7  |       17  |       24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5.673  |   18.327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    0.676  |   -0.676  |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  Column Total |       52  |      168  |      220  |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err="1">
                <a:latin typeface="Lucida Console" panose="020B0609040504020204" pitchFamily="49" charset="0"/>
              </a:rPr>
              <a:t>Statistics</a:t>
            </a:r>
            <a:r>
              <a:rPr lang="nl-NL" sz="1200" dirty="0">
                <a:latin typeface="Lucida Console" panose="020B0609040504020204" pitchFamily="49" charset="0"/>
              </a:rPr>
              <a:t> </a:t>
            </a:r>
            <a:r>
              <a:rPr lang="nl-NL" sz="1200" dirty="0" err="1">
                <a:latin typeface="Lucida Console" panose="020B0609040504020204" pitchFamily="49" charset="0"/>
              </a:rPr>
              <a:t>for</a:t>
            </a:r>
            <a:r>
              <a:rPr lang="nl-NL" sz="1200" dirty="0">
                <a:latin typeface="Lucida Console" panose="020B0609040504020204" pitchFamily="49" charset="0"/>
              </a:rPr>
              <a:t> </a:t>
            </a:r>
            <a:r>
              <a:rPr lang="nl-NL" sz="1200" dirty="0" err="1">
                <a:latin typeface="Lucida Console" panose="020B0609040504020204" pitchFamily="49" charset="0"/>
              </a:rPr>
              <a:t>All</a:t>
            </a:r>
            <a:r>
              <a:rPr lang="nl-NL" sz="1200" dirty="0">
                <a:latin typeface="Lucida Console" panose="020B0609040504020204" pitchFamily="49" charset="0"/>
              </a:rPr>
              <a:t> </a:t>
            </a:r>
            <a:r>
              <a:rPr lang="nl-NL" sz="1200" dirty="0" err="1">
                <a:latin typeface="Lucida Console" panose="020B0609040504020204" pitchFamily="49" charset="0"/>
              </a:rPr>
              <a:t>Table</a:t>
            </a:r>
            <a:r>
              <a:rPr lang="nl-NL" sz="1200" dirty="0">
                <a:latin typeface="Lucida Console" panose="020B0609040504020204" pitchFamily="49" charset="0"/>
              </a:rPr>
              <a:t> Factors</a:t>
            </a:r>
            <a:endParaRPr lang="nl-NL" sz="1200" dirty="0">
              <a:latin typeface="Lucida Console" panose="020B0609040504020204" pitchFamily="49" charset="0"/>
            </a:endParaRPr>
          </a:p>
          <a:p>
            <a:pPr marL="0" indent="0">
              <a:lnSpc>
                <a:spcPct val="120000"/>
              </a:lnSpc>
              <a:spcBef>
                <a:spcPts val="0"/>
              </a:spcBef>
              <a:buNone/>
            </a:pPr>
            <a:r>
              <a:rPr lang="nl-NL" sz="1200" dirty="0" err="1">
                <a:latin typeface="Lucida Console" panose="020B0609040504020204" pitchFamily="49" charset="0"/>
              </a:rPr>
              <a:t>Pearson's</a:t>
            </a:r>
            <a:r>
              <a:rPr lang="nl-NL" sz="1200" dirty="0">
                <a:latin typeface="Lucida Console" panose="020B0609040504020204" pitchFamily="49" charset="0"/>
              </a:rPr>
              <a:t> Chi-</a:t>
            </a:r>
            <a:r>
              <a:rPr lang="nl-NL" sz="1200" dirty="0" err="1">
                <a:latin typeface="Lucida Console" panose="020B0609040504020204" pitchFamily="49" charset="0"/>
              </a:rPr>
              <a:t>squared</a:t>
            </a:r>
            <a:r>
              <a:rPr lang="nl-NL" sz="1200" dirty="0">
                <a:latin typeface="Lucida Console" panose="020B0609040504020204" pitchFamily="49" charset="0"/>
              </a:rPr>
              <a:t> test </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a:t>
            </a:r>
            <a:endParaRPr lang="nl-NL" sz="1200" dirty="0">
              <a:latin typeface="Lucida Console" panose="020B0609040504020204" pitchFamily="49" charset="0"/>
            </a:endParaRPr>
          </a:p>
          <a:p>
            <a:pPr marL="0" indent="0">
              <a:lnSpc>
                <a:spcPct val="120000"/>
              </a:lnSpc>
              <a:spcBef>
                <a:spcPts val="0"/>
              </a:spcBef>
              <a:buNone/>
            </a:pPr>
            <a:r>
              <a:rPr lang="nl-NL" sz="1200" dirty="0">
                <a:latin typeface="Lucida Console" panose="020B0609040504020204" pitchFamily="49" charset="0"/>
              </a:rPr>
              <a:t>Chi^2 =  0.8277348     </a:t>
            </a:r>
            <a:r>
              <a:rPr lang="nl-NL" sz="1200" dirty="0" err="1">
                <a:latin typeface="Lucida Console" panose="020B0609040504020204" pitchFamily="49" charset="0"/>
              </a:rPr>
              <a:t>d.f</a:t>
            </a:r>
            <a:r>
              <a:rPr lang="nl-NL" sz="1200" dirty="0">
                <a:latin typeface="Lucida Console" panose="020B0609040504020204" pitchFamily="49" charset="0"/>
              </a:rPr>
              <a:t>. =  2     p =  0.6610886 </a:t>
            </a:r>
            <a:endParaRPr lang="nl-NL" sz="1200" dirty="0">
              <a:latin typeface="Lucida Console" panose="020B0609040504020204" pitchFamily="49" charset="0"/>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
        <p:nvSpPr>
          <p:cNvPr id="7" name="TextBox 6"/>
          <p:cNvSpPr txBox="1"/>
          <p:nvPr/>
        </p:nvSpPr>
        <p:spPr>
          <a:xfrm>
            <a:off x="268224" y="1560576"/>
            <a:ext cx="6559296" cy="3970318"/>
          </a:xfrm>
          <a:prstGeom prst="rect">
            <a:avLst/>
          </a:prstGeom>
          <a:noFill/>
        </p:spPr>
        <p:txBody>
          <a:bodyPr wrap="square" rtlCol="0">
            <a:spAutoFit/>
          </a:bodyPr>
          <a:lstStyle/>
          <a:p>
            <a:r>
              <a:rPr lang="en-US" sz="2800" dirty="0"/>
              <a:t># obtain omnibus chi-square</a:t>
            </a:r>
            <a:endParaRPr lang="nl-NL" sz="2800" dirty="0"/>
          </a:p>
          <a:p>
            <a:r>
              <a:rPr lang="nl-NL" sz="2800" dirty="0" err="1">
                <a:solidFill>
                  <a:srgbClr val="FF0000"/>
                </a:solidFill>
              </a:rPr>
              <a:t>chisq.test</a:t>
            </a:r>
            <a:r>
              <a:rPr lang="nl-NL" sz="2800" dirty="0">
                <a:solidFill>
                  <a:srgbClr val="FF0000"/>
                </a:solidFill>
              </a:rPr>
              <a:t>(mpg_2$drv, mpg_2$fl)</a:t>
            </a:r>
            <a:endParaRPr lang="nl-NL" sz="2800" dirty="0">
              <a:solidFill>
                <a:srgbClr val="FF0000"/>
              </a:solidFill>
            </a:endParaRPr>
          </a:p>
          <a:p>
            <a:endParaRPr lang="nl-NL" sz="2800" dirty="0"/>
          </a:p>
          <a:p>
            <a:r>
              <a:rPr lang="en-US" sz="2800" dirty="0"/>
              <a:t># obtain omnibus and </a:t>
            </a:r>
            <a:r>
              <a:rPr lang="en-US" sz="2800" dirty="0" err="1"/>
              <a:t>cellwise</a:t>
            </a:r>
            <a:r>
              <a:rPr lang="en-US" sz="2800" dirty="0"/>
              <a:t> info</a:t>
            </a:r>
            <a:endParaRPr lang="nl-NL" sz="2800" dirty="0"/>
          </a:p>
          <a:p>
            <a:r>
              <a:rPr lang="nl-NL" sz="2800" dirty="0" err="1">
                <a:solidFill>
                  <a:srgbClr val="FF0000"/>
                </a:solidFill>
              </a:rPr>
              <a:t>CrossTable</a:t>
            </a:r>
            <a:r>
              <a:rPr lang="nl-NL" sz="2800" dirty="0">
                <a:solidFill>
                  <a:srgbClr val="FF0000"/>
                </a:solidFill>
              </a:rPr>
              <a:t>(mpg_2$drv, mpg_2$fl, </a:t>
            </a:r>
            <a:endParaRPr lang="nl-NL" sz="2800" dirty="0">
              <a:solidFill>
                <a:srgbClr val="FF0000"/>
              </a:solidFill>
            </a:endParaRPr>
          </a:p>
          <a:p>
            <a:r>
              <a:rPr lang="nl-NL" sz="2800" dirty="0" err="1">
                <a:solidFill>
                  <a:srgbClr val="FF0000"/>
                </a:solidFill>
              </a:rPr>
              <a:t>chisq</a:t>
            </a:r>
            <a:r>
              <a:rPr lang="nl-NL" sz="2800" dirty="0">
                <a:solidFill>
                  <a:srgbClr val="FF0000"/>
                </a:solidFill>
              </a:rPr>
              <a:t> = T, </a:t>
            </a:r>
            <a:r>
              <a:rPr lang="nl-NL" sz="2800" dirty="0" err="1">
                <a:solidFill>
                  <a:srgbClr val="FF0000"/>
                </a:solidFill>
              </a:rPr>
              <a:t>expected</a:t>
            </a:r>
            <a:r>
              <a:rPr lang="nl-NL" sz="2800" dirty="0">
                <a:solidFill>
                  <a:srgbClr val="FF0000"/>
                </a:solidFill>
              </a:rPr>
              <a:t> = T, </a:t>
            </a:r>
            <a:endParaRPr lang="nl-NL" sz="2800" dirty="0">
              <a:solidFill>
                <a:srgbClr val="FF0000"/>
              </a:solidFill>
            </a:endParaRPr>
          </a:p>
          <a:p>
            <a:r>
              <a:rPr lang="nl-NL" sz="2800" dirty="0" err="1">
                <a:solidFill>
                  <a:srgbClr val="FF0000"/>
                </a:solidFill>
              </a:rPr>
              <a:t>prop.c</a:t>
            </a:r>
            <a:r>
              <a:rPr lang="nl-NL" sz="2800" dirty="0">
                <a:solidFill>
                  <a:srgbClr val="FF0000"/>
                </a:solidFill>
              </a:rPr>
              <a:t> = F, </a:t>
            </a:r>
            <a:r>
              <a:rPr lang="nl-NL" sz="2800" dirty="0" err="1">
                <a:solidFill>
                  <a:srgbClr val="FF0000"/>
                </a:solidFill>
              </a:rPr>
              <a:t>prop.r</a:t>
            </a:r>
            <a:r>
              <a:rPr lang="nl-NL" sz="2800" dirty="0">
                <a:solidFill>
                  <a:srgbClr val="FF0000"/>
                </a:solidFill>
              </a:rPr>
              <a:t> = F, </a:t>
            </a:r>
            <a:endParaRPr lang="nl-NL" sz="2800" dirty="0">
              <a:solidFill>
                <a:srgbClr val="FF0000"/>
              </a:solidFill>
            </a:endParaRPr>
          </a:p>
          <a:p>
            <a:r>
              <a:rPr lang="nl-NL" sz="2800" dirty="0">
                <a:solidFill>
                  <a:srgbClr val="FF0000"/>
                </a:solidFill>
              </a:rPr>
              <a:t>prop.t = F, </a:t>
            </a:r>
            <a:r>
              <a:rPr lang="nl-NL" sz="2800" dirty="0" err="1">
                <a:solidFill>
                  <a:srgbClr val="FF0000"/>
                </a:solidFill>
              </a:rPr>
              <a:t>prop.chisq</a:t>
            </a:r>
            <a:r>
              <a:rPr lang="nl-NL" sz="2800" dirty="0">
                <a:solidFill>
                  <a:srgbClr val="FF0000"/>
                </a:solidFill>
              </a:rPr>
              <a:t> = F, </a:t>
            </a:r>
            <a:endParaRPr lang="nl-NL" sz="2800" dirty="0">
              <a:solidFill>
                <a:srgbClr val="FF0000"/>
              </a:solidFill>
            </a:endParaRPr>
          </a:p>
          <a:p>
            <a:r>
              <a:rPr lang="nl-NL" sz="2800" dirty="0" err="1">
                <a:solidFill>
                  <a:srgbClr val="FF0000"/>
                </a:solidFill>
              </a:rPr>
              <a:t>asresid</a:t>
            </a:r>
            <a:r>
              <a:rPr lang="nl-NL" sz="2800" dirty="0">
                <a:solidFill>
                  <a:srgbClr val="FF0000"/>
                </a:solidFill>
              </a:rPr>
              <a:t> = T, format = "SPSS")</a:t>
            </a:r>
            <a:endParaRPr lang="nl-NL" sz="28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280"/>
            <a:ext cx="10515600" cy="1024157"/>
          </a:xfrm>
        </p:spPr>
        <p:txBody>
          <a:bodyPr>
            <a:normAutofit/>
          </a:bodyPr>
          <a:lstStyle/>
          <a:p>
            <a:pPr algn="ctr"/>
            <a:r>
              <a:rPr lang="nl-NL" b="1" dirty="0"/>
              <a:t>How </a:t>
            </a:r>
            <a:r>
              <a:rPr lang="nl-NL" b="1" dirty="0" err="1"/>
              <a:t>to</a:t>
            </a:r>
            <a:r>
              <a:rPr lang="nl-NL" b="1" dirty="0"/>
              <a:t> report </a:t>
            </a:r>
            <a:r>
              <a:rPr lang="nl-NL" b="1" i="1" dirty="0"/>
              <a:t>χ</a:t>
            </a:r>
            <a:r>
              <a:rPr lang="nl-NL" b="1" i="1" baseline="30000" dirty="0"/>
              <a:t>2</a:t>
            </a:r>
            <a:r>
              <a:rPr lang="nl-NL" b="1" i="1" dirty="0"/>
              <a:t> </a:t>
            </a:r>
            <a:r>
              <a:rPr lang="nl-NL" b="1" dirty="0"/>
              <a:t>tests?</a:t>
            </a:r>
            <a:endParaRPr lang="nl-NL" sz="3100" b="1" dirty="0"/>
          </a:p>
        </p:txBody>
      </p:sp>
      <p:sp>
        <p:nvSpPr>
          <p:cNvPr id="3" name="Content Placeholder 2"/>
          <p:cNvSpPr>
            <a:spLocks noGrp="1"/>
          </p:cNvSpPr>
          <p:nvPr>
            <p:ph idx="1"/>
          </p:nvPr>
        </p:nvSpPr>
        <p:spPr>
          <a:xfrm>
            <a:off x="615820" y="1337388"/>
            <a:ext cx="10910596" cy="5069631"/>
          </a:xfrm>
        </p:spPr>
        <p:txBody>
          <a:bodyPr>
            <a:normAutofit lnSpcReduction="10000"/>
          </a:bodyPr>
          <a:lstStyle/>
          <a:p>
            <a:r>
              <a:rPr lang="nl-NL" dirty="0"/>
              <a:t>A Pearson </a:t>
            </a:r>
            <a:r>
              <a:rPr lang="nl-NL" i="1" dirty="0"/>
              <a:t>χ</a:t>
            </a:r>
            <a:r>
              <a:rPr lang="nl-NL" i="1" baseline="30000" dirty="0"/>
              <a:t>2</a:t>
            </a:r>
            <a:r>
              <a:rPr lang="nl-NL" i="1" dirty="0"/>
              <a:t> </a:t>
            </a:r>
            <a:r>
              <a:rPr lang="nl-NL" dirty="0"/>
              <a:t>test </a:t>
            </a:r>
            <a:r>
              <a:rPr lang="nl-NL" dirty="0" err="1"/>
              <a:t>examined</a:t>
            </a:r>
            <a:r>
              <a:rPr lang="nl-NL" dirty="0"/>
              <a:t> gender </a:t>
            </a:r>
            <a:r>
              <a:rPr lang="nl-NL" dirty="0" err="1"/>
              <a:t>differences</a:t>
            </a:r>
            <a:r>
              <a:rPr lang="nl-NL" dirty="0"/>
              <a:t> in </a:t>
            </a:r>
            <a:r>
              <a:rPr lang="nl-NL" dirty="0" err="1"/>
              <a:t>the</a:t>
            </a:r>
            <a:r>
              <a:rPr lang="nl-NL" dirty="0"/>
              <a:t> </a:t>
            </a:r>
            <a:r>
              <a:rPr lang="nl-NL" dirty="0" err="1"/>
              <a:t>degree</a:t>
            </a:r>
            <a:r>
              <a:rPr lang="nl-NL" dirty="0"/>
              <a:t> </a:t>
            </a:r>
            <a:r>
              <a:rPr lang="nl-NL" dirty="0" err="1"/>
              <a:t>classification</a:t>
            </a:r>
            <a:r>
              <a:rPr lang="nl-NL" dirty="0"/>
              <a:t> of </a:t>
            </a:r>
            <a:r>
              <a:rPr lang="nl-NL" dirty="0" err="1"/>
              <a:t>full-time</a:t>
            </a:r>
            <a:r>
              <a:rPr lang="nl-NL" dirty="0"/>
              <a:t> </a:t>
            </a:r>
            <a:r>
              <a:rPr lang="nl-NL" dirty="0" err="1"/>
              <a:t>students</a:t>
            </a:r>
            <a:r>
              <a:rPr lang="nl-NL" dirty="0"/>
              <a:t> in </a:t>
            </a:r>
            <a:r>
              <a:rPr lang="nl-NL" dirty="0" err="1"/>
              <a:t>the</a:t>
            </a:r>
            <a:r>
              <a:rPr lang="nl-NL" dirty="0"/>
              <a:t> UK.</a:t>
            </a:r>
            <a:endParaRPr lang="nl-NL" dirty="0"/>
          </a:p>
          <a:p>
            <a:r>
              <a:rPr lang="nl-NL" dirty="0"/>
              <a:t>The </a:t>
            </a:r>
            <a:r>
              <a:rPr lang="nl-NL" dirty="0" err="1"/>
              <a:t>number</a:t>
            </a:r>
            <a:r>
              <a:rPr lang="nl-NL" dirty="0"/>
              <a:t> of </a:t>
            </a:r>
            <a:r>
              <a:rPr lang="nl-NL" dirty="0" err="1"/>
              <a:t>males</a:t>
            </a:r>
            <a:r>
              <a:rPr lang="nl-NL" dirty="0"/>
              <a:t> </a:t>
            </a:r>
            <a:r>
              <a:rPr lang="nl-NL" dirty="0" err="1"/>
              <a:t>and</a:t>
            </a:r>
            <a:r>
              <a:rPr lang="nl-NL" dirty="0"/>
              <a:t> </a:t>
            </a:r>
            <a:r>
              <a:rPr lang="nl-NL" dirty="0" err="1"/>
              <a:t>females</a:t>
            </a:r>
            <a:r>
              <a:rPr lang="nl-NL" dirty="0"/>
              <a:t> </a:t>
            </a:r>
            <a:r>
              <a:rPr lang="nl-NL" dirty="0" err="1"/>
              <a:t>differed</a:t>
            </a:r>
            <a:r>
              <a:rPr lang="nl-NL" dirty="0"/>
              <a:t> </a:t>
            </a:r>
            <a:r>
              <a:rPr lang="nl-NL" dirty="0" err="1"/>
              <a:t>across</a:t>
            </a:r>
            <a:r>
              <a:rPr lang="nl-NL" dirty="0"/>
              <a:t> </a:t>
            </a:r>
            <a:r>
              <a:rPr lang="nl-NL" dirty="0" err="1"/>
              <a:t>the</a:t>
            </a:r>
            <a:r>
              <a:rPr lang="nl-NL" dirty="0"/>
              <a:t> </a:t>
            </a:r>
            <a:r>
              <a:rPr lang="nl-NL" dirty="0" err="1"/>
              <a:t>four</a:t>
            </a:r>
            <a:r>
              <a:rPr lang="nl-NL" dirty="0"/>
              <a:t> </a:t>
            </a:r>
            <a:r>
              <a:rPr lang="nl-NL" dirty="0" err="1"/>
              <a:t>degree</a:t>
            </a:r>
            <a:r>
              <a:rPr lang="nl-NL" dirty="0"/>
              <a:t> </a:t>
            </a:r>
            <a:r>
              <a:rPr lang="nl-NL" dirty="0" err="1"/>
              <a:t>classifications</a:t>
            </a:r>
            <a:r>
              <a:rPr lang="nl-NL" dirty="0"/>
              <a:t>, </a:t>
            </a:r>
            <a:r>
              <a:rPr lang="nl-NL" i="1" dirty="0"/>
              <a:t>χ</a:t>
            </a:r>
            <a:r>
              <a:rPr lang="nl-NL" i="1" baseline="30000" dirty="0"/>
              <a:t>2</a:t>
            </a:r>
            <a:r>
              <a:rPr lang="nl-NL" dirty="0"/>
              <a:t>(3) = 1807.1, </a:t>
            </a:r>
            <a:r>
              <a:rPr lang="nl-NL" i="1" dirty="0"/>
              <a:t>p</a:t>
            </a:r>
            <a:r>
              <a:rPr lang="nl-NL" dirty="0"/>
              <a:t> &lt; .001. </a:t>
            </a:r>
            <a:r>
              <a:rPr lang="nl-NL" dirty="0" err="1"/>
              <a:t>Adjust</a:t>
            </a:r>
            <a:r>
              <a:rPr lang="nl-NL" dirty="0"/>
              <a:t> </a:t>
            </a:r>
            <a:r>
              <a:rPr lang="nl-NL" dirty="0" err="1"/>
              <a:t>standardized</a:t>
            </a:r>
            <a:r>
              <a:rPr lang="nl-NL" dirty="0"/>
              <a:t> </a:t>
            </a:r>
            <a:r>
              <a:rPr lang="nl-NL" dirty="0" err="1"/>
              <a:t>residuals</a:t>
            </a:r>
            <a:r>
              <a:rPr lang="nl-NL" dirty="0"/>
              <a:t> </a:t>
            </a:r>
            <a:r>
              <a:rPr lang="nl-NL" dirty="0" err="1"/>
              <a:t>revealed</a:t>
            </a:r>
            <a:r>
              <a:rPr lang="nl-NL" dirty="0"/>
              <a:t> </a:t>
            </a:r>
            <a:r>
              <a:rPr lang="nl-NL" dirty="0" err="1"/>
              <a:t>that</a:t>
            </a:r>
            <a:r>
              <a:rPr lang="nl-NL" dirty="0"/>
              <a:t> </a:t>
            </a:r>
            <a:r>
              <a:rPr lang="nl-NL" dirty="0" err="1"/>
              <a:t>females</a:t>
            </a:r>
            <a:r>
              <a:rPr lang="nl-NL" dirty="0"/>
              <a:t> </a:t>
            </a:r>
            <a:r>
              <a:rPr lang="nl-NL" dirty="0" err="1"/>
              <a:t>were</a:t>
            </a:r>
            <a:r>
              <a:rPr lang="nl-NL" dirty="0"/>
              <a:t> </a:t>
            </a:r>
            <a:r>
              <a:rPr lang="nl-NL" dirty="0" err="1"/>
              <a:t>overrepresented</a:t>
            </a:r>
            <a:r>
              <a:rPr lang="nl-NL" dirty="0"/>
              <a:t> (i.e., </a:t>
            </a:r>
            <a:r>
              <a:rPr lang="nl-NL" dirty="0" err="1"/>
              <a:t>observed</a:t>
            </a:r>
            <a:r>
              <a:rPr lang="nl-NL" dirty="0"/>
              <a:t> more </a:t>
            </a:r>
            <a:r>
              <a:rPr lang="nl-NL" dirty="0" err="1"/>
              <a:t>than</a:t>
            </a:r>
            <a:r>
              <a:rPr lang="nl-NL" dirty="0"/>
              <a:t> </a:t>
            </a:r>
            <a:r>
              <a:rPr lang="nl-NL" dirty="0" err="1"/>
              <a:t>expected</a:t>
            </a:r>
            <a:r>
              <a:rPr lang="nl-NL" dirty="0"/>
              <a:t>) in </a:t>
            </a:r>
            <a:r>
              <a:rPr lang="nl-NL" dirty="0" err="1"/>
              <a:t>the</a:t>
            </a:r>
            <a:r>
              <a:rPr lang="nl-NL" dirty="0"/>
              <a:t> </a:t>
            </a:r>
            <a:r>
              <a:rPr lang="nl-NL" dirty="0" err="1"/>
              <a:t>upper</a:t>
            </a:r>
            <a:r>
              <a:rPr lang="nl-NL" dirty="0"/>
              <a:t> second class (2:1), and </a:t>
            </a:r>
            <a:r>
              <a:rPr lang="nl-NL" dirty="0" err="1"/>
              <a:t>were</a:t>
            </a:r>
            <a:r>
              <a:rPr lang="nl-NL" dirty="0"/>
              <a:t> </a:t>
            </a:r>
            <a:r>
              <a:rPr lang="nl-NL" dirty="0" err="1"/>
              <a:t>underrepresented</a:t>
            </a:r>
            <a:r>
              <a:rPr lang="nl-NL" dirty="0"/>
              <a:t> (i.e., </a:t>
            </a:r>
            <a:r>
              <a:rPr lang="nl-NL" dirty="0" err="1"/>
              <a:t>observed</a:t>
            </a:r>
            <a:r>
              <a:rPr lang="nl-NL" dirty="0"/>
              <a:t> </a:t>
            </a:r>
            <a:r>
              <a:rPr lang="nl-NL" dirty="0" err="1"/>
              <a:t>less</a:t>
            </a:r>
            <a:r>
              <a:rPr lang="nl-NL" dirty="0"/>
              <a:t> </a:t>
            </a:r>
            <a:r>
              <a:rPr lang="nl-NL" dirty="0" err="1"/>
              <a:t>than</a:t>
            </a:r>
            <a:r>
              <a:rPr lang="nl-NL" dirty="0"/>
              <a:t> </a:t>
            </a:r>
            <a:r>
              <a:rPr lang="nl-NL" dirty="0" err="1"/>
              <a:t>expected</a:t>
            </a:r>
            <a:r>
              <a:rPr lang="nl-NL" dirty="0"/>
              <a:t>) in </a:t>
            </a:r>
            <a:r>
              <a:rPr lang="nl-NL" dirty="0" err="1"/>
              <a:t>the</a:t>
            </a:r>
            <a:r>
              <a:rPr lang="nl-NL" dirty="0"/>
              <a:t> </a:t>
            </a:r>
            <a:r>
              <a:rPr lang="nl-NL" dirty="0" err="1"/>
              <a:t>other</a:t>
            </a:r>
            <a:r>
              <a:rPr lang="nl-NL" dirty="0"/>
              <a:t> </a:t>
            </a:r>
            <a:r>
              <a:rPr lang="nl-NL" dirty="0" err="1"/>
              <a:t>three</a:t>
            </a:r>
            <a:r>
              <a:rPr lang="nl-NL" dirty="0"/>
              <a:t> </a:t>
            </a:r>
            <a:r>
              <a:rPr lang="nl-NL" dirty="0" err="1"/>
              <a:t>degree</a:t>
            </a:r>
            <a:r>
              <a:rPr lang="nl-NL" dirty="0"/>
              <a:t> classes </a:t>
            </a:r>
            <a:r>
              <a:rPr lang="nl-NL" dirty="0" err="1"/>
              <a:t>compared</a:t>
            </a:r>
            <a:r>
              <a:rPr lang="nl-NL" dirty="0"/>
              <a:t> </a:t>
            </a:r>
            <a:r>
              <a:rPr lang="nl-NL" dirty="0" err="1"/>
              <a:t>to</a:t>
            </a:r>
            <a:r>
              <a:rPr lang="nl-NL" dirty="0"/>
              <a:t> </a:t>
            </a:r>
            <a:r>
              <a:rPr lang="nl-NL" dirty="0" err="1"/>
              <a:t>males</a:t>
            </a:r>
            <a:r>
              <a:rPr lang="nl-NL" dirty="0"/>
              <a:t>.</a:t>
            </a:r>
            <a:endParaRPr lang="nl-NL" dirty="0"/>
          </a:p>
          <a:p>
            <a:endParaRPr lang="nl-NL" dirty="0"/>
          </a:p>
          <a:p>
            <a:r>
              <a:rPr lang="nl-NL" dirty="0" err="1"/>
              <a:t>Note</a:t>
            </a:r>
            <a:r>
              <a:rPr lang="nl-NL" dirty="0"/>
              <a:t>: The </a:t>
            </a:r>
            <a:r>
              <a:rPr lang="nl-NL" i="1" dirty="0"/>
              <a:t>χ</a:t>
            </a:r>
            <a:r>
              <a:rPr lang="nl-NL" i="1" baseline="30000" dirty="0"/>
              <a:t>2</a:t>
            </a:r>
            <a:r>
              <a:rPr lang="nl-NL" i="1" dirty="0"/>
              <a:t> </a:t>
            </a:r>
            <a:r>
              <a:rPr lang="nl-NL" dirty="0"/>
              <a:t>test </a:t>
            </a:r>
            <a:r>
              <a:rPr lang="nl-NL" dirty="0" err="1"/>
              <a:t>statistic</a:t>
            </a:r>
            <a:r>
              <a:rPr lang="nl-NL" dirty="0"/>
              <a:t> is </a:t>
            </a:r>
            <a:r>
              <a:rPr lang="nl-NL" dirty="0" err="1"/>
              <a:t>an</a:t>
            </a:r>
            <a:r>
              <a:rPr lang="nl-NL" dirty="0"/>
              <a:t> “omnibus” test </a:t>
            </a:r>
            <a:r>
              <a:rPr lang="nl-NL" dirty="0" err="1"/>
              <a:t>indicating</a:t>
            </a:r>
            <a:r>
              <a:rPr lang="nl-NL" dirty="0"/>
              <a:t> a </a:t>
            </a:r>
            <a:r>
              <a:rPr lang="nl-NL" dirty="0" err="1"/>
              <a:t>lack</a:t>
            </a:r>
            <a:r>
              <a:rPr lang="nl-NL" dirty="0"/>
              <a:t> of </a:t>
            </a:r>
            <a:r>
              <a:rPr lang="nl-NL" dirty="0" err="1"/>
              <a:t>independence</a:t>
            </a:r>
            <a:r>
              <a:rPr lang="nl-NL" dirty="0"/>
              <a:t> </a:t>
            </a:r>
            <a:r>
              <a:rPr lang="nl-NL" dirty="0" err="1"/>
              <a:t>between</a:t>
            </a:r>
            <a:r>
              <a:rPr lang="nl-NL" dirty="0"/>
              <a:t> </a:t>
            </a:r>
            <a:r>
              <a:rPr lang="nl-NL" dirty="0" err="1"/>
              <a:t>the</a:t>
            </a:r>
            <a:r>
              <a:rPr lang="nl-NL" dirty="0"/>
              <a:t> </a:t>
            </a:r>
            <a:r>
              <a:rPr lang="nl-NL" dirty="0" err="1"/>
              <a:t>categorical</a:t>
            </a:r>
            <a:r>
              <a:rPr lang="nl-NL" dirty="0"/>
              <a:t> variables </a:t>
            </a:r>
            <a:r>
              <a:rPr lang="nl-NL" dirty="0" err="1"/>
              <a:t>and</a:t>
            </a:r>
            <a:r>
              <a:rPr lang="nl-NL" dirty="0"/>
              <a:t> </a:t>
            </a:r>
            <a:r>
              <a:rPr lang="nl-NL" dirty="0" err="1"/>
              <a:t>the</a:t>
            </a:r>
            <a:r>
              <a:rPr lang="nl-NL" dirty="0"/>
              <a:t> (</a:t>
            </a:r>
            <a:r>
              <a:rPr lang="nl-NL" dirty="0" err="1"/>
              <a:t>adjusted</a:t>
            </a:r>
            <a:r>
              <a:rPr lang="nl-NL" dirty="0"/>
              <a:t>) </a:t>
            </a:r>
            <a:r>
              <a:rPr lang="nl-NL" dirty="0" err="1"/>
              <a:t>standardized</a:t>
            </a:r>
            <a:r>
              <a:rPr lang="nl-NL" dirty="0"/>
              <a:t> </a:t>
            </a:r>
            <a:r>
              <a:rPr lang="nl-NL" dirty="0" err="1"/>
              <a:t>residuals</a:t>
            </a:r>
            <a:r>
              <a:rPr lang="nl-NL" dirty="0"/>
              <a:t> </a:t>
            </a:r>
            <a:r>
              <a:rPr lang="nl-NL" dirty="0" err="1"/>
              <a:t>provide</a:t>
            </a:r>
            <a:r>
              <a:rPr lang="nl-NL" dirty="0"/>
              <a:t> </a:t>
            </a:r>
            <a:r>
              <a:rPr lang="nl-NL" dirty="0" err="1"/>
              <a:t>indication</a:t>
            </a:r>
            <a:r>
              <a:rPr lang="nl-NL" dirty="0"/>
              <a:t> of </a:t>
            </a:r>
            <a:r>
              <a:rPr lang="nl-NL" dirty="0" err="1"/>
              <a:t>specific</a:t>
            </a:r>
            <a:r>
              <a:rPr lang="nl-NL" dirty="0"/>
              <a:t> </a:t>
            </a:r>
            <a:r>
              <a:rPr lang="nl-NL" dirty="0" err="1"/>
              <a:t>cellwise</a:t>
            </a:r>
            <a:r>
              <a:rPr lang="nl-NL" dirty="0"/>
              <a:t> </a:t>
            </a:r>
            <a:r>
              <a:rPr lang="nl-NL" dirty="0" err="1"/>
              <a:t>differences</a:t>
            </a:r>
            <a:r>
              <a:rPr lang="nl-NL" dirty="0"/>
              <a:t>.</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935"/>
            <a:ext cx="10515600" cy="1026367"/>
          </a:xfrm>
        </p:spPr>
        <p:txBody>
          <a:bodyPr/>
          <a:lstStyle/>
          <a:p>
            <a:pPr algn="ctr"/>
            <a:r>
              <a:rPr lang="nl-NL" b="1" dirty="0"/>
              <a:t>Summary</a:t>
            </a:r>
            <a:endParaRPr lang="nl-NL" b="1" dirty="0"/>
          </a:p>
        </p:txBody>
      </p:sp>
      <p:sp>
        <p:nvSpPr>
          <p:cNvPr id="3" name="Content Placeholder 2"/>
          <p:cNvSpPr>
            <a:spLocks noGrp="1"/>
          </p:cNvSpPr>
          <p:nvPr>
            <p:ph idx="1"/>
          </p:nvPr>
        </p:nvSpPr>
        <p:spPr>
          <a:xfrm>
            <a:off x="838200" y="1300066"/>
            <a:ext cx="10515600" cy="4876898"/>
          </a:xfrm>
        </p:spPr>
        <p:txBody>
          <a:bodyPr>
            <a:normAutofit lnSpcReduction="10000"/>
          </a:bodyPr>
          <a:lstStyle/>
          <a:p>
            <a:r>
              <a:rPr lang="nl-NL" b="1" dirty="0" err="1"/>
              <a:t>NHSTs</a:t>
            </a:r>
            <a:endParaRPr lang="nl-NL" b="1" dirty="0"/>
          </a:p>
          <a:p>
            <a:pPr lvl="1"/>
            <a:r>
              <a:rPr lang="nl-NL" dirty="0"/>
              <a:t>A predominant approach </a:t>
            </a:r>
            <a:r>
              <a:rPr lang="nl-NL" dirty="0" err="1"/>
              <a:t>to</a:t>
            </a:r>
            <a:r>
              <a:rPr lang="nl-NL" dirty="0"/>
              <a:t> </a:t>
            </a:r>
            <a:r>
              <a:rPr lang="nl-NL" dirty="0" err="1"/>
              <a:t>testing</a:t>
            </a:r>
            <a:r>
              <a:rPr lang="nl-NL" dirty="0"/>
              <a:t> of hypotheses, but </a:t>
            </a:r>
            <a:r>
              <a:rPr lang="nl-NL" dirty="0" err="1"/>
              <a:t>it</a:t>
            </a:r>
            <a:r>
              <a:rPr lang="nl-NL" dirty="0"/>
              <a:t> is </a:t>
            </a:r>
            <a:r>
              <a:rPr lang="nl-NL" dirty="0" err="1"/>
              <a:t>not</a:t>
            </a:r>
            <a:r>
              <a:rPr lang="nl-NL" dirty="0"/>
              <a:t> </a:t>
            </a:r>
            <a:r>
              <a:rPr lang="nl-NL" dirty="0" err="1"/>
              <a:t>the</a:t>
            </a:r>
            <a:r>
              <a:rPr lang="nl-NL" dirty="0"/>
              <a:t> </a:t>
            </a:r>
            <a:r>
              <a:rPr lang="nl-NL" dirty="0" err="1"/>
              <a:t>only</a:t>
            </a:r>
            <a:r>
              <a:rPr lang="nl-NL" dirty="0"/>
              <a:t> </a:t>
            </a:r>
            <a:r>
              <a:rPr lang="nl-NL" dirty="0" err="1"/>
              <a:t>one</a:t>
            </a:r>
            <a:r>
              <a:rPr lang="nl-NL" dirty="0"/>
              <a:t>!</a:t>
            </a:r>
            <a:endParaRPr lang="nl-NL" dirty="0"/>
          </a:p>
          <a:p>
            <a:pPr lvl="1"/>
            <a:r>
              <a:rPr lang="nl-NL" dirty="0"/>
              <a:t>Based on </a:t>
            </a:r>
            <a:r>
              <a:rPr lang="nl-NL" dirty="0" err="1"/>
              <a:t>conditional</a:t>
            </a:r>
            <a:r>
              <a:rPr lang="nl-NL" dirty="0"/>
              <a:t> probability (</a:t>
            </a:r>
            <a:r>
              <a:rPr lang="nl-NL" i="1" dirty="0"/>
              <a:t>p</a:t>
            </a:r>
            <a:r>
              <a:rPr lang="nl-NL" dirty="0"/>
              <a:t>-</a:t>
            </a:r>
            <a:r>
              <a:rPr lang="nl-NL" dirty="0" err="1"/>
              <a:t>value</a:t>
            </a:r>
            <a:r>
              <a:rPr lang="nl-NL" dirty="0"/>
              <a:t>) of </a:t>
            </a:r>
            <a:r>
              <a:rPr lang="nl-NL" dirty="0" err="1"/>
              <a:t>obtaining</a:t>
            </a:r>
            <a:r>
              <a:rPr lang="nl-NL" dirty="0"/>
              <a:t> sample </a:t>
            </a:r>
            <a:r>
              <a:rPr lang="nl-NL" dirty="0" err="1"/>
              <a:t>statistic</a:t>
            </a:r>
            <a:r>
              <a:rPr lang="nl-NL" dirty="0"/>
              <a:t> as extreme (or more extreme) </a:t>
            </a:r>
            <a:r>
              <a:rPr lang="nl-NL" dirty="0" err="1"/>
              <a:t>than</a:t>
            </a:r>
            <a:r>
              <a:rPr lang="nl-NL" dirty="0"/>
              <a:t> </a:t>
            </a:r>
            <a:r>
              <a:rPr lang="nl-NL" dirty="0" err="1"/>
              <a:t>the</a:t>
            </a:r>
            <a:r>
              <a:rPr lang="nl-NL" dirty="0"/>
              <a:t> </a:t>
            </a:r>
            <a:r>
              <a:rPr lang="nl-NL" dirty="0" err="1"/>
              <a:t>observed</a:t>
            </a:r>
            <a:r>
              <a:rPr lang="nl-NL" dirty="0"/>
              <a:t> </a:t>
            </a:r>
            <a:r>
              <a:rPr lang="nl-NL" dirty="0" err="1"/>
              <a:t>value</a:t>
            </a:r>
            <a:r>
              <a:rPr lang="nl-NL" dirty="0"/>
              <a:t>.</a:t>
            </a:r>
            <a:endParaRPr lang="nl-NL" dirty="0"/>
          </a:p>
          <a:p>
            <a:pPr lvl="1"/>
            <a:endParaRPr lang="nl-NL" dirty="0"/>
          </a:p>
          <a:p>
            <a:r>
              <a:rPr lang="nl-NL" b="1" i="1" dirty="0"/>
              <a:t>t</a:t>
            </a:r>
            <a:r>
              <a:rPr lang="nl-NL" b="1" dirty="0"/>
              <a:t>-tests</a:t>
            </a:r>
            <a:endParaRPr lang="nl-NL" b="1" dirty="0"/>
          </a:p>
          <a:p>
            <a:pPr lvl="1"/>
            <a:r>
              <a:rPr lang="nl-NL" dirty="0" err="1"/>
              <a:t>Statistic</a:t>
            </a:r>
            <a:r>
              <a:rPr lang="nl-NL" dirty="0"/>
              <a:t> tests of </a:t>
            </a:r>
            <a:r>
              <a:rPr lang="nl-NL" dirty="0" err="1"/>
              <a:t>mean</a:t>
            </a:r>
            <a:r>
              <a:rPr lang="nl-NL" dirty="0"/>
              <a:t>-level </a:t>
            </a:r>
            <a:r>
              <a:rPr lang="nl-NL" dirty="0" err="1"/>
              <a:t>differences</a:t>
            </a:r>
            <a:endParaRPr lang="nl-NL" dirty="0"/>
          </a:p>
          <a:p>
            <a:pPr lvl="1"/>
            <a:r>
              <a:rPr lang="nl-NL" dirty="0"/>
              <a:t>Types: </a:t>
            </a:r>
            <a:r>
              <a:rPr lang="nl-NL" dirty="0" err="1"/>
              <a:t>One</a:t>
            </a:r>
            <a:r>
              <a:rPr lang="nl-NL" dirty="0"/>
              <a:t>-sample, independent samples, </a:t>
            </a:r>
            <a:r>
              <a:rPr lang="nl-NL" dirty="0" err="1"/>
              <a:t>paired</a:t>
            </a:r>
            <a:r>
              <a:rPr lang="nl-NL" dirty="0"/>
              <a:t> samples</a:t>
            </a:r>
            <a:endParaRPr lang="nl-NL" dirty="0"/>
          </a:p>
          <a:p>
            <a:pPr lvl="1"/>
            <a:endParaRPr lang="nl-NL" dirty="0"/>
          </a:p>
          <a:p>
            <a:r>
              <a:rPr lang="nl-NL" b="1" dirty="0"/>
              <a:t>Tests for discrete data</a:t>
            </a:r>
            <a:endParaRPr lang="nl-NL" b="1" dirty="0"/>
          </a:p>
          <a:p>
            <a:pPr lvl="1"/>
            <a:r>
              <a:rPr lang="nl-NL" dirty="0" err="1"/>
              <a:t>Several</a:t>
            </a:r>
            <a:r>
              <a:rPr lang="nl-NL" dirty="0"/>
              <a:t> types of bivariate tests </a:t>
            </a:r>
            <a:r>
              <a:rPr lang="nl-NL" dirty="0" err="1"/>
              <a:t>for</a:t>
            </a:r>
            <a:r>
              <a:rPr lang="nl-NL" dirty="0"/>
              <a:t> </a:t>
            </a:r>
            <a:r>
              <a:rPr lang="nl-NL" dirty="0" err="1"/>
              <a:t>categorical</a:t>
            </a:r>
            <a:r>
              <a:rPr lang="nl-NL" dirty="0"/>
              <a:t> variables </a:t>
            </a:r>
            <a:endParaRPr lang="nl-NL" dirty="0"/>
          </a:p>
          <a:p>
            <a:pPr lvl="1"/>
            <a:r>
              <a:rPr lang="nl-NL" dirty="0"/>
              <a:t>Chi-square (</a:t>
            </a:r>
            <a:r>
              <a:rPr lang="nl-NL" i="1" dirty="0"/>
              <a:t>χ</a:t>
            </a:r>
            <a:r>
              <a:rPr lang="nl-NL" i="1" baseline="30000" dirty="0"/>
              <a:t>2</a:t>
            </a:r>
            <a:r>
              <a:rPr lang="nl-NL" dirty="0"/>
              <a:t>) is most common, </a:t>
            </a:r>
            <a:r>
              <a:rPr lang="nl-NL" dirty="0" err="1"/>
              <a:t>and</a:t>
            </a:r>
            <a:r>
              <a:rPr lang="nl-NL" dirty="0"/>
              <a:t> </a:t>
            </a:r>
            <a:r>
              <a:rPr lang="nl-NL" dirty="0" err="1"/>
              <a:t>one</a:t>
            </a:r>
            <a:r>
              <a:rPr lang="nl-NL" dirty="0"/>
              <a:t> </a:t>
            </a:r>
            <a:r>
              <a:rPr lang="nl-NL" dirty="0" err="1"/>
              <a:t>that</a:t>
            </a:r>
            <a:r>
              <a:rPr lang="nl-NL" dirty="0"/>
              <a:t> </a:t>
            </a:r>
            <a:r>
              <a:rPr lang="nl-NL" dirty="0" err="1"/>
              <a:t>you</a:t>
            </a:r>
            <a:r>
              <a:rPr lang="nl-NL" dirty="0"/>
              <a:t> </a:t>
            </a:r>
            <a:r>
              <a:rPr lang="nl-NL" dirty="0" err="1"/>
              <a:t>will</a:t>
            </a:r>
            <a:r>
              <a:rPr lang="nl-NL" dirty="0"/>
              <a:t> </a:t>
            </a:r>
            <a:r>
              <a:rPr lang="nl-NL" dirty="0" err="1"/>
              <a:t>see</a:t>
            </a:r>
            <a:r>
              <a:rPr lang="nl-NL" dirty="0"/>
              <a:t> </a:t>
            </a:r>
            <a:r>
              <a:rPr lang="nl-NL" dirty="0" err="1"/>
              <a:t>again</a:t>
            </a:r>
            <a:r>
              <a:rPr lang="nl-NL" dirty="0"/>
              <a:t> in different </a:t>
            </a:r>
            <a:r>
              <a:rPr lang="nl-NL" dirty="0" err="1"/>
              <a:t>contexts</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365125"/>
            <a:ext cx="6449008" cy="1325563"/>
          </a:xfrm>
        </p:spPr>
        <p:txBody>
          <a:bodyPr>
            <a:normAutofit/>
          </a:bodyPr>
          <a:lstStyle/>
          <a:p>
            <a:pPr algn="ctr"/>
            <a:r>
              <a:rPr lang="en-US" b="1" dirty="0"/>
              <a:t>Equivalence testing</a:t>
            </a:r>
            <a:br>
              <a:rPr lang="en-US" dirty="0"/>
            </a:br>
            <a:r>
              <a:rPr lang="en-US" sz="3100" dirty="0">
                <a:solidFill>
                  <a:srgbClr val="FF0000"/>
                </a:solidFill>
              </a:rPr>
              <a:t>One alternative to traditional NHST </a:t>
            </a:r>
            <a:endParaRPr lang="nl-NL" sz="3100" dirty="0">
              <a:solidFill>
                <a:srgbClr val="FF0000"/>
              </a:solidFill>
            </a:endParaRPr>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pic>
        <p:nvPicPr>
          <p:cNvPr id="6" name="Picture 5"/>
          <p:cNvPicPr>
            <a:picLocks noChangeAspect="1"/>
          </p:cNvPicPr>
          <p:nvPr/>
        </p:nvPicPr>
        <p:blipFill>
          <a:blip r:embed="rId1"/>
          <a:stretch>
            <a:fillRect/>
          </a:stretch>
        </p:blipFill>
        <p:spPr>
          <a:xfrm>
            <a:off x="838200" y="2048334"/>
            <a:ext cx="4953691" cy="3153215"/>
          </a:xfrm>
          <a:prstGeom prst="rect">
            <a:avLst/>
          </a:prstGeom>
        </p:spPr>
      </p:pic>
      <p:pic>
        <p:nvPicPr>
          <p:cNvPr id="8" name="Picture 7"/>
          <p:cNvPicPr>
            <a:picLocks noChangeAspect="1"/>
          </p:cNvPicPr>
          <p:nvPr/>
        </p:nvPicPr>
        <p:blipFill>
          <a:blip r:embed="rId2"/>
          <a:stretch>
            <a:fillRect/>
          </a:stretch>
        </p:blipFill>
        <p:spPr>
          <a:xfrm>
            <a:off x="7950153" y="136525"/>
            <a:ext cx="2981741" cy="6582694"/>
          </a:xfrm>
          <a:prstGeom prst="rect">
            <a:avLst/>
          </a:prstGeom>
        </p:spPr>
      </p:pic>
      <p:sp>
        <p:nvSpPr>
          <p:cNvPr id="3" name="Content Placeholder 2"/>
          <p:cNvSpPr>
            <a:spLocks noGrp="1"/>
          </p:cNvSpPr>
          <p:nvPr>
            <p:ph idx="1"/>
          </p:nvPr>
        </p:nvSpPr>
        <p:spPr>
          <a:xfrm>
            <a:off x="620793" y="5388160"/>
            <a:ext cx="7242110" cy="872777"/>
          </a:xfrm>
        </p:spPr>
        <p:txBody>
          <a:bodyPr>
            <a:normAutofit lnSpcReduction="10000"/>
          </a:bodyPr>
          <a:lstStyle/>
          <a:p>
            <a:r>
              <a:rPr lang="nl-NL" sz="2000" dirty="0"/>
              <a:t>Smiley, A.H., </a:t>
            </a:r>
            <a:r>
              <a:rPr lang="nl-NL" sz="2000" dirty="0" err="1"/>
              <a:t>Glazier</a:t>
            </a:r>
            <a:r>
              <a:rPr lang="nl-NL" sz="2000" dirty="0"/>
              <a:t>, J.J., </a:t>
            </a:r>
            <a:r>
              <a:rPr lang="nl-NL" sz="2000" dirty="0" err="1"/>
              <a:t>Shoda</a:t>
            </a:r>
            <a:r>
              <a:rPr lang="nl-NL" sz="2000" dirty="0"/>
              <a:t>, Y. (2023). </a:t>
            </a:r>
            <a:r>
              <a:rPr lang="nl-NL" sz="2000" dirty="0" err="1"/>
              <a:t>Null</a:t>
            </a:r>
            <a:r>
              <a:rPr lang="nl-NL" sz="2000" dirty="0"/>
              <a:t> </a:t>
            </a:r>
            <a:r>
              <a:rPr lang="nl-NL" sz="2000" dirty="0" err="1"/>
              <a:t>regions</a:t>
            </a:r>
            <a:r>
              <a:rPr lang="nl-NL" sz="2000" dirty="0"/>
              <a:t>: a </a:t>
            </a:r>
            <a:r>
              <a:rPr lang="nl-NL" sz="2000" dirty="0" err="1"/>
              <a:t>unified</a:t>
            </a:r>
            <a:r>
              <a:rPr lang="nl-NL" sz="2000" dirty="0"/>
              <a:t> </a:t>
            </a:r>
            <a:r>
              <a:rPr lang="nl-NL" sz="2000" dirty="0" err="1"/>
              <a:t>conceptual</a:t>
            </a:r>
            <a:r>
              <a:rPr lang="nl-NL" sz="2000" dirty="0"/>
              <a:t> </a:t>
            </a:r>
            <a:r>
              <a:rPr lang="nl-NL" sz="2000" dirty="0" err="1"/>
              <a:t>framework</a:t>
            </a:r>
            <a:r>
              <a:rPr lang="nl-NL" sz="2000" dirty="0"/>
              <a:t> </a:t>
            </a:r>
            <a:r>
              <a:rPr lang="nl-NL" sz="2000" dirty="0" err="1"/>
              <a:t>for</a:t>
            </a:r>
            <a:r>
              <a:rPr lang="nl-NL" sz="2000" dirty="0"/>
              <a:t> </a:t>
            </a:r>
            <a:r>
              <a:rPr lang="nl-NL" sz="2000" dirty="0" err="1"/>
              <a:t>statistical</a:t>
            </a:r>
            <a:r>
              <a:rPr lang="nl-NL" sz="2000" dirty="0"/>
              <a:t> </a:t>
            </a:r>
            <a:r>
              <a:rPr lang="nl-NL" sz="2000" dirty="0" err="1"/>
              <a:t>inference</a:t>
            </a:r>
            <a:r>
              <a:rPr lang="nl-NL" sz="2000" dirty="0"/>
              <a:t>. R. Soc. Open </a:t>
            </a:r>
            <a:r>
              <a:rPr lang="nl-NL" sz="2000" dirty="0" err="1"/>
              <a:t>Sci</a:t>
            </a:r>
            <a:r>
              <a:rPr lang="nl-NL" sz="2000" dirty="0"/>
              <a:t>, 10 (11): 221328. https://doi.org/10.1098/rsos.221328</a:t>
            </a:r>
            <a:endParaRPr lang="nl-NL"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935"/>
            <a:ext cx="10515600" cy="1026367"/>
          </a:xfrm>
        </p:spPr>
        <p:txBody>
          <a:bodyPr/>
          <a:lstStyle/>
          <a:p>
            <a:pPr algn="ctr"/>
            <a:r>
              <a:rPr lang="nl-NL" b="1" dirty="0"/>
              <a:t>HW 4</a:t>
            </a:r>
            <a:endParaRPr lang="nl-NL" b="1" dirty="0"/>
          </a:p>
        </p:txBody>
      </p:sp>
      <p:sp>
        <p:nvSpPr>
          <p:cNvPr id="3" name="Content Placeholder 2"/>
          <p:cNvSpPr>
            <a:spLocks noGrp="1"/>
          </p:cNvSpPr>
          <p:nvPr>
            <p:ph idx="1"/>
          </p:nvPr>
        </p:nvSpPr>
        <p:spPr>
          <a:xfrm>
            <a:off x="838200" y="1300066"/>
            <a:ext cx="10515600" cy="4876898"/>
          </a:xfrm>
        </p:spPr>
        <p:txBody>
          <a:bodyPr>
            <a:normAutofit/>
          </a:bodyPr>
          <a:lstStyle/>
          <a:p>
            <a:r>
              <a:rPr lang="nl-NL" b="1" dirty="0"/>
              <a:t>Part A: </a:t>
            </a:r>
            <a:r>
              <a:rPr lang="nl-NL" b="1" dirty="0" err="1"/>
              <a:t>Know</a:t>
            </a:r>
            <a:r>
              <a:rPr lang="nl-NL" b="1" dirty="0"/>
              <a:t> </a:t>
            </a:r>
            <a:r>
              <a:rPr lang="nl-NL" b="1" dirty="0" err="1"/>
              <a:t>your</a:t>
            </a:r>
            <a:r>
              <a:rPr lang="nl-NL" b="1" dirty="0"/>
              <a:t> data!</a:t>
            </a:r>
            <a:endParaRPr lang="nl-NL" b="1" dirty="0"/>
          </a:p>
          <a:p>
            <a:pPr lvl="1"/>
            <a:r>
              <a:rPr lang="nl-NL" dirty="0"/>
              <a:t>Always </a:t>
            </a:r>
            <a:r>
              <a:rPr lang="nl-NL" dirty="0" err="1"/>
              <a:t>explore</a:t>
            </a:r>
            <a:r>
              <a:rPr lang="nl-NL" dirty="0"/>
              <a:t> </a:t>
            </a:r>
            <a:r>
              <a:rPr lang="nl-NL" dirty="0" err="1"/>
              <a:t>distributions</a:t>
            </a:r>
            <a:r>
              <a:rPr lang="nl-NL" dirty="0"/>
              <a:t> of “new” data</a:t>
            </a:r>
            <a:endParaRPr lang="nl-NL" dirty="0"/>
          </a:p>
          <a:p>
            <a:pPr lvl="1"/>
            <a:r>
              <a:rPr lang="nl-NL" dirty="0" err="1">
                <a:solidFill>
                  <a:srgbClr val="FF0000"/>
                </a:solidFill>
              </a:rPr>
              <a:t>Inspect</a:t>
            </a:r>
            <a:r>
              <a:rPr lang="nl-NL" dirty="0">
                <a:solidFill>
                  <a:srgbClr val="FF0000"/>
                </a:solidFill>
              </a:rPr>
              <a:t> </a:t>
            </a:r>
            <a:r>
              <a:rPr lang="nl-NL" dirty="0" err="1">
                <a:solidFill>
                  <a:srgbClr val="FF0000"/>
                </a:solidFill>
              </a:rPr>
              <a:t>shape</a:t>
            </a:r>
            <a:r>
              <a:rPr lang="nl-NL" dirty="0">
                <a:solidFill>
                  <a:srgbClr val="FF0000"/>
                </a:solidFill>
              </a:rPr>
              <a:t> of </a:t>
            </a:r>
            <a:r>
              <a:rPr lang="nl-NL" dirty="0" err="1">
                <a:solidFill>
                  <a:srgbClr val="FF0000"/>
                </a:solidFill>
              </a:rPr>
              <a:t>distributions</a:t>
            </a:r>
            <a:r>
              <a:rPr lang="nl-NL" dirty="0"/>
              <a:t>,</a:t>
            </a:r>
            <a:r>
              <a:rPr lang="nl-NL" dirty="0">
                <a:solidFill>
                  <a:srgbClr val="FF0000"/>
                </a:solidFill>
              </a:rPr>
              <a:t> </a:t>
            </a:r>
            <a:r>
              <a:rPr lang="nl-NL" dirty="0" err="1">
                <a:solidFill>
                  <a:srgbClr val="FF0000"/>
                </a:solidFill>
              </a:rPr>
              <a:t>identify</a:t>
            </a:r>
            <a:r>
              <a:rPr lang="nl-NL" dirty="0">
                <a:solidFill>
                  <a:srgbClr val="FF0000"/>
                </a:solidFill>
              </a:rPr>
              <a:t> </a:t>
            </a:r>
            <a:r>
              <a:rPr lang="nl-NL" dirty="0" err="1">
                <a:solidFill>
                  <a:srgbClr val="FF0000"/>
                </a:solidFill>
              </a:rPr>
              <a:t>outliers</a:t>
            </a:r>
            <a:r>
              <a:rPr lang="nl-NL" dirty="0">
                <a:solidFill>
                  <a:srgbClr val="FF0000"/>
                </a:solidFill>
              </a:rPr>
              <a:t>, </a:t>
            </a:r>
            <a:r>
              <a:rPr lang="nl-NL" strike="sngStrike" dirty="0" err="1"/>
              <a:t>examine</a:t>
            </a:r>
            <a:r>
              <a:rPr lang="nl-NL" strike="sngStrike" dirty="0"/>
              <a:t> </a:t>
            </a:r>
            <a:r>
              <a:rPr lang="nl-NL" strike="sngStrike" dirty="0" err="1"/>
              <a:t>missingness</a:t>
            </a:r>
            <a:endParaRPr lang="nl-NL" strike="sngStrike" dirty="0"/>
          </a:p>
          <a:p>
            <a:pPr marL="457200" lvl="1" indent="0">
              <a:buNone/>
            </a:pPr>
            <a:endParaRPr lang="nl-NL" dirty="0"/>
          </a:p>
          <a:p>
            <a:r>
              <a:rPr lang="nl-NL" b="1" dirty="0"/>
              <a:t>Part B: </a:t>
            </a:r>
            <a:r>
              <a:rPr lang="nl-NL" b="1" dirty="0" err="1"/>
              <a:t>Perform</a:t>
            </a:r>
            <a:r>
              <a:rPr lang="nl-NL" b="1" dirty="0"/>
              <a:t> bivariate tests</a:t>
            </a:r>
            <a:endParaRPr lang="nl-NL" b="1" dirty="0"/>
          </a:p>
          <a:p>
            <a:pPr lvl="1"/>
            <a:r>
              <a:rPr lang="nl-NL" dirty="0"/>
              <a:t>Matching </a:t>
            </a:r>
            <a:r>
              <a:rPr lang="nl-NL" dirty="0" err="1"/>
              <a:t>appropriate</a:t>
            </a:r>
            <a:r>
              <a:rPr lang="nl-NL" dirty="0"/>
              <a:t> test </a:t>
            </a:r>
            <a:r>
              <a:rPr lang="nl-NL" dirty="0" err="1"/>
              <a:t>to</a:t>
            </a:r>
            <a:r>
              <a:rPr lang="nl-NL" dirty="0"/>
              <a:t> </a:t>
            </a:r>
            <a:r>
              <a:rPr lang="nl-NL" dirty="0" err="1"/>
              <a:t>address</a:t>
            </a:r>
            <a:r>
              <a:rPr lang="nl-NL" dirty="0"/>
              <a:t> different research </a:t>
            </a:r>
            <a:r>
              <a:rPr lang="nl-NL" dirty="0" err="1"/>
              <a:t>questions</a:t>
            </a:r>
            <a:endParaRPr lang="nl-NL" dirty="0"/>
          </a:p>
          <a:p>
            <a:pPr lvl="1"/>
            <a:r>
              <a:rPr lang="nl-NL" dirty="0" err="1"/>
              <a:t>Provide</a:t>
            </a:r>
            <a:r>
              <a:rPr lang="nl-NL" dirty="0"/>
              <a:t> </a:t>
            </a:r>
            <a:r>
              <a:rPr lang="nl-NL" dirty="0" err="1"/>
              <a:t>some</a:t>
            </a:r>
            <a:r>
              <a:rPr lang="nl-NL" dirty="0"/>
              <a:t> R scripts</a:t>
            </a:r>
            <a:endParaRPr lang="nl-NL" dirty="0"/>
          </a:p>
          <a:p>
            <a:pPr lvl="1"/>
            <a:endParaRPr lang="nl-NL" dirty="0"/>
          </a:p>
          <a:p>
            <a:r>
              <a:rPr lang="nl-NL" b="1" dirty="0"/>
              <a:t>Part C: Write </a:t>
            </a:r>
            <a:r>
              <a:rPr lang="nl-NL" b="1" dirty="0" err="1"/>
              <a:t>it</a:t>
            </a:r>
            <a:r>
              <a:rPr lang="nl-NL" b="1" dirty="0"/>
              <a:t> up!</a:t>
            </a:r>
            <a:endParaRPr lang="nl-NL" b="1" dirty="0"/>
          </a:p>
          <a:p>
            <a:pPr lvl="1"/>
            <a:r>
              <a:rPr lang="nl-NL" dirty="0"/>
              <a:t>APA </a:t>
            </a:r>
            <a:r>
              <a:rPr lang="nl-NL" dirty="0" err="1"/>
              <a:t>style</a:t>
            </a:r>
            <a:r>
              <a:rPr lang="nl-NL" dirty="0"/>
              <a:t> is </a:t>
            </a:r>
            <a:r>
              <a:rPr lang="nl-NL" dirty="0" err="1"/>
              <a:t>the</a:t>
            </a:r>
            <a:r>
              <a:rPr lang="nl-NL" dirty="0"/>
              <a:t> </a:t>
            </a:r>
            <a:r>
              <a:rPr lang="nl-NL" dirty="0" err="1"/>
              <a:t>one</a:t>
            </a:r>
            <a:r>
              <a:rPr lang="nl-NL" dirty="0"/>
              <a:t> format </a:t>
            </a:r>
            <a:r>
              <a:rPr lang="nl-NL" dirty="0" err="1"/>
              <a:t>that</a:t>
            </a:r>
            <a:r>
              <a:rPr lang="nl-NL" dirty="0"/>
              <a:t> </a:t>
            </a:r>
            <a:r>
              <a:rPr lang="nl-NL" dirty="0" err="1"/>
              <a:t>will</a:t>
            </a:r>
            <a:r>
              <a:rPr lang="nl-NL" dirty="0"/>
              <a:t> </a:t>
            </a:r>
            <a:r>
              <a:rPr lang="nl-NL" dirty="0" err="1"/>
              <a:t>be</a:t>
            </a:r>
            <a:r>
              <a:rPr lang="nl-NL" dirty="0"/>
              <a:t> </a:t>
            </a:r>
            <a:r>
              <a:rPr lang="nl-NL" dirty="0" err="1"/>
              <a:t>used</a:t>
            </a:r>
            <a:r>
              <a:rPr lang="nl-NL" dirty="0"/>
              <a:t> </a:t>
            </a:r>
            <a:r>
              <a:rPr lang="nl-NL" dirty="0" err="1"/>
              <a:t>throughout</a:t>
            </a:r>
            <a:r>
              <a:rPr lang="nl-NL" dirty="0"/>
              <a:t> </a:t>
            </a:r>
            <a:r>
              <a:rPr lang="nl-NL" dirty="0" err="1"/>
              <a:t>the</a:t>
            </a:r>
            <a:r>
              <a:rPr lang="nl-NL" dirty="0"/>
              <a:t> </a:t>
            </a:r>
            <a:r>
              <a:rPr lang="nl-NL" dirty="0" err="1"/>
              <a:t>year</a:t>
            </a:r>
            <a:endParaRPr lang="nl-NL" dirty="0"/>
          </a:p>
          <a:p>
            <a:pPr lvl="1"/>
            <a:r>
              <a:rPr lang="nl-NL" dirty="0" err="1"/>
              <a:t>Practice</a:t>
            </a:r>
            <a:r>
              <a:rPr lang="nl-NL" dirty="0"/>
              <a:t>, </a:t>
            </a:r>
            <a:r>
              <a:rPr lang="nl-NL" dirty="0" err="1"/>
              <a:t>practice</a:t>
            </a:r>
            <a:r>
              <a:rPr lang="nl-NL" dirty="0"/>
              <a:t>, </a:t>
            </a:r>
            <a:r>
              <a:rPr lang="nl-NL" dirty="0" err="1"/>
              <a:t>practice</a:t>
            </a:r>
            <a:r>
              <a:rPr lang="nl-NL" dirty="0">
                <a:sym typeface="Wingdings" panose="05000000000000000000" pitchFamily="2" charset="2"/>
              </a:rPr>
              <a:t></a:t>
            </a:r>
            <a:endParaRPr lang="nl-NL" dirty="0"/>
          </a:p>
        </p:txBody>
      </p:sp>
      <p:sp>
        <p:nvSpPr>
          <p:cNvPr id="4" name="Slide Number Placeholder 3"/>
          <p:cNvSpPr>
            <a:spLocks noGrp="1"/>
          </p:cNvSpPr>
          <p:nvPr>
            <p:ph type="sldNum" sz="quarter" idx="12"/>
          </p:nvPr>
        </p:nvSpPr>
        <p:spPr/>
        <p:txBody>
          <a:bodyPr/>
          <a:lstStyle/>
          <a:p>
            <a:fld id="{48FBE6B8-82E0-4E11-A022-15B2AA89B3C8}" type="slidenum">
              <a:rPr lang="nl-NL" smtClean="0"/>
            </a:fld>
            <a:endParaRPr lang="nl-NL"/>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9386"/>
            <a:ext cx="10515600" cy="881783"/>
          </a:xfrm>
        </p:spPr>
        <p:txBody>
          <a:bodyPr/>
          <a:lstStyle/>
          <a:p>
            <a:pPr algn="ctr"/>
            <a:r>
              <a:rPr lang="en-US" b="1" dirty="0"/>
              <a:t>Inspecting distributions numerically</a:t>
            </a:r>
            <a:endParaRPr lang="nl-NL" b="1" dirty="0"/>
          </a:p>
        </p:txBody>
      </p:sp>
      <p:sp>
        <p:nvSpPr>
          <p:cNvPr id="3" name="Content Placeholder 2"/>
          <p:cNvSpPr>
            <a:spLocks noGrp="1"/>
          </p:cNvSpPr>
          <p:nvPr>
            <p:ph idx="1"/>
          </p:nvPr>
        </p:nvSpPr>
        <p:spPr>
          <a:xfrm>
            <a:off x="782782" y="1281404"/>
            <a:ext cx="10983394" cy="5436637"/>
          </a:xfrm>
        </p:spPr>
        <p:txBody>
          <a:bodyPr>
            <a:normAutofit/>
          </a:bodyPr>
          <a:lstStyle/>
          <a:p>
            <a:r>
              <a:rPr lang="en-US" sz="3200" dirty="0"/>
              <a:t>There are several options for </a:t>
            </a:r>
            <a:r>
              <a:rPr lang="en-US" sz="3200" dirty="0">
                <a:highlight>
                  <a:srgbClr val="FFFF00"/>
                </a:highlight>
              </a:rPr>
              <a:t>numeric</a:t>
            </a:r>
            <a:r>
              <a:rPr lang="en-US" sz="3200" dirty="0"/>
              <a:t> inspection of variables</a:t>
            </a:r>
            <a:endParaRPr lang="en-US" sz="3200" dirty="0"/>
          </a:p>
          <a:p>
            <a:pPr lvl="1"/>
            <a:endParaRPr lang="en-US" dirty="0"/>
          </a:p>
          <a:p>
            <a:r>
              <a:rPr lang="en-US" u="sng" dirty="0"/>
              <a:t>Option #1: use Skew() and Kurt() in </a:t>
            </a:r>
            <a:r>
              <a:rPr lang="en-US" u="sng" dirty="0" err="1"/>
              <a:t>DescTools</a:t>
            </a:r>
            <a:endParaRPr lang="en-US" u="sng" dirty="0"/>
          </a:p>
          <a:p>
            <a:pPr marL="0" indent="0">
              <a:buNone/>
            </a:pPr>
            <a:r>
              <a:rPr lang="en-US" dirty="0">
                <a:solidFill>
                  <a:srgbClr val="FF0000"/>
                </a:solidFill>
              </a:rPr>
              <a:t>Skew(</a:t>
            </a:r>
            <a:r>
              <a:rPr lang="en-US" dirty="0" err="1">
                <a:solidFill>
                  <a:srgbClr val="FF0000"/>
                </a:solidFill>
              </a:rPr>
              <a:t>df$variable</a:t>
            </a:r>
            <a:r>
              <a:rPr lang="en-US" dirty="0">
                <a:solidFill>
                  <a:srgbClr val="FF0000"/>
                </a:solidFill>
              </a:rPr>
              <a:t>, method = 1, </a:t>
            </a:r>
            <a:r>
              <a:rPr lang="en-US" dirty="0" err="1">
                <a:solidFill>
                  <a:srgbClr val="FF0000"/>
                </a:solidFill>
              </a:rPr>
              <a:t>conf.level</a:t>
            </a:r>
            <a:r>
              <a:rPr lang="en-US" dirty="0">
                <a:solidFill>
                  <a:srgbClr val="FF0000"/>
                </a:solidFill>
              </a:rPr>
              <a:t> = .95)</a:t>
            </a:r>
            <a:endParaRPr lang="en-US" dirty="0">
              <a:solidFill>
                <a:srgbClr val="FF0000"/>
              </a:solidFill>
            </a:endParaRPr>
          </a:p>
          <a:p>
            <a:pPr lvl="1"/>
            <a:r>
              <a:rPr lang="en-US" dirty="0"/>
              <a:t>method = different formulas for calculation of skew/kurtosis, if confidence interval does not include zero then the distribution deviates from normality </a:t>
            </a:r>
            <a:endParaRPr lang="en-US" dirty="0"/>
          </a:p>
          <a:p>
            <a:pPr lvl="1"/>
            <a:endParaRPr lang="en-US" dirty="0"/>
          </a:p>
          <a:p>
            <a:r>
              <a:rPr lang="en-US" u="sng" dirty="0"/>
              <a:t>Option #2: use </a:t>
            </a:r>
            <a:r>
              <a:rPr lang="en-US" u="sng" dirty="0" err="1"/>
              <a:t>stat.desc</a:t>
            </a:r>
            <a:r>
              <a:rPr lang="en-US" u="sng" dirty="0"/>
              <a:t>() in </a:t>
            </a:r>
            <a:r>
              <a:rPr lang="en-US" u="sng" dirty="0" err="1"/>
              <a:t>pastecs</a:t>
            </a:r>
            <a:endParaRPr lang="en-US" u="sng" dirty="0"/>
          </a:p>
          <a:p>
            <a:pPr marL="0" indent="0">
              <a:buNone/>
            </a:pPr>
            <a:r>
              <a:rPr lang="en-US" dirty="0" err="1">
                <a:solidFill>
                  <a:srgbClr val="FF0000"/>
                </a:solidFill>
              </a:rPr>
              <a:t>stat.desc</a:t>
            </a:r>
            <a:r>
              <a:rPr lang="en-US" dirty="0">
                <a:solidFill>
                  <a:srgbClr val="FF0000"/>
                </a:solidFill>
              </a:rPr>
              <a:t>(</a:t>
            </a:r>
            <a:r>
              <a:rPr lang="en-US" dirty="0" err="1">
                <a:solidFill>
                  <a:srgbClr val="FF0000"/>
                </a:solidFill>
              </a:rPr>
              <a:t>df</a:t>
            </a:r>
            <a:r>
              <a:rPr lang="en-US" dirty="0">
                <a:solidFill>
                  <a:srgbClr val="FF0000"/>
                </a:solidFill>
              </a:rPr>
              <a:t>, basic = F, norm = T)</a:t>
            </a:r>
            <a:endParaRPr lang="en-US" dirty="0">
              <a:solidFill>
                <a:srgbClr val="FF0000"/>
              </a:solidFill>
            </a:endParaRPr>
          </a:p>
          <a:p>
            <a:pPr lvl="1"/>
            <a:r>
              <a:rPr lang="en-US" dirty="0"/>
              <a:t>norm = T provides skewness and kurtosis statistics and significance tests, skew.2SE and kurt.2SE…if these values are more than 1 (or less than -1), then the distribution “significantly” deviates from normality</a:t>
            </a:r>
            <a:endParaRPr lang="en-US" dirty="0"/>
          </a:p>
        </p:txBody>
      </p:sp>
      <p:sp>
        <p:nvSpPr>
          <p:cNvPr id="4" name="Slide Number Placeholder 3"/>
          <p:cNvSpPr>
            <a:spLocks noGrp="1"/>
          </p:cNvSpPr>
          <p:nvPr>
            <p:ph type="sldNum" sz="quarter" idx="12"/>
          </p:nvPr>
        </p:nvSpPr>
        <p:spPr/>
        <p:txBody>
          <a:bodyPr/>
          <a:lstStyle/>
          <a:p>
            <a:fld id="{4F2557BC-CF0F-4119-90AD-7AE7139BA2F8}" type="slidenum">
              <a:rPr lang="nl-NL" smtClean="0"/>
            </a:fld>
            <a:endParaRPr lang="nl-NL"/>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9386"/>
            <a:ext cx="10515600" cy="881783"/>
          </a:xfrm>
        </p:spPr>
        <p:txBody>
          <a:bodyPr/>
          <a:lstStyle/>
          <a:p>
            <a:pPr algn="ctr"/>
            <a:r>
              <a:rPr lang="en-US" b="1" dirty="0"/>
              <a:t>Identifying extreme values</a:t>
            </a:r>
            <a:endParaRPr lang="nl-NL" b="1" dirty="0"/>
          </a:p>
        </p:txBody>
      </p:sp>
      <p:sp>
        <p:nvSpPr>
          <p:cNvPr id="3" name="Content Placeholder 2"/>
          <p:cNvSpPr>
            <a:spLocks noGrp="1"/>
          </p:cNvSpPr>
          <p:nvPr>
            <p:ph idx="1"/>
          </p:nvPr>
        </p:nvSpPr>
        <p:spPr>
          <a:xfrm>
            <a:off x="550506" y="1281404"/>
            <a:ext cx="11215670" cy="5436637"/>
          </a:xfrm>
        </p:spPr>
        <p:txBody>
          <a:bodyPr>
            <a:normAutofit/>
          </a:bodyPr>
          <a:lstStyle/>
          <a:p>
            <a:r>
              <a:rPr lang="en-US" dirty="0"/>
              <a:t>There are several options for identifying extreme values (based on SDs):</a:t>
            </a:r>
            <a:endParaRPr lang="en-US" dirty="0"/>
          </a:p>
          <a:p>
            <a:endParaRPr lang="en-US" dirty="0"/>
          </a:p>
          <a:p>
            <a:pPr>
              <a:lnSpc>
                <a:spcPct val="100000"/>
              </a:lnSpc>
              <a:spcBef>
                <a:spcPts val="0"/>
              </a:spcBef>
            </a:pPr>
            <a:r>
              <a:rPr lang="en-US" u="sng" dirty="0"/>
              <a:t>Option #1: Identify M, add/subtract 3 SDs, and identify # of values</a:t>
            </a:r>
            <a:endParaRPr lang="en-US" u="sng" dirty="0"/>
          </a:p>
          <a:p>
            <a:pPr marL="0" indent="0">
              <a:lnSpc>
                <a:spcPct val="100000"/>
              </a:lnSpc>
              <a:spcBef>
                <a:spcPts val="0"/>
              </a:spcBef>
              <a:buNone/>
            </a:pPr>
            <a:r>
              <a:rPr lang="en-US" dirty="0" err="1"/>
              <a:t>Psych_h</a:t>
            </a:r>
            <a:r>
              <a:rPr lang="en-US" dirty="0"/>
              <a:t> &lt;- mean(</a:t>
            </a:r>
            <a:r>
              <a:rPr lang="en-US" dirty="0" err="1"/>
              <a:t>df$Psycho</a:t>
            </a:r>
            <a:r>
              <a:rPr lang="en-US" dirty="0"/>
              <a:t>) + 3 * </a:t>
            </a:r>
            <a:r>
              <a:rPr lang="en-US" dirty="0" err="1"/>
              <a:t>sd</a:t>
            </a:r>
            <a:r>
              <a:rPr lang="en-US" dirty="0"/>
              <a:t>(</a:t>
            </a:r>
            <a:r>
              <a:rPr lang="en-US" dirty="0" err="1"/>
              <a:t>df$Psycho</a:t>
            </a:r>
            <a:r>
              <a:rPr lang="en-US" dirty="0"/>
              <a:t>)</a:t>
            </a:r>
            <a:endParaRPr lang="en-US" dirty="0"/>
          </a:p>
          <a:p>
            <a:pPr marL="0" indent="0">
              <a:lnSpc>
                <a:spcPct val="100000"/>
              </a:lnSpc>
              <a:spcBef>
                <a:spcPts val="0"/>
              </a:spcBef>
              <a:buNone/>
            </a:pPr>
            <a:r>
              <a:rPr lang="en-US" dirty="0" err="1"/>
              <a:t>Psycho_hout</a:t>
            </a:r>
            <a:r>
              <a:rPr lang="en-US" dirty="0"/>
              <a:t> &lt;- </a:t>
            </a:r>
            <a:r>
              <a:rPr lang="en-US" dirty="0">
                <a:solidFill>
                  <a:srgbClr val="FF0000"/>
                </a:solidFill>
              </a:rPr>
              <a:t>which(</a:t>
            </a:r>
            <a:r>
              <a:rPr lang="en-US" dirty="0" err="1">
                <a:solidFill>
                  <a:srgbClr val="FF0000"/>
                </a:solidFill>
              </a:rPr>
              <a:t>df$Psycho</a:t>
            </a:r>
            <a:r>
              <a:rPr lang="en-US" dirty="0">
                <a:solidFill>
                  <a:srgbClr val="FF0000"/>
                </a:solidFill>
              </a:rPr>
              <a:t> &gt;= </a:t>
            </a:r>
            <a:r>
              <a:rPr lang="en-US" dirty="0" err="1">
                <a:solidFill>
                  <a:srgbClr val="FF0000"/>
                </a:solidFill>
              </a:rPr>
              <a:t>Psych_h</a:t>
            </a:r>
            <a:r>
              <a:rPr lang="en-US" dirty="0">
                <a:solidFill>
                  <a:srgbClr val="FF0000"/>
                </a:solidFill>
              </a:rPr>
              <a:t>) </a:t>
            </a:r>
            <a:r>
              <a:rPr lang="en-US" sz="1900" dirty="0"/>
              <a:t># </a:t>
            </a:r>
            <a:r>
              <a:rPr lang="en-US" sz="1900" b="1" dirty="0"/>
              <a:t>returns row number(s) of outliers (if any) </a:t>
            </a:r>
            <a:endParaRPr lang="en-US" b="1" dirty="0"/>
          </a:p>
          <a:p>
            <a:pPr lvl="1">
              <a:lnSpc>
                <a:spcPct val="100000"/>
              </a:lnSpc>
              <a:spcBef>
                <a:spcPts val="0"/>
              </a:spcBef>
            </a:pPr>
            <a:r>
              <a:rPr lang="en-US" dirty="0"/>
              <a:t>Repeat to identify any cases with extremely low scores</a:t>
            </a:r>
            <a:endParaRPr lang="en-US" dirty="0"/>
          </a:p>
          <a:p>
            <a:endParaRPr lang="en-US" dirty="0"/>
          </a:p>
          <a:p>
            <a:r>
              <a:rPr lang="en-US" u="sng" dirty="0"/>
              <a:t>Option #2: Standardize and identify # of values greater than 3 SD </a:t>
            </a:r>
            <a:endParaRPr lang="en-US" dirty="0"/>
          </a:p>
          <a:p>
            <a:pPr marL="0" indent="0">
              <a:lnSpc>
                <a:spcPct val="100000"/>
              </a:lnSpc>
              <a:spcBef>
                <a:spcPts val="0"/>
              </a:spcBef>
              <a:buNone/>
            </a:pPr>
            <a:r>
              <a:rPr lang="en-US" dirty="0"/>
              <a:t>Standardized &lt;- </a:t>
            </a:r>
            <a:r>
              <a:rPr lang="en-US" dirty="0">
                <a:solidFill>
                  <a:srgbClr val="FF0000"/>
                </a:solidFill>
              </a:rPr>
              <a:t>scale(</a:t>
            </a:r>
            <a:r>
              <a:rPr lang="en-US" dirty="0" err="1">
                <a:solidFill>
                  <a:srgbClr val="FF0000"/>
                </a:solidFill>
              </a:rPr>
              <a:t>parent$Psycho</a:t>
            </a:r>
            <a:r>
              <a:rPr lang="en-US" dirty="0">
                <a:solidFill>
                  <a:srgbClr val="FF0000"/>
                </a:solidFill>
              </a:rPr>
              <a:t>)</a:t>
            </a:r>
            <a:endParaRPr lang="en-US" dirty="0">
              <a:solidFill>
                <a:srgbClr val="FF0000"/>
              </a:solidFill>
            </a:endParaRPr>
          </a:p>
          <a:p>
            <a:pPr marL="0" indent="0">
              <a:lnSpc>
                <a:spcPct val="100000"/>
              </a:lnSpc>
              <a:spcBef>
                <a:spcPts val="0"/>
              </a:spcBef>
              <a:buNone/>
            </a:pPr>
            <a:r>
              <a:rPr lang="en-US" dirty="0"/>
              <a:t>Psycho_out &lt;- </a:t>
            </a:r>
            <a:r>
              <a:rPr lang="en-US" dirty="0" err="1">
                <a:solidFill>
                  <a:srgbClr val="FF0000"/>
                </a:solidFill>
              </a:rPr>
              <a:t>colSums</a:t>
            </a:r>
            <a:r>
              <a:rPr lang="en-US" dirty="0">
                <a:solidFill>
                  <a:srgbClr val="FF0000"/>
                </a:solidFill>
              </a:rPr>
              <a:t>(abs(standardized)&gt;=3) </a:t>
            </a:r>
            <a:r>
              <a:rPr lang="en-US" sz="2000" b="1" dirty="0"/>
              <a:t># returns number of outliers (if any) </a:t>
            </a:r>
            <a:endParaRPr lang="en-US" sz="2000" b="1" dirty="0"/>
          </a:p>
          <a:p>
            <a:pPr marL="0" indent="0">
              <a:lnSpc>
                <a:spcPct val="100000"/>
              </a:lnSpc>
              <a:spcBef>
                <a:spcPts val="0"/>
              </a:spcBef>
              <a:buNone/>
            </a:pPr>
            <a:r>
              <a:rPr lang="en-US" dirty="0"/>
              <a:t>Psycho_out</a:t>
            </a:r>
            <a:endParaRPr lang="en-US" dirty="0"/>
          </a:p>
        </p:txBody>
      </p:sp>
      <p:sp>
        <p:nvSpPr>
          <p:cNvPr id="4" name="Slide Number Placeholder 3"/>
          <p:cNvSpPr>
            <a:spLocks noGrp="1"/>
          </p:cNvSpPr>
          <p:nvPr>
            <p:ph type="sldNum" sz="quarter" idx="12"/>
          </p:nvPr>
        </p:nvSpPr>
        <p:spPr/>
        <p:txBody>
          <a:bodyPr/>
          <a:lstStyle/>
          <a:p>
            <a:fld id="{4F2557BC-CF0F-4119-90AD-7AE7139BA2F8}" type="slidenum">
              <a:rPr lang="nl-NL" smtClean="0"/>
            </a:fld>
            <a:endParaRPr lang="nl-NL"/>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24508</Words>
  <Application>WPS 文字</Application>
  <PresentationFormat>Widescreen</PresentationFormat>
  <Paragraphs>688</Paragraphs>
  <Slides>44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44</vt:i4>
      </vt:variant>
    </vt:vector>
  </HeadingPairs>
  <TitlesOfParts>
    <vt:vector size="62" baseType="lpstr">
      <vt:lpstr>Arial</vt:lpstr>
      <vt:lpstr>宋体</vt:lpstr>
      <vt:lpstr>Wingdings</vt:lpstr>
      <vt:lpstr>Lucida Console</vt:lpstr>
      <vt:lpstr>苹方-简</vt:lpstr>
      <vt:lpstr>Calibri Light</vt:lpstr>
      <vt:lpstr>Helvetica Neue</vt:lpstr>
      <vt:lpstr>Calibri</vt:lpstr>
      <vt:lpstr>微软雅黑</vt:lpstr>
      <vt:lpstr>方正雅意黑 GB18030L2</vt:lpstr>
      <vt:lpstr>汉仪书宋二KW</vt:lpstr>
      <vt:lpstr>等线</vt:lpstr>
      <vt:lpstr>汉仪中等线KW</vt:lpstr>
      <vt:lpstr>宋体</vt:lpstr>
      <vt:lpstr>Arial Unicode MS</vt:lpstr>
      <vt:lpstr>Times New Roman</vt:lpstr>
      <vt:lpstr>Wingdings</vt:lpstr>
      <vt:lpstr>Office Theme</vt:lpstr>
      <vt:lpstr>Confidence Intervals  and  Significance Tests</vt:lpstr>
      <vt:lpstr>Overview</vt:lpstr>
      <vt:lpstr>Why are CIs so important?</vt:lpstr>
      <vt:lpstr>What are CIs?</vt:lpstr>
      <vt:lpstr>Why are there two CIs?</vt:lpstr>
      <vt:lpstr>SEs and dfs</vt:lpstr>
      <vt:lpstr>How to calculate CIs? Normal distribution (summary data): Known population variance (z)</vt:lpstr>
      <vt:lpstr>How to calculate CIs? Normal distribution (summary data): Unknown population variance (t)</vt:lpstr>
      <vt:lpstr>How to calculate CIs “automatically”? Normal distribution (raw data): Unknown population variance (t)</vt:lpstr>
      <vt:lpstr>CIs for discrete distributions</vt:lpstr>
      <vt:lpstr>Variation in P for binomial distributions</vt:lpstr>
      <vt:lpstr>Wald CIs</vt:lpstr>
      <vt:lpstr>How to calculate CIs? Binomial distribution (Wald CI) using summary data</vt:lpstr>
      <vt:lpstr>How to calculate CIs? Blaker CIs for binomial and Poisson distributions using summary data</vt:lpstr>
      <vt:lpstr>CIs for a difference</vt:lpstr>
      <vt:lpstr>How to calculate CIs for differences? SIDEBAR: Always visually and numerically inspect new data!</vt:lpstr>
      <vt:lpstr>How to calculate CIs for differences? t-tests w/ and w/o Welch-Satterthwaite correction</vt:lpstr>
      <vt:lpstr>CIs using Monte Carlo methods</vt:lpstr>
      <vt:lpstr>CIs using Bootstrapping</vt:lpstr>
      <vt:lpstr>How to visualize CIs?</vt:lpstr>
      <vt:lpstr>How to visualize CIs (w/ ggplot)?</vt:lpstr>
      <vt:lpstr>How to report CIs?</vt:lpstr>
      <vt:lpstr>Online resource</vt:lpstr>
      <vt:lpstr>Summary</vt:lpstr>
      <vt:lpstr>Significance Tests</vt:lpstr>
      <vt:lpstr>What are significance tests?</vt:lpstr>
      <vt:lpstr>Possible outcomes of NHST?</vt:lpstr>
      <vt:lpstr>What are p-values?</vt:lpstr>
      <vt:lpstr>How to calculate p-values?</vt:lpstr>
      <vt:lpstr>How to calculate p-values?</vt:lpstr>
      <vt:lpstr>How to test mean differences? t-tests</vt:lpstr>
      <vt:lpstr>How to perform a one sample t-test?</vt:lpstr>
      <vt:lpstr>How to perform an independent t-test?</vt:lpstr>
      <vt:lpstr>How to perform a paired t-test?</vt:lpstr>
      <vt:lpstr>How to report t-tests?</vt:lpstr>
      <vt:lpstr>How to test discrete data?</vt:lpstr>
      <vt:lpstr>How to perform a Pearson chi-square test? Using frequencies (summary data)</vt:lpstr>
      <vt:lpstr>How to perform a Pearson chi-square test? Using raw data</vt:lpstr>
      <vt:lpstr>How to report χ2 tests?</vt:lpstr>
      <vt:lpstr>Summary</vt:lpstr>
      <vt:lpstr>Equivalence testing One alternative to traditional NHST </vt:lpstr>
      <vt:lpstr>HW 4</vt:lpstr>
      <vt:lpstr>Inspecting distributions numerically</vt:lpstr>
      <vt:lpstr>Identifying extreme values</vt:lpstr>
    </vt:vector>
  </TitlesOfParts>
  <Company>Radboud Universiteit Nijmegen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Confidence Intervals  and  Significance Tests</dc:title>
  <dc:creator>williamburk</dc:creator>
  <cp:lastModifiedBy>Ataraxia</cp:lastModifiedBy>
  <cp:revision>179</cp:revision>
  <dcterms:created xsi:type="dcterms:W3CDTF">2026-10-01T19:19:28Z</dcterms:created>
  <dcterms:modified xsi:type="dcterms:W3CDTF">2026-10-01T19:19:28Z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2052-12.1.28496.28496</vt:lpwstr>
  </property>
  <property fmtid="{D5CDD505-2E9C-101B-9397-08002B2CF9AE}" pid="3" name="ICV">
    <vt:lpwstr>471508E897637B8840B2BE6A86B9F0DB_42</vt:lpwstr>
  </property>
</Properties>
</file>